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7" r:id="rId2"/>
    <p:sldId id="258" r:id="rId3"/>
    <p:sldId id="259" r:id="rId4"/>
    <p:sldId id="260" r:id="rId5"/>
    <p:sldId id="261" r:id="rId6"/>
    <p:sldId id="264" r:id="rId7"/>
    <p:sldId id="263" r:id="rId8"/>
    <p:sldId id="268" r:id="rId9"/>
    <p:sldId id="271" r:id="rId10"/>
    <p:sldId id="262" r:id="rId11"/>
    <p:sldId id="285" r:id="rId12"/>
    <p:sldId id="267" r:id="rId13"/>
    <p:sldId id="284" r:id="rId14"/>
    <p:sldId id="287" r:id="rId15"/>
    <p:sldId id="286" r:id="rId16"/>
    <p:sldId id="269" r:id="rId17"/>
    <p:sldId id="270" r:id="rId18"/>
    <p:sldId id="272" r:id="rId19"/>
    <p:sldId id="273" r:id="rId20"/>
    <p:sldId id="279" r:id="rId21"/>
    <p:sldId id="278" r:id="rId22"/>
    <p:sldId id="277" r:id="rId23"/>
    <p:sldId id="276" r:id="rId24"/>
    <p:sldId id="275" r:id="rId25"/>
    <p:sldId id="280" r:id="rId26"/>
    <p:sldId id="282" r:id="rId27"/>
    <p:sldId id="281" r:id="rId28"/>
    <p:sldId id="265" r:id="rId29"/>
    <p:sldId id="266" r:id="rId30"/>
  </p:sldIdLst>
  <p:sldSz cx="18288000" cy="10287000"/>
  <p:notesSz cx="6858000" cy="9144000"/>
  <p:embeddedFontLst>
    <p:embeddedFont>
      <p:font typeface="Brittany" panose="020B0604020202020204" charset="0"/>
      <p:regular r:id="rId31"/>
    </p:embeddedFont>
    <p:embeddedFont>
      <p:font typeface="Bugaki" panose="020B0604020202020204" charset="0"/>
      <p:regular r:id="rId32"/>
    </p:embeddedFont>
    <p:embeddedFont>
      <p:font typeface="Prachason Neue Condensed Light" panose="020B0604020202020204" charset="-34"/>
      <p:regular r:id="rId33"/>
    </p:embeddedFont>
    <p:embeddedFont>
      <p:font typeface="Times New Roman MT Ultra-Bold" panose="020B0604020202020204" charset="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5" d="100"/>
          <a:sy n="55" d="100"/>
        </p:scale>
        <p:origin x="58"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sv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 Id="rId5" Type="http://schemas.openxmlformats.org/officeDocument/2006/relationships/image" Target="../media/image14.jpeg"/><Relationship Id="rId4" Type="http://schemas.openxmlformats.org/officeDocument/2006/relationships/image" Target="../media/image13.jpeg"/></Relationships>
</file>

<file path=ppt/slides/_rels/slide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Layout" Target="../slideLayouts/slideLayout7.xml"/><Relationship Id="rId5" Type="http://schemas.openxmlformats.org/officeDocument/2006/relationships/image" Target="../media/image13.jpeg"/><Relationship Id="rId4" Type="http://schemas.openxmlformats.org/officeDocument/2006/relationships/image" Target="../media/image17.jpeg"/></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6.svg"/><Relationship Id="rId1" Type="http://schemas.openxmlformats.org/officeDocument/2006/relationships/slideLayout" Target="../slideLayouts/slideLayout7.xml"/><Relationship Id="rId5" Type="http://schemas.openxmlformats.org/officeDocument/2006/relationships/image" Target="../media/image20.jpeg"/><Relationship Id="rId4" Type="http://schemas.openxmlformats.org/officeDocument/2006/relationships/image" Target="../media/image19.jpeg"/></Relationships>
</file>

<file path=ppt/slides/_rels/slide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6.svg"/><Relationship Id="rId1" Type="http://schemas.openxmlformats.org/officeDocument/2006/relationships/slideLayout" Target="../slideLayouts/slideLayout7.xml"/><Relationship Id="rId5" Type="http://schemas.openxmlformats.org/officeDocument/2006/relationships/image" Target="../media/image20.jpeg"/><Relationship Id="rId4" Type="http://schemas.openxmlformats.org/officeDocument/2006/relationships/image" Target="../media/image19.jpeg"/></Relationships>
</file>

<file path=ppt/slides/_rels/slide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6.svg"/><Relationship Id="rId1" Type="http://schemas.openxmlformats.org/officeDocument/2006/relationships/slideLayout" Target="../slideLayouts/slideLayout7.xml"/><Relationship Id="rId5" Type="http://schemas.openxmlformats.org/officeDocument/2006/relationships/image" Target="../media/image20.jpeg"/><Relationship Id="rId4" Type="http://schemas.openxmlformats.org/officeDocument/2006/relationships/image" Target="../media/image19.jpeg"/></Relationships>
</file>

<file path=ppt/slides/_rels/slide1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6.sv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jpeg"/></Relationships>
</file>

<file path=ppt/slides/_rels/slide1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6.sv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1.jpe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6.svg"/><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1.jpeg"/></Relationships>
</file>

<file path=ppt/slides/_rels/slide1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6.sv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1.jpeg"/></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19.jpeg"/><Relationship Id="rId1" Type="http://schemas.openxmlformats.org/officeDocument/2006/relationships/slideLayout" Target="../slideLayouts/slideLayout7.xml"/><Relationship Id="rId6" Type="http://schemas.openxmlformats.org/officeDocument/2006/relationships/image" Target="../media/image29.jpeg"/><Relationship Id="rId5" Type="http://schemas.openxmlformats.org/officeDocument/2006/relationships/image" Target="../media/image1.jpeg"/><Relationship Id="rId4" Type="http://schemas.openxmlformats.org/officeDocument/2006/relationships/image" Target="../media/image28.jpeg"/></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77871" y="2258879"/>
            <a:ext cx="11538482" cy="5769241"/>
            <a:chOff x="0" y="0"/>
            <a:chExt cx="812800" cy="406400"/>
          </a:xfrm>
        </p:grpSpPr>
        <p:sp>
          <p:nvSpPr>
            <p:cNvPr id="3" name="Freeform 3"/>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B84900"/>
            </a:solidFill>
          </p:spPr>
        </p:sp>
        <p:sp>
          <p:nvSpPr>
            <p:cNvPr id="4" name="TextBox 4"/>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644540" y="2442214"/>
            <a:ext cx="5402572" cy="540257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a:stretch>
            </a:blipFill>
          </p:spPr>
        </p:sp>
      </p:grpSp>
      <p:sp>
        <p:nvSpPr>
          <p:cNvPr id="10" name="Freeform 10"/>
          <p:cNvSpPr/>
          <p:nvPr/>
        </p:nvSpPr>
        <p:spPr>
          <a:xfrm>
            <a:off x="8122189" y="7291095"/>
            <a:ext cx="1665407" cy="279201"/>
          </a:xfrm>
          <a:custGeom>
            <a:avLst/>
            <a:gdLst/>
            <a:ahLst/>
            <a:cxnLst/>
            <a:rect l="l" t="t" r="r" b="b"/>
            <a:pathLst>
              <a:path w="1665407" h="279201">
                <a:moveTo>
                  <a:pt x="0" y="0"/>
                </a:moveTo>
                <a:lnTo>
                  <a:pt x="1665407" y="0"/>
                </a:lnTo>
                <a:lnTo>
                  <a:pt x="1665407" y="279200"/>
                </a:lnTo>
                <a:lnTo>
                  <a:pt x="0" y="2792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1" name="Freeform 11"/>
          <p:cNvSpPr/>
          <p:nvPr/>
        </p:nvSpPr>
        <p:spPr>
          <a:xfrm>
            <a:off x="8528500" y="7570295"/>
            <a:ext cx="1637312" cy="274490"/>
          </a:xfrm>
          <a:custGeom>
            <a:avLst/>
            <a:gdLst/>
            <a:ahLst/>
            <a:cxnLst/>
            <a:rect l="l" t="t" r="r" b="b"/>
            <a:pathLst>
              <a:path w="1637312" h="274490">
                <a:moveTo>
                  <a:pt x="0" y="0"/>
                </a:moveTo>
                <a:lnTo>
                  <a:pt x="1637311" y="0"/>
                </a:lnTo>
                <a:lnTo>
                  <a:pt x="1637311" y="274491"/>
                </a:lnTo>
                <a:lnTo>
                  <a:pt x="0" y="27449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2" name="Freeform 12"/>
          <p:cNvSpPr/>
          <p:nvPr/>
        </p:nvSpPr>
        <p:spPr>
          <a:xfrm>
            <a:off x="13474559" y="8766269"/>
            <a:ext cx="4930588" cy="4114800"/>
          </a:xfrm>
          <a:custGeom>
            <a:avLst/>
            <a:gdLst/>
            <a:ahLst/>
            <a:cxnLst/>
            <a:rect l="l" t="t" r="r" b="b"/>
            <a:pathLst>
              <a:path w="4930588" h="4114800">
                <a:moveTo>
                  <a:pt x="0" y="0"/>
                </a:moveTo>
                <a:lnTo>
                  <a:pt x="4930589" y="0"/>
                </a:lnTo>
                <a:lnTo>
                  <a:pt x="4930589"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3" name="Freeform 13"/>
          <p:cNvSpPr/>
          <p:nvPr/>
        </p:nvSpPr>
        <p:spPr>
          <a:xfrm flipV="1">
            <a:off x="13474559" y="-2589346"/>
            <a:ext cx="4930588" cy="4114800"/>
          </a:xfrm>
          <a:custGeom>
            <a:avLst/>
            <a:gdLst/>
            <a:ahLst/>
            <a:cxnLst/>
            <a:rect l="l" t="t" r="r" b="b"/>
            <a:pathLst>
              <a:path w="4930588" h="4114800">
                <a:moveTo>
                  <a:pt x="0" y="4114800"/>
                </a:moveTo>
                <a:lnTo>
                  <a:pt x="4930589" y="4114800"/>
                </a:lnTo>
                <a:lnTo>
                  <a:pt x="4930589" y="0"/>
                </a:lnTo>
                <a:lnTo>
                  <a:pt x="0" y="0"/>
                </a:lnTo>
                <a:lnTo>
                  <a:pt x="0" y="4114800"/>
                </a:lnTo>
                <a:close/>
              </a:path>
            </a:pathLst>
          </a:custGeom>
          <a:blipFill>
            <a:blip>
              <a:extLst>
                <a:ext uri="{96DAC541-7B7A-43D3-8B79-37D633B846F1}">
                  <asvg:svgBlip xmlns:asvg="http://schemas.microsoft.com/office/drawing/2016/SVG/main" r:embed="rId5"/>
                </a:ext>
              </a:extLst>
            </a:blip>
            <a:stretch>
              <a:fillRect/>
            </a:stretch>
          </a:blipFill>
        </p:spPr>
      </p:sp>
      <p:sp>
        <p:nvSpPr>
          <p:cNvPr id="14" name="TextBox 14"/>
          <p:cNvSpPr txBox="1"/>
          <p:nvPr/>
        </p:nvSpPr>
        <p:spPr>
          <a:xfrm>
            <a:off x="1400109" y="933799"/>
            <a:ext cx="6865007" cy="4201150"/>
          </a:xfrm>
          <a:prstGeom prst="rect">
            <a:avLst/>
          </a:prstGeom>
        </p:spPr>
        <p:txBody>
          <a:bodyPr lIns="0" tIns="0" rIns="0" bIns="0" rtlCol="0" anchor="t">
            <a:spAutoFit/>
          </a:bodyPr>
          <a:lstStyle/>
          <a:p>
            <a:pPr algn="l">
              <a:lnSpc>
                <a:spcPts val="22221"/>
              </a:lnSpc>
            </a:pPr>
            <a:r>
              <a:rPr lang="en-US" sz="8800" dirty="0">
                <a:solidFill>
                  <a:srgbClr val="231816"/>
                </a:solidFill>
                <a:latin typeface="Bugaki"/>
                <a:ea typeface="Bugaki"/>
                <a:cs typeface="Bugaki"/>
                <a:sym typeface="Bugaki"/>
              </a:rPr>
              <a:t>Sip N’</a:t>
            </a:r>
          </a:p>
          <a:p>
            <a:pPr algn="l"/>
            <a:r>
              <a:rPr lang="en-US" sz="8800" dirty="0">
                <a:solidFill>
                  <a:srgbClr val="231816"/>
                </a:solidFill>
                <a:latin typeface="Bugaki"/>
                <a:ea typeface="Bugaki"/>
                <a:cs typeface="Bugaki"/>
                <a:sym typeface="Bugaki"/>
              </a:rPr>
              <a:t> Bite</a:t>
            </a:r>
          </a:p>
        </p:txBody>
      </p:sp>
      <p:sp>
        <p:nvSpPr>
          <p:cNvPr id="16" name="TextBox 16"/>
          <p:cNvSpPr txBox="1"/>
          <p:nvPr/>
        </p:nvSpPr>
        <p:spPr>
          <a:xfrm>
            <a:off x="1614014" y="5145146"/>
            <a:ext cx="7529986" cy="677108"/>
          </a:xfrm>
          <a:prstGeom prst="rect">
            <a:avLst/>
          </a:prstGeom>
        </p:spPr>
        <p:txBody>
          <a:bodyPr lIns="0" tIns="0" rIns="0" bIns="0" rtlCol="0" anchor="t">
            <a:spAutoFit/>
          </a:bodyPr>
          <a:lstStyle/>
          <a:p>
            <a:r>
              <a:rPr lang="en-US" sz="4400" b="1" dirty="0"/>
              <a:t>Online Food ordering System</a:t>
            </a:r>
            <a:endParaRPr lang="en-US" sz="4400" dirty="0">
              <a:solidFill>
                <a:srgbClr val="231816"/>
              </a:solidFill>
              <a:latin typeface="Prachason Neue Condensed Light"/>
              <a:ea typeface="Prachason Neue Condensed Light"/>
              <a:cs typeface="Prachason Neue Condensed Light"/>
              <a:sym typeface="Prachason Neue Condensed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14629095" y="-933714"/>
            <a:ext cx="3658905" cy="12154429"/>
            <a:chOff x="0" y="0"/>
            <a:chExt cx="963662" cy="3201166"/>
          </a:xfrm>
        </p:grpSpPr>
        <p:sp>
          <p:nvSpPr>
            <p:cNvPr id="4" name="Freeform 4"/>
            <p:cNvSpPr/>
            <p:nvPr/>
          </p:nvSpPr>
          <p:spPr>
            <a:xfrm>
              <a:off x="0" y="0"/>
              <a:ext cx="963662" cy="3201166"/>
            </a:xfrm>
            <a:custGeom>
              <a:avLst/>
              <a:gdLst/>
              <a:ahLst/>
              <a:cxnLst/>
              <a:rect l="l" t="t" r="r" b="b"/>
              <a:pathLst>
                <a:path w="963662" h="3201166">
                  <a:moveTo>
                    <a:pt x="0" y="0"/>
                  </a:moveTo>
                  <a:lnTo>
                    <a:pt x="963662" y="0"/>
                  </a:lnTo>
                  <a:lnTo>
                    <a:pt x="963662" y="3201166"/>
                  </a:lnTo>
                  <a:lnTo>
                    <a:pt x="0" y="3201166"/>
                  </a:lnTo>
                  <a:close/>
                </a:path>
              </a:pathLst>
            </a:custGeom>
            <a:solidFill>
              <a:srgbClr val="B84900"/>
            </a:solidFill>
          </p:spPr>
        </p:sp>
        <p:sp>
          <p:nvSpPr>
            <p:cNvPr id="5" name="TextBox 5"/>
            <p:cNvSpPr txBox="1"/>
            <p:nvPr/>
          </p:nvSpPr>
          <p:spPr>
            <a:xfrm>
              <a:off x="0" y="-38100"/>
              <a:ext cx="963662" cy="3239266"/>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flipH="1">
            <a:off x="10022830" y="-2050846"/>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p:cNvSpPr/>
          <p:nvPr/>
        </p:nvSpPr>
        <p:spPr>
          <a:xfrm flipH="1" flipV="1">
            <a:off x="10022830" y="8229600"/>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a:extLst>
                <a:ext uri="{96DAC541-7B7A-43D3-8B79-37D633B846F1}">
                  <asvg:svgBlip xmlns:asvg="http://schemas.microsoft.com/office/drawing/2016/SVG/main" r:embed="rId2"/>
                </a:ext>
              </a:extLst>
            </a:blip>
            <a:stretch>
              <a:fillRect/>
            </a:stretch>
          </a:blipFill>
        </p:spPr>
      </p:sp>
      <p:grpSp>
        <p:nvGrpSpPr>
          <p:cNvPr id="8" name="Group 8"/>
          <p:cNvGrpSpPr/>
          <p:nvPr/>
        </p:nvGrpSpPr>
        <p:grpSpPr>
          <a:xfrm>
            <a:off x="12172827" y="1366373"/>
            <a:ext cx="4912535" cy="7554253"/>
            <a:chOff x="0" y="0"/>
            <a:chExt cx="761080" cy="1170352"/>
          </a:xfrm>
        </p:grpSpPr>
        <p:sp>
          <p:nvSpPr>
            <p:cNvPr id="9" name="Freeform 9"/>
            <p:cNvSpPr/>
            <p:nvPr/>
          </p:nvSpPr>
          <p:spPr>
            <a:xfrm>
              <a:off x="0" y="0"/>
              <a:ext cx="761080" cy="1170352"/>
            </a:xfrm>
            <a:custGeom>
              <a:avLst/>
              <a:gdLst/>
              <a:ahLst/>
              <a:cxnLst/>
              <a:rect l="l" t="t" r="r" b="b"/>
              <a:pathLst>
                <a:path w="761080" h="1170352">
                  <a:moveTo>
                    <a:pt x="37823" y="0"/>
                  </a:moveTo>
                  <a:lnTo>
                    <a:pt x="723257" y="0"/>
                  </a:lnTo>
                  <a:cubicBezTo>
                    <a:pt x="733289" y="0"/>
                    <a:pt x="742909" y="3985"/>
                    <a:pt x="750002" y="11078"/>
                  </a:cubicBezTo>
                  <a:cubicBezTo>
                    <a:pt x="757095" y="18171"/>
                    <a:pt x="761080" y="27792"/>
                    <a:pt x="761080" y="37823"/>
                  </a:cubicBezTo>
                  <a:lnTo>
                    <a:pt x="761080" y="1132529"/>
                  </a:lnTo>
                  <a:cubicBezTo>
                    <a:pt x="761080" y="1142560"/>
                    <a:pt x="757095" y="1152180"/>
                    <a:pt x="750002" y="1159273"/>
                  </a:cubicBezTo>
                  <a:cubicBezTo>
                    <a:pt x="742909" y="1166367"/>
                    <a:pt x="733289" y="1170352"/>
                    <a:pt x="723257" y="1170352"/>
                  </a:cubicBezTo>
                  <a:lnTo>
                    <a:pt x="37823" y="1170352"/>
                  </a:lnTo>
                  <a:cubicBezTo>
                    <a:pt x="27792" y="1170352"/>
                    <a:pt x="18171" y="1166367"/>
                    <a:pt x="11078" y="1159273"/>
                  </a:cubicBezTo>
                  <a:cubicBezTo>
                    <a:pt x="3985" y="1152180"/>
                    <a:pt x="0" y="1142560"/>
                    <a:pt x="0" y="1132529"/>
                  </a:cubicBezTo>
                  <a:lnTo>
                    <a:pt x="0" y="37823"/>
                  </a:lnTo>
                  <a:cubicBezTo>
                    <a:pt x="0" y="27792"/>
                    <a:pt x="3985" y="18171"/>
                    <a:pt x="11078" y="11078"/>
                  </a:cubicBezTo>
                  <a:cubicBezTo>
                    <a:pt x="18171" y="3985"/>
                    <a:pt x="27792" y="0"/>
                    <a:pt x="37823" y="0"/>
                  </a:cubicBezTo>
                  <a:close/>
                </a:path>
              </a:pathLst>
            </a:custGeom>
            <a:blipFill>
              <a:blip r:embed="rId3"/>
              <a:stretch>
                <a:fillRect t="-5261" b="-10347"/>
              </a:stretch>
            </a:blipFill>
          </p:spPr>
        </p:sp>
      </p:grpSp>
      <p:sp>
        <p:nvSpPr>
          <p:cNvPr id="11" name="TextBox 11"/>
          <p:cNvSpPr txBox="1"/>
          <p:nvPr/>
        </p:nvSpPr>
        <p:spPr>
          <a:xfrm>
            <a:off x="1619686" y="1023473"/>
            <a:ext cx="6090934" cy="1594667"/>
          </a:xfrm>
          <a:prstGeom prst="rect">
            <a:avLst/>
          </a:prstGeom>
        </p:spPr>
        <p:txBody>
          <a:bodyPr lIns="0" tIns="0" rIns="0" bIns="0" rtlCol="0" anchor="t">
            <a:spAutoFit/>
          </a:bodyPr>
          <a:lstStyle/>
          <a:p>
            <a:pPr>
              <a:lnSpc>
                <a:spcPts val="12880"/>
              </a:lnSpc>
            </a:pPr>
            <a:r>
              <a:rPr lang="en-US" sz="9600" b="1" dirty="0">
                <a:solidFill>
                  <a:srgbClr val="202020"/>
                </a:solidFill>
                <a:latin typeface="Times New Roman MT Ultra-Bold"/>
                <a:ea typeface="Times New Roman MT Ultra-Bold"/>
                <a:cs typeface="Times New Roman MT Ultra-Bold"/>
                <a:sym typeface="Times New Roman MT Ultra-Bold"/>
              </a:rPr>
              <a:t>Agenda</a:t>
            </a:r>
            <a:endParaRPr lang="en-US" sz="9200" dirty="0">
              <a:solidFill>
                <a:srgbClr val="231816"/>
              </a:solidFill>
              <a:latin typeface="Bugaki"/>
              <a:ea typeface="Bugaki"/>
              <a:cs typeface="Bugaki"/>
              <a:sym typeface="Bugaki"/>
            </a:endParaRPr>
          </a:p>
        </p:txBody>
      </p:sp>
      <p:sp>
        <p:nvSpPr>
          <p:cNvPr id="14" name="TextBox 13">
            <a:extLst>
              <a:ext uri="{FF2B5EF4-FFF2-40B4-BE49-F238E27FC236}">
                <a16:creationId xmlns:a16="http://schemas.microsoft.com/office/drawing/2014/main" id="{DD15FA3C-B433-8BBD-DF86-2C4D4F86F30E}"/>
              </a:ext>
            </a:extLst>
          </p:cNvPr>
          <p:cNvSpPr txBox="1"/>
          <p:nvPr/>
        </p:nvSpPr>
        <p:spPr>
          <a:xfrm>
            <a:off x="2317500" y="2933700"/>
            <a:ext cx="9855327" cy="5609228"/>
          </a:xfrm>
          <a:prstGeom prst="rect">
            <a:avLst/>
          </a:prstGeom>
          <a:noFill/>
        </p:spPr>
        <p:txBody>
          <a:bodyPr wrap="none" rtlCol="0">
            <a:spAutoFit/>
          </a:bodyPr>
          <a:lstStyle/>
          <a:p>
            <a:pPr marL="514350" indent="-514350">
              <a:spcBef>
                <a:spcPts val="200"/>
              </a:spcBef>
              <a:buClr>
                <a:srgbClr val="202020"/>
              </a:buClr>
              <a:buSzPts val="2400"/>
              <a:buFont typeface="+mj-lt"/>
              <a:buAutoNum type="arabicPeriod"/>
            </a:pPr>
            <a:r>
              <a:rPr lang="en-US" sz="2800" b="1" dirty="0">
                <a:solidFill>
                  <a:schemeClr val="tx1">
                    <a:lumMod val="95000"/>
                    <a:lumOff val="5000"/>
                  </a:schemeClr>
                </a:solidFill>
                <a:latin typeface="Times New Roman"/>
                <a:ea typeface="Times New Roman"/>
                <a:cs typeface="Times New Roman"/>
                <a:sym typeface="Times New Roman"/>
              </a:rPr>
              <a:t>Proposed system and its Objectives</a:t>
            </a:r>
          </a:p>
          <a:p>
            <a:pPr marL="514350" indent="-514350">
              <a:spcBef>
                <a:spcPts val="200"/>
              </a:spcBef>
              <a:buClr>
                <a:srgbClr val="202020"/>
              </a:buClr>
              <a:buSzPts val="2400"/>
              <a:buFont typeface="+mj-lt"/>
              <a:buAutoNum type="arabicPeriod"/>
            </a:pPr>
            <a:r>
              <a:rPr lang="en-US" sz="2800" b="1" dirty="0">
                <a:solidFill>
                  <a:schemeClr val="tx1">
                    <a:lumMod val="95000"/>
                    <a:lumOff val="5000"/>
                  </a:schemeClr>
                </a:solidFill>
                <a:latin typeface="Times New Roman"/>
                <a:ea typeface="Times New Roman"/>
                <a:cs typeface="Times New Roman"/>
                <a:sym typeface="Times New Roman"/>
              </a:rPr>
              <a:t>Core Components </a:t>
            </a:r>
          </a:p>
          <a:p>
            <a:pPr marL="514350" indent="-514350">
              <a:spcBef>
                <a:spcPts val="200"/>
              </a:spcBef>
              <a:buClr>
                <a:srgbClr val="202020"/>
              </a:buClr>
              <a:buSzPts val="2400"/>
              <a:buFont typeface="+mj-lt"/>
              <a:buAutoNum type="arabicPeriod"/>
            </a:pPr>
            <a:r>
              <a:rPr lang="en-US" sz="2800" b="1" dirty="0">
                <a:solidFill>
                  <a:schemeClr val="tx1">
                    <a:lumMod val="95000"/>
                    <a:lumOff val="5000"/>
                  </a:schemeClr>
                </a:solidFill>
                <a:latin typeface="Times New Roman"/>
                <a:ea typeface="Times New Roman"/>
                <a:cs typeface="Times New Roman"/>
                <a:sym typeface="Times New Roman"/>
              </a:rPr>
              <a:t>Minimum and Maximum Software/Hardware requirements</a:t>
            </a:r>
          </a:p>
          <a:p>
            <a:pPr marL="514350" indent="-514350">
              <a:spcBef>
                <a:spcPts val="200"/>
              </a:spcBef>
              <a:buClr>
                <a:srgbClr val="202020"/>
              </a:buClr>
              <a:buSzPts val="2400"/>
              <a:buFont typeface="+mj-lt"/>
              <a:buAutoNum type="arabicPeriod"/>
            </a:pPr>
            <a:r>
              <a:rPr lang="en-US" sz="2800" b="1" dirty="0">
                <a:solidFill>
                  <a:schemeClr val="tx1">
                    <a:lumMod val="95000"/>
                    <a:lumOff val="5000"/>
                  </a:schemeClr>
                </a:solidFill>
                <a:latin typeface="Times New Roman"/>
                <a:ea typeface="Times New Roman"/>
                <a:cs typeface="Times New Roman"/>
                <a:sym typeface="Times New Roman"/>
              </a:rPr>
              <a:t>Advantages and Limitations of the Proposed System</a:t>
            </a:r>
          </a:p>
          <a:p>
            <a:pPr marL="514350" indent="-514350">
              <a:spcBef>
                <a:spcPts val="200"/>
              </a:spcBef>
              <a:buClr>
                <a:srgbClr val="202020"/>
              </a:buClr>
              <a:buSzPts val="2400"/>
              <a:buFont typeface="+mj-lt"/>
              <a:buAutoNum type="arabicPeriod"/>
            </a:pPr>
            <a:r>
              <a:rPr lang="en-US" sz="2800" b="1" dirty="0">
                <a:solidFill>
                  <a:schemeClr val="tx1">
                    <a:lumMod val="95000"/>
                    <a:lumOff val="5000"/>
                  </a:schemeClr>
                </a:solidFill>
                <a:latin typeface="Times New Roman"/>
                <a:ea typeface="Times New Roman"/>
                <a:cs typeface="Times New Roman"/>
                <a:sym typeface="Times New Roman"/>
              </a:rPr>
              <a:t>Requirement Determination</a:t>
            </a:r>
          </a:p>
          <a:p>
            <a:pPr marL="514350" indent="-514350">
              <a:spcBef>
                <a:spcPts val="200"/>
              </a:spcBef>
              <a:buClr>
                <a:srgbClr val="202020"/>
              </a:buClr>
              <a:buSzPts val="2400"/>
              <a:buFont typeface="+mj-lt"/>
              <a:buAutoNum type="arabicPeriod"/>
            </a:pPr>
            <a:r>
              <a:rPr lang="en-US" sz="2800" b="1" dirty="0">
                <a:solidFill>
                  <a:schemeClr val="tx1">
                    <a:lumMod val="95000"/>
                    <a:lumOff val="5000"/>
                  </a:schemeClr>
                </a:solidFill>
                <a:latin typeface="Times New Roman"/>
                <a:ea typeface="Times New Roman"/>
                <a:cs typeface="Times New Roman"/>
                <a:sym typeface="Times New Roman"/>
              </a:rPr>
              <a:t>Targeted Users</a:t>
            </a:r>
          </a:p>
          <a:p>
            <a:pPr marL="514350" indent="-514350">
              <a:spcBef>
                <a:spcPts val="200"/>
              </a:spcBef>
              <a:buClr>
                <a:srgbClr val="202020"/>
              </a:buClr>
              <a:buSzPts val="2400"/>
              <a:buFont typeface="+mj-lt"/>
              <a:buAutoNum type="arabicPeriod"/>
            </a:pPr>
            <a:r>
              <a:rPr lang="en-US" sz="2800" b="1" dirty="0">
                <a:solidFill>
                  <a:schemeClr val="tx1">
                    <a:lumMod val="95000"/>
                    <a:lumOff val="5000"/>
                  </a:schemeClr>
                </a:solidFill>
                <a:latin typeface="Times New Roman"/>
                <a:ea typeface="Times New Roman"/>
                <a:cs typeface="Times New Roman"/>
                <a:sym typeface="Times New Roman"/>
              </a:rPr>
              <a:t>System Design</a:t>
            </a:r>
          </a:p>
          <a:p>
            <a:pPr marL="1428750" lvl="2" indent="-514350">
              <a:spcBef>
                <a:spcPts val="300"/>
              </a:spcBef>
              <a:buClr>
                <a:srgbClr val="202020"/>
              </a:buClr>
              <a:buSzPts val="2400"/>
              <a:buFont typeface="+mj-lt"/>
              <a:buAutoNum type="arabicPeriod"/>
            </a:pPr>
            <a:r>
              <a:rPr lang="en-US" sz="2800" b="1" dirty="0">
                <a:solidFill>
                  <a:schemeClr val="tx1">
                    <a:lumMod val="95000"/>
                    <a:lumOff val="5000"/>
                  </a:schemeClr>
                </a:solidFill>
                <a:latin typeface="Times New Roman"/>
                <a:ea typeface="Times New Roman"/>
                <a:cs typeface="Times New Roman"/>
                <a:sym typeface="Times New Roman"/>
              </a:rPr>
              <a:t>Use Case Diagram</a:t>
            </a:r>
          </a:p>
          <a:p>
            <a:pPr marL="1428750" lvl="2" indent="-514350">
              <a:spcBef>
                <a:spcPts val="300"/>
              </a:spcBef>
              <a:buClr>
                <a:srgbClr val="202020"/>
              </a:buClr>
              <a:buSzPts val="2400"/>
              <a:buFont typeface="+mj-lt"/>
              <a:buAutoNum type="arabicPeriod"/>
            </a:pPr>
            <a:r>
              <a:rPr lang="en-US" sz="2800" b="1" dirty="0">
                <a:solidFill>
                  <a:schemeClr val="tx1">
                    <a:lumMod val="95000"/>
                    <a:lumOff val="5000"/>
                  </a:schemeClr>
                </a:solidFill>
                <a:latin typeface="Times New Roman"/>
                <a:ea typeface="Times New Roman"/>
                <a:cs typeface="Times New Roman"/>
                <a:sym typeface="Times New Roman"/>
              </a:rPr>
              <a:t>Class Diagram</a:t>
            </a:r>
          </a:p>
          <a:p>
            <a:pPr marL="1428750" lvl="2" indent="-514350">
              <a:spcBef>
                <a:spcPts val="300"/>
              </a:spcBef>
              <a:buClr>
                <a:srgbClr val="202020"/>
              </a:buClr>
              <a:buSzPts val="2400"/>
              <a:buFont typeface="+mj-lt"/>
              <a:buAutoNum type="arabicPeriod"/>
            </a:pPr>
            <a:r>
              <a:rPr lang="en-US" sz="2800" b="1" dirty="0">
                <a:solidFill>
                  <a:schemeClr val="tx1">
                    <a:lumMod val="95000"/>
                    <a:lumOff val="5000"/>
                  </a:schemeClr>
                </a:solidFill>
                <a:latin typeface="Times New Roman"/>
                <a:ea typeface="Times New Roman"/>
                <a:cs typeface="Times New Roman"/>
                <a:sym typeface="Times New Roman"/>
              </a:rPr>
              <a:t>Interaction Diagram</a:t>
            </a:r>
          </a:p>
          <a:p>
            <a:pPr marL="1428750" lvl="2" indent="-514350">
              <a:spcBef>
                <a:spcPts val="300"/>
              </a:spcBef>
              <a:buClr>
                <a:srgbClr val="202020"/>
              </a:buClr>
              <a:buSzPts val="2400"/>
              <a:buFont typeface="+mj-lt"/>
              <a:buAutoNum type="arabicPeriod"/>
            </a:pPr>
            <a:r>
              <a:rPr lang="en-US" sz="2800" b="1" dirty="0">
                <a:solidFill>
                  <a:schemeClr val="tx1">
                    <a:lumMod val="95000"/>
                    <a:lumOff val="5000"/>
                  </a:schemeClr>
                </a:solidFill>
                <a:latin typeface="Times New Roman"/>
                <a:ea typeface="Times New Roman"/>
                <a:cs typeface="Times New Roman"/>
                <a:sym typeface="Times New Roman"/>
              </a:rPr>
              <a:t>Activity Diagram</a:t>
            </a:r>
          </a:p>
          <a:p>
            <a:pPr marL="1428750" lvl="2" indent="-514350">
              <a:spcBef>
                <a:spcPts val="300"/>
              </a:spcBef>
              <a:buClr>
                <a:srgbClr val="202020"/>
              </a:buClr>
              <a:buSzPts val="2400"/>
              <a:buFont typeface="+mj-lt"/>
              <a:buAutoNum type="arabicPeriod"/>
            </a:pPr>
            <a:r>
              <a:rPr lang="en-US" sz="2800" b="1" dirty="0">
                <a:solidFill>
                  <a:schemeClr val="tx1">
                    <a:lumMod val="95000"/>
                    <a:lumOff val="5000"/>
                  </a:schemeClr>
                </a:solidFill>
                <a:latin typeface="Times New Roman"/>
                <a:ea typeface="Times New Roman"/>
                <a:cs typeface="Times New Roman"/>
                <a:sym typeface="Times New Roman"/>
              </a:rPr>
              <a:t>Data Dictionary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12885685" y="-933714"/>
            <a:ext cx="3658905" cy="12154429"/>
            <a:chOff x="0" y="0"/>
            <a:chExt cx="963662" cy="3201166"/>
          </a:xfrm>
        </p:grpSpPr>
        <p:sp>
          <p:nvSpPr>
            <p:cNvPr id="4" name="Freeform 4"/>
            <p:cNvSpPr/>
            <p:nvPr/>
          </p:nvSpPr>
          <p:spPr>
            <a:xfrm>
              <a:off x="0" y="0"/>
              <a:ext cx="963662" cy="3201166"/>
            </a:xfrm>
            <a:custGeom>
              <a:avLst/>
              <a:gdLst/>
              <a:ahLst/>
              <a:cxnLst/>
              <a:rect l="l" t="t" r="r" b="b"/>
              <a:pathLst>
                <a:path w="963662" h="3201166">
                  <a:moveTo>
                    <a:pt x="0" y="0"/>
                  </a:moveTo>
                  <a:lnTo>
                    <a:pt x="963662" y="0"/>
                  </a:lnTo>
                  <a:lnTo>
                    <a:pt x="963662" y="3201166"/>
                  </a:lnTo>
                  <a:lnTo>
                    <a:pt x="0" y="3201166"/>
                  </a:lnTo>
                  <a:close/>
                </a:path>
              </a:pathLst>
            </a:custGeom>
            <a:solidFill>
              <a:srgbClr val="B84900"/>
            </a:solidFill>
          </p:spPr>
        </p:sp>
        <p:sp>
          <p:nvSpPr>
            <p:cNvPr id="5" name="TextBox 5"/>
            <p:cNvSpPr txBox="1"/>
            <p:nvPr/>
          </p:nvSpPr>
          <p:spPr>
            <a:xfrm>
              <a:off x="0" y="-38100"/>
              <a:ext cx="963662" cy="3239266"/>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0" y="8120065"/>
            <a:ext cx="3163738" cy="3048693"/>
          </a:xfrm>
          <a:custGeom>
            <a:avLst/>
            <a:gdLst/>
            <a:ahLst/>
            <a:cxnLst/>
            <a:rect l="l" t="t" r="r" b="b"/>
            <a:pathLst>
              <a:path w="3163738" h="3048693">
                <a:moveTo>
                  <a:pt x="0" y="0"/>
                </a:moveTo>
                <a:lnTo>
                  <a:pt x="3163738" y="0"/>
                </a:lnTo>
                <a:lnTo>
                  <a:pt x="3163738" y="3048693"/>
                </a:lnTo>
                <a:lnTo>
                  <a:pt x="0" y="304869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p:cNvSpPr/>
          <p:nvPr/>
        </p:nvSpPr>
        <p:spPr>
          <a:xfrm flipH="1">
            <a:off x="8677310" y="8120065"/>
            <a:ext cx="3163738" cy="3048693"/>
          </a:xfrm>
          <a:custGeom>
            <a:avLst/>
            <a:gdLst/>
            <a:ahLst/>
            <a:cxnLst/>
            <a:rect l="l" t="t" r="r" b="b"/>
            <a:pathLst>
              <a:path w="3163738" h="3048693">
                <a:moveTo>
                  <a:pt x="3163737" y="0"/>
                </a:moveTo>
                <a:lnTo>
                  <a:pt x="0" y="0"/>
                </a:lnTo>
                <a:lnTo>
                  <a:pt x="0" y="3048693"/>
                </a:lnTo>
                <a:lnTo>
                  <a:pt x="3163737" y="3048693"/>
                </a:lnTo>
                <a:lnTo>
                  <a:pt x="3163737"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8" name="Group 8"/>
          <p:cNvGrpSpPr/>
          <p:nvPr/>
        </p:nvGrpSpPr>
        <p:grpSpPr>
          <a:xfrm>
            <a:off x="1619686" y="7225945"/>
            <a:ext cx="3985475" cy="2418467"/>
            <a:chOff x="0" y="0"/>
            <a:chExt cx="1339441" cy="812800"/>
          </a:xfrm>
        </p:grpSpPr>
        <p:sp>
          <p:nvSpPr>
            <p:cNvPr id="9" name="Freeform 9"/>
            <p:cNvSpPr/>
            <p:nvPr/>
          </p:nvSpPr>
          <p:spPr>
            <a:xfrm>
              <a:off x="0" y="0"/>
              <a:ext cx="1339441" cy="812800"/>
            </a:xfrm>
            <a:custGeom>
              <a:avLst/>
              <a:gdLst/>
              <a:ahLst/>
              <a:cxnLst/>
              <a:rect l="l" t="t" r="r" b="b"/>
              <a:pathLst>
                <a:path w="1339441" h="812800">
                  <a:moveTo>
                    <a:pt x="0" y="0"/>
                  </a:moveTo>
                  <a:lnTo>
                    <a:pt x="1339441" y="0"/>
                  </a:lnTo>
                  <a:lnTo>
                    <a:pt x="1339441" y="812800"/>
                  </a:lnTo>
                  <a:lnTo>
                    <a:pt x="0" y="812800"/>
                  </a:lnTo>
                  <a:close/>
                </a:path>
              </a:pathLst>
            </a:custGeom>
            <a:blipFill>
              <a:blip r:embed="rId3"/>
              <a:stretch>
                <a:fillRect l="-11856"/>
              </a:stretch>
            </a:blipFill>
          </p:spPr>
        </p:sp>
      </p:grpSp>
      <p:grpSp>
        <p:nvGrpSpPr>
          <p:cNvPr id="10" name="Group 10"/>
          <p:cNvGrpSpPr/>
          <p:nvPr/>
        </p:nvGrpSpPr>
        <p:grpSpPr>
          <a:xfrm>
            <a:off x="6273704" y="7225945"/>
            <a:ext cx="3985475" cy="2418467"/>
            <a:chOff x="0" y="0"/>
            <a:chExt cx="1339441" cy="812800"/>
          </a:xfrm>
        </p:grpSpPr>
        <p:sp>
          <p:nvSpPr>
            <p:cNvPr id="11" name="Freeform 11"/>
            <p:cNvSpPr/>
            <p:nvPr/>
          </p:nvSpPr>
          <p:spPr>
            <a:xfrm>
              <a:off x="0" y="0"/>
              <a:ext cx="1339441" cy="812800"/>
            </a:xfrm>
            <a:custGeom>
              <a:avLst/>
              <a:gdLst/>
              <a:ahLst/>
              <a:cxnLst/>
              <a:rect l="l" t="t" r="r" b="b"/>
              <a:pathLst>
                <a:path w="1339441" h="812800">
                  <a:moveTo>
                    <a:pt x="0" y="0"/>
                  </a:moveTo>
                  <a:lnTo>
                    <a:pt x="1339441" y="0"/>
                  </a:lnTo>
                  <a:lnTo>
                    <a:pt x="1339441" y="812800"/>
                  </a:lnTo>
                  <a:lnTo>
                    <a:pt x="0" y="812800"/>
                  </a:lnTo>
                  <a:close/>
                </a:path>
              </a:pathLst>
            </a:custGeom>
            <a:blipFill>
              <a:blip r:embed="rId4"/>
              <a:stretch>
                <a:fillRect t="-4981" b="-4981"/>
              </a:stretch>
            </a:blipFill>
          </p:spPr>
        </p:sp>
      </p:grpSp>
      <p:grpSp>
        <p:nvGrpSpPr>
          <p:cNvPr id="12" name="Group 12"/>
          <p:cNvGrpSpPr/>
          <p:nvPr/>
        </p:nvGrpSpPr>
        <p:grpSpPr>
          <a:xfrm>
            <a:off x="12172827" y="1366373"/>
            <a:ext cx="4912535" cy="7554253"/>
            <a:chOff x="0" y="0"/>
            <a:chExt cx="761080" cy="1170352"/>
          </a:xfrm>
        </p:grpSpPr>
        <p:sp>
          <p:nvSpPr>
            <p:cNvPr id="13" name="Freeform 13"/>
            <p:cNvSpPr/>
            <p:nvPr/>
          </p:nvSpPr>
          <p:spPr>
            <a:xfrm>
              <a:off x="0" y="0"/>
              <a:ext cx="761080" cy="1170352"/>
            </a:xfrm>
            <a:custGeom>
              <a:avLst/>
              <a:gdLst/>
              <a:ahLst/>
              <a:cxnLst/>
              <a:rect l="l" t="t" r="r" b="b"/>
              <a:pathLst>
                <a:path w="761080" h="1170352">
                  <a:moveTo>
                    <a:pt x="0" y="0"/>
                  </a:moveTo>
                  <a:lnTo>
                    <a:pt x="761080" y="0"/>
                  </a:lnTo>
                  <a:lnTo>
                    <a:pt x="761080" y="1170352"/>
                  </a:lnTo>
                  <a:lnTo>
                    <a:pt x="0" y="1170352"/>
                  </a:lnTo>
                  <a:close/>
                </a:path>
              </a:pathLst>
            </a:custGeom>
            <a:blipFill>
              <a:blip r:embed="rId5"/>
              <a:stretch>
                <a:fillRect l="-7665" r="-7665"/>
              </a:stretch>
            </a:blipFill>
          </p:spPr>
        </p:sp>
      </p:grpSp>
      <p:sp>
        <p:nvSpPr>
          <p:cNvPr id="14" name="TextBox 14"/>
          <p:cNvSpPr txBox="1"/>
          <p:nvPr/>
        </p:nvSpPr>
        <p:spPr>
          <a:xfrm>
            <a:off x="1743410" y="1027819"/>
            <a:ext cx="8943445" cy="677108"/>
          </a:xfrm>
          <a:prstGeom prst="rect">
            <a:avLst/>
          </a:prstGeom>
        </p:spPr>
        <p:txBody>
          <a:bodyPr wrap="square" lIns="0" tIns="0" rIns="0" bIns="0" rtlCol="0" anchor="t">
            <a:spAutoFit/>
          </a:bodyPr>
          <a:lstStyle/>
          <a:p>
            <a:pPr>
              <a:spcBef>
                <a:spcPts val="200"/>
              </a:spcBef>
              <a:buClr>
                <a:srgbClr val="202020"/>
              </a:buClr>
              <a:buSzPts val="2400"/>
            </a:pPr>
            <a:r>
              <a:rPr lang="en-US" sz="4400" b="1" dirty="0">
                <a:solidFill>
                  <a:schemeClr val="tx1">
                    <a:lumMod val="95000"/>
                    <a:lumOff val="5000"/>
                  </a:schemeClr>
                </a:solidFill>
                <a:latin typeface="Times New Roman"/>
                <a:ea typeface="Times New Roman"/>
                <a:cs typeface="Times New Roman"/>
                <a:sym typeface="Times New Roman"/>
              </a:rPr>
              <a:t>Proposed system and its Objectives</a:t>
            </a:r>
          </a:p>
        </p:txBody>
      </p:sp>
      <p:sp>
        <p:nvSpPr>
          <p:cNvPr id="16" name="TextBox 16"/>
          <p:cNvSpPr txBox="1"/>
          <p:nvPr/>
        </p:nvSpPr>
        <p:spPr>
          <a:xfrm>
            <a:off x="1743410" y="2096618"/>
            <a:ext cx="8895914" cy="5539978"/>
          </a:xfrm>
          <a:prstGeom prst="rect">
            <a:avLst/>
          </a:prstGeom>
        </p:spPr>
        <p:txBody>
          <a:bodyPr wrap="square" lIns="0" tIns="0" rIns="0" bIns="0" rtlCol="0" anchor="t">
            <a:spAutoFit/>
          </a:bodyPr>
          <a:lstStyle/>
          <a:p>
            <a:r>
              <a:rPr lang="en-US" sz="2400" dirty="0"/>
              <a:t>The Sip &amp; Bite platform is an advanced, integrated digital solution designed to transform food ordering, table reservation, and delivery management for contemporary food service businesses. Combining a robust web application powered by Laravel PHP with a high-performance Android mobile application, Sip &amp; Bite streamlines the dining and delivery workflow for customers, administrative management, kitchen staff, and delivery personnel.</a:t>
            </a:r>
          </a:p>
          <a:p>
            <a:r>
              <a:rPr lang="en-US" sz="2400" dirty="0"/>
              <a:t>Traditional restaurant operations often suffer from fragmented manual systems—such as paper-based menu ordering, telephone table bookings, undocumented cash handling, and lack of real-time delivery visibility. The proposed Sip &amp; Bite system automates the entire restaurant ecosystem, providing a digital menu, automated cart calculations, instantaneous table reservation validation, online payments, and geospatial distance tracking.</a:t>
            </a:r>
            <a:endParaRPr lang="en-IN" sz="2400" dirty="0"/>
          </a:p>
          <a:p>
            <a:endParaRPr lang="en-IN"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8423205" y="7648018"/>
            <a:ext cx="4580888" cy="458088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84900"/>
            </a:solidFill>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713649" y="7620858"/>
            <a:ext cx="7574351" cy="2666142"/>
            <a:chOff x="0" y="0"/>
            <a:chExt cx="1245662" cy="438468"/>
          </a:xfrm>
        </p:grpSpPr>
        <p:sp>
          <p:nvSpPr>
            <p:cNvPr id="7" name="Freeform 7"/>
            <p:cNvSpPr/>
            <p:nvPr/>
          </p:nvSpPr>
          <p:spPr>
            <a:xfrm>
              <a:off x="0" y="0"/>
              <a:ext cx="1245662" cy="438468"/>
            </a:xfrm>
            <a:custGeom>
              <a:avLst/>
              <a:gdLst/>
              <a:ahLst/>
              <a:cxnLst/>
              <a:rect l="l" t="t" r="r" b="b"/>
              <a:pathLst>
                <a:path w="1245662" h="438468">
                  <a:moveTo>
                    <a:pt x="0" y="0"/>
                  </a:moveTo>
                  <a:lnTo>
                    <a:pt x="1245662" y="0"/>
                  </a:lnTo>
                  <a:lnTo>
                    <a:pt x="1245662" y="438468"/>
                  </a:lnTo>
                  <a:lnTo>
                    <a:pt x="0" y="438468"/>
                  </a:lnTo>
                  <a:close/>
                </a:path>
              </a:pathLst>
            </a:custGeom>
            <a:blipFill>
              <a:blip r:embed="rId2"/>
              <a:stretch>
                <a:fillRect t="-44638" b="-44638"/>
              </a:stretch>
            </a:blipFill>
          </p:spPr>
        </p:sp>
      </p:grpSp>
      <p:grpSp>
        <p:nvGrpSpPr>
          <p:cNvPr id="8" name="Group 8"/>
          <p:cNvGrpSpPr/>
          <p:nvPr/>
        </p:nvGrpSpPr>
        <p:grpSpPr>
          <a:xfrm>
            <a:off x="10713649" y="4997568"/>
            <a:ext cx="7574351" cy="2480947"/>
            <a:chOff x="0" y="0"/>
            <a:chExt cx="1245662" cy="408011"/>
          </a:xfrm>
        </p:grpSpPr>
        <p:sp>
          <p:nvSpPr>
            <p:cNvPr id="9" name="Freeform 9"/>
            <p:cNvSpPr/>
            <p:nvPr/>
          </p:nvSpPr>
          <p:spPr>
            <a:xfrm>
              <a:off x="0" y="0"/>
              <a:ext cx="1245662" cy="408011"/>
            </a:xfrm>
            <a:custGeom>
              <a:avLst/>
              <a:gdLst/>
              <a:ahLst/>
              <a:cxnLst/>
              <a:rect l="l" t="t" r="r" b="b"/>
              <a:pathLst>
                <a:path w="1245662" h="408011">
                  <a:moveTo>
                    <a:pt x="0" y="0"/>
                  </a:moveTo>
                  <a:lnTo>
                    <a:pt x="1245662" y="0"/>
                  </a:lnTo>
                  <a:lnTo>
                    <a:pt x="1245662" y="408011"/>
                  </a:lnTo>
                  <a:lnTo>
                    <a:pt x="0" y="408011"/>
                  </a:lnTo>
                  <a:close/>
                </a:path>
              </a:pathLst>
            </a:custGeom>
            <a:blipFill>
              <a:blip r:embed="rId3"/>
              <a:stretch>
                <a:fillRect t="-37376" b="-66030"/>
              </a:stretch>
            </a:blipFill>
          </p:spPr>
        </p:sp>
      </p:grpSp>
      <p:grpSp>
        <p:nvGrpSpPr>
          <p:cNvPr id="10" name="Group 10"/>
          <p:cNvGrpSpPr/>
          <p:nvPr/>
        </p:nvGrpSpPr>
        <p:grpSpPr>
          <a:xfrm>
            <a:off x="-2290444" y="-2824563"/>
            <a:ext cx="4580888" cy="4580888"/>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84900"/>
            </a:solidFill>
          </p:spPr>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0713649" y="571130"/>
            <a:ext cx="3647046" cy="4254987"/>
            <a:chOff x="0" y="0"/>
            <a:chExt cx="599785" cy="699766"/>
          </a:xfrm>
        </p:grpSpPr>
        <p:sp>
          <p:nvSpPr>
            <p:cNvPr id="14" name="Freeform 14"/>
            <p:cNvSpPr/>
            <p:nvPr/>
          </p:nvSpPr>
          <p:spPr>
            <a:xfrm>
              <a:off x="0" y="0"/>
              <a:ext cx="599785" cy="699766"/>
            </a:xfrm>
            <a:custGeom>
              <a:avLst/>
              <a:gdLst/>
              <a:ahLst/>
              <a:cxnLst/>
              <a:rect l="l" t="t" r="r" b="b"/>
              <a:pathLst>
                <a:path w="599785" h="699766">
                  <a:moveTo>
                    <a:pt x="0" y="0"/>
                  </a:moveTo>
                  <a:lnTo>
                    <a:pt x="599785" y="0"/>
                  </a:lnTo>
                  <a:lnTo>
                    <a:pt x="599785" y="699766"/>
                  </a:lnTo>
                  <a:lnTo>
                    <a:pt x="0" y="699766"/>
                  </a:lnTo>
                  <a:close/>
                </a:path>
              </a:pathLst>
            </a:custGeom>
            <a:blipFill>
              <a:blip r:embed="rId4"/>
              <a:stretch>
                <a:fillRect l="-51339" r="-23773"/>
              </a:stretch>
            </a:blipFill>
          </p:spPr>
        </p:sp>
      </p:grpSp>
      <p:grpSp>
        <p:nvGrpSpPr>
          <p:cNvPr id="15" name="Group 15"/>
          <p:cNvGrpSpPr/>
          <p:nvPr/>
        </p:nvGrpSpPr>
        <p:grpSpPr>
          <a:xfrm>
            <a:off x="14500824" y="571130"/>
            <a:ext cx="3647046" cy="4254987"/>
            <a:chOff x="0" y="0"/>
            <a:chExt cx="599785" cy="699766"/>
          </a:xfrm>
        </p:grpSpPr>
        <p:sp>
          <p:nvSpPr>
            <p:cNvPr id="16" name="Freeform 16"/>
            <p:cNvSpPr/>
            <p:nvPr/>
          </p:nvSpPr>
          <p:spPr>
            <a:xfrm>
              <a:off x="0" y="0"/>
              <a:ext cx="599785" cy="699766"/>
            </a:xfrm>
            <a:custGeom>
              <a:avLst/>
              <a:gdLst/>
              <a:ahLst/>
              <a:cxnLst/>
              <a:rect l="l" t="t" r="r" b="b"/>
              <a:pathLst>
                <a:path w="599785" h="699766">
                  <a:moveTo>
                    <a:pt x="0" y="0"/>
                  </a:moveTo>
                  <a:lnTo>
                    <a:pt x="599785" y="0"/>
                  </a:lnTo>
                  <a:lnTo>
                    <a:pt x="599785" y="699766"/>
                  </a:lnTo>
                  <a:lnTo>
                    <a:pt x="0" y="699766"/>
                  </a:lnTo>
                  <a:close/>
                </a:path>
              </a:pathLst>
            </a:custGeom>
            <a:blipFill>
              <a:blip r:embed="rId5"/>
              <a:stretch>
                <a:fillRect t="-3570" b="-3570"/>
              </a:stretch>
            </a:blipFill>
          </p:spPr>
        </p:sp>
      </p:grpSp>
      <p:sp>
        <p:nvSpPr>
          <p:cNvPr id="17" name="TextBox 17"/>
          <p:cNvSpPr txBox="1"/>
          <p:nvPr/>
        </p:nvSpPr>
        <p:spPr>
          <a:xfrm>
            <a:off x="770529" y="1150320"/>
            <a:ext cx="7970950" cy="1410001"/>
          </a:xfrm>
          <a:prstGeom prst="rect">
            <a:avLst/>
          </a:prstGeom>
        </p:spPr>
        <p:txBody>
          <a:bodyPr lIns="0" tIns="0" rIns="0" bIns="0" rtlCol="0" anchor="t">
            <a:spAutoFit/>
          </a:bodyPr>
          <a:lstStyle/>
          <a:p>
            <a:pPr algn="l">
              <a:lnSpc>
                <a:spcPts val="12880"/>
              </a:lnSpc>
            </a:pPr>
            <a:r>
              <a:rPr lang="en-US" sz="4400" dirty="0">
                <a:solidFill>
                  <a:srgbClr val="231816"/>
                </a:solidFill>
                <a:latin typeface="Bugaki"/>
                <a:ea typeface="Bugaki"/>
                <a:cs typeface="Bugaki"/>
                <a:sym typeface="Bugaki"/>
              </a:rPr>
              <a:t>Objective</a:t>
            </a:r>
          </a:p>
        </p:txBody>
      </p:sp>
      <p:sp>
        <p:nvSpPr>
          <p:cNvPr id="19" name="TextBox 19"/>
          <p:cNvSpPr txBox="1"/>
          <p:nvPr/>
        </p:nvSpPr>
        <p:spPr>
          <a:xfrm>
            <a:off x="770529" y="2933700"/>
            <a:ext cx="8406128" cy="5847755"/>
          </a:xfrm>
          <a:prstGeom prst="rect">
            <a:avLst/>
          </a:prstGeom>
        </p:spPr>
        <p:txBody>
          <a:bodyPr lIns="0" tIns="0" rIns="0" bIns="0" rtlCol="0" anchor="t">
            <a:spAutoFit/>
          </a:bodyPr>
          <a:lstStyle/>
          <a:p>
            <a:pPr lvl="0"/>
            <a:r>
              <a:rPr lang="en-US" sz="2000" b="1" dirty="0"/>
              <a:t>1. Digitalization of Menu &amp; Ordering: </a:t>
            </a:r>
            <a:r>
              <a:rPr lang="en-US" sz="2000" dirty="0"/>
              <a:t>Enable customers to seamlessly explore categorized food &amp; beverage items, filter by dietary preferences (vegetarian vs. non-vegetarian), customize item quantities, and place orders digitally.</a:t>
            </a:r>
            <a:endParaRPr lang="en-IN" sz="2000" dirty="0"/>
          </a:p>
          <a:p>
            <a:pPr lvl="0"/>
            <a:r>
              <a:rPr lang="en-US" sz="2000" b="1" dirty="0"/>
              <a:t>2. Real-Time Table Reservation System: </a:t>
            </a:r>
            <a:r>
              <a:rPr lang="en-US" sz="2000" dirty="0"/>
              <a:t>Provide customers with an intuitive table booking interface to reserve dining tables in advance, specifying date, time slots, guest capacity, and special dining requests, thereby preventing double bookings and reducing table idle time.</a:t>
            </a:r>
            <a:endParaRPr lang="en-IN" sz="2000" dirty="0"/>
          </a:p>
          <a:p>
            <a:pPr lvl="0"/>
            <a:r>
              <a:rPr lang="en-US" sz="2000" b="1" dirty="0"/>
              <a:t>3. Geospatial Distance &amp; Delivery Tracking: </a:t>
            </a:r>
            <a:r>
              <a:rPr lang="en-US" sz="2000" dirty="0"/>
              <a:t>Integrate location services and distance APIs to calculate precise delivery charges, estimate delivery lead times, and track delivery personnel dispatch in real time.</a:t>
            </a:r>
            <a:endParaRPr lang="en-IN" sz="2000" dirty="0"/>
          </a:p>
          <a:p>
            <a:pPr lvl="0"/>
            <a:r>
              <a:rPr lang="en-US" sz="2000" b="1" dirty="0"/>
              <a:t>4. Multi-Role Operating Environment: </a:t>
            </a:r>
            <a:r>
              <a:rPr lang="en-US" sz="2000" dirty="0"/>
              <a:t>Establish role-based access control (RBAC) accommodating Administrators, Kitchen Staff, Delivery Partners, and Customers with tailored dashboards and functional permissions.</a:t>
            </a:r>
            <a:endParaRPr lang="en-IN" sz="2000" dirty="0"/>
          </a:p>
          <a:p>
            <a:pPr lvl="0"/>
            <a:r>
              <a:rPr lang="en-US" sz="2000" b="1" dirty="0"/>
              <a:t>5. Seamless Payment Gateway Integration: </a:t>
            </a:r>
            <a:r>
              <a:rPr lang="en-US" sz="2000" dirty="0"/>
              <a:t>Support multi-channel payment flows, including </a:t>
            </a:r>
            <a:r>
              <a:rPr lang="en-US" sz="2000" dirty="0" err="1"/>
              <a:t>Razorpay</a:t>
            </a:r>
            <a:r>
              <a:rPr lang="en-US" sz="2000" dirty="0"/>
              <a:t> online transactions (Credit/Debit Card, UPI, Net Banking) and Cash on Delivery (COD), with robust status synchronization.</a:t>
            </a:r>
            <a:endParaRPr lang="en-IN" sz="2000" dirty="0"/>
          </a:p>
          <a:p>
            <a:pPr lvl="0"/>
            <a:r>
              <a:rPr lang="en-US" sz="2000" b="1" dirty="0"/>
              <a:t>6. Quality Assurance &amp; Customer Feedback: </a:t>
            </a:r>
            <a:r>
              <a:rPr lang="en-US" sz="2000" dirty="0"/>
              <a:t>Incorporate post-order and post-dining feedback mechanisms to collect ratings and qualitative reviews, assisting management in continuous service enhancement.</a:t>
            </a:r>
            <a:endParaRPr lang="en-IN"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3214998" y="-2510807"/>
            <a:ext cx="7654307" cy="7654307"/>
          </a:xfrm>
          <a:custGeom>
            <a:avLst/>
            <a:gdLst/>
            <a:ahLst/>
            <a:cxnLst/>
            <a:rect l="l" t="t" r="r" b="b"/>
            <a:pathLst>
              <a:path w="7654307" h="7654307">
                <a:moveTo>
                  <a:pt x="0" y="0"/>
                </a:moveTo>
                <a:lnTo>
                  <a:pt x="7654307" y="0"/>
                </a:lnTo>
                <a:lnTo>
                  <a:pt x="7654307" y="7654307"/>
                </a:lnTo>
                <a:lnTo>
                  <a:pt x="0" y="765430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9667056" y="6287087"/>
            <a:ext cx="4311439" cy="4311439"/>
          </a:xfrm>
          <a:custGeom>
            <a:avLst/>
            <a:gdLst/>
            <a:ahLst/>
            <a:cxnLst/>
            <a:rect l="l" t="t" r="r" b="b"/>
            <a:pathLst>
              <a:path w="4311439" h="4311439">
                <a:moveTo>
                  <a:pt x="0" y="0"/>
                </a:moveTo>
                <a:lnTo>
                  <a:pt x="4311439" y="0"/>
                </a:lnTo>
                <a:lnTo>
                  <a:pt x="4311439" y="4311439"/>
                </a:lnTo>
                <a:lnTo>
                  <a:pt x="0" y="4311439"/>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11551100" y="968890"/>
            <a:ext cx="5906573" cy="590657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r="-125"/>
              </a:stretch>
            </a:blipFill>
          </p:spPr>
        </p:sp>
      </p:grpSp>
      <p:grpSp>
        <p:nvGrpSpPr>
          <p:cNvPr id="7" name="Group 7"/>
          <p:cNvGrpSpPr/>
          <p:nvPr/>
        </p:nvGrpSpPr>
        <p:grpSpPr>
          <a:xfrm>
            <a:off x="11657598" y="4824610"/>
            <a:ext cx="3618197" cy="361819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28954" r="-29459" b="-5543"/>
              </a:stretch>
            </a:blipFill>
          </p:spPr>
        </p:sp>
      </p:grpSp>
      <p:grpSp>
        <p:nvGrpSpPr>
          <p:cNvPr id="9" name="Group 9"/>
          <p:cNvGrpSpPr/>
          <p:nvPr/>
        </p:nvGrpSpPr>
        <p:grpSpPr>
          <a:xfrm>
            <a:off x="-3552188" y="3023547"/>
            <a:ext cx="4580888" cy="45808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84900"/>
            </a:solidFill>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1881592" y="1023473"/>
            <a:ext cx="8938808" cy="1471557"/>
          </a:xfrm>
          <a:prstGeom prst="rect">
            <a:avLst/>
          </a:prstGeom>
        </p:spPr>
        <p:txBody>
          <a:bodyPr wrap="square" lIns="0" tIns="0" rIns="0" bIns="0" rtlCol="0" anchor="t">
            <a:spAutoFit/>
          </a:bodyPr>
          <a:lstStyle/>
          <a:p>
            <a:pPr>
              <a:lnSpc>
                <a:spcPts val="12880"/>
              </a:lnSpc>
            </a:pPr>
            <a:r>
              <a:rPr lang="en-US" sz="6000" dirty="0">
                <a:solidFill>
                  <a:srgbClr val="231816"/>
                </a:solidFill>
                <a:latin typeface="Bugaki"/>
                <a:ea typeface="Bugaki"/>
                <a:cs typeface="Bugaki"/>
                <a:sym typeface="Bugaki"/>
              </a:rPr>
              <a:t>Core Components</a:t>
            </a:r>
          </a:p>
        </p:txBody>
      </p:sp>
      <p:sp>
        <p:nvSpPr>
          <p:cNvPr id="13" name="TextBox 12">
            <a:extLst>
              <a:ext uri="{FF2B5EF4-FFF2-40B4-BE49-F238E27FC236}">
                <a16:creationId xmlns:a16="http://schemas.microsoft.com/office/drawing/2014/main" id="{EBF1FF1F-DB3D-E2A7-C7C1-F1BAAFBBA0A5}"/>
              </a:ext>
            </a:extLst>
          </p:cNvPr>
          <p:cNvSpPr txBox="1"/>
          <p:nvPr/>
        </p:nvSpPr>
        <p:spPr>
          <a:xfrm>
            <a:off x="1792057" y="2691319"/>
            <a:ext cx="12213770" cy="2144177"/>
          </a:xfrm>
          <a:prstGeom prst="rect">
            <a:avLst/>
          </a:prstGeom>
          <a:noFill/>
        </p:spPr>
        <p:txBody>
          <a:bodyPr wrap="square">
            <a:spAutoFit/>
          </a:bodyPr>
          <a:lstStyle/>
          <a:p>
            <a:pPr lvl="0">
              <a:lnSpc>
                <a:spcPct val="100000"/>
              </a:lnSpc>
              <a:spcAft>
                <a:spcPts val="400"/>
              </a:spcAft>
              <a:tabLst>
                <a:tab pos="228600" algn="l"/>
              </a:tabLst>
            </a:pPr>
            <a:r>
              <a:rPr lang="en-US" sz="2400" b="1" dirty="0">
                <a:solidFill>
                  <a:schemeClr val="tx1"/>
                </a:solidFill>
                <a:effectLst/>
                <a:latin typeface="+mn-lt"/>
                <a:ea typeface="MS Mincho" panose="02020609040205080304" pitchFamily="49" charset="-128"/>
                <a:cs typeface="Shruti" panose="020B0502040204020203" pitchFamily="34" charset="0"/>
              </a:rPr>
              <a:t>1. Web Backend &amp; Admin Subsystem (Laravel Framework)</a:t>
            </a:r>
          </a:p>
          <a:p>
            <a:pPr lvl="0">
              <a:lnSpc>
                <a:spcPct val="100000"/>
              </a:lnSpc>
              <a:spcAft>
                <a:spcPts val="400"/>
              </a:spcAft>
              <a:tabLst>
                <a:tab pos="228600" algn="l"/>
              </a:tabLst>
            </a:pPr>
            <a:r>
              <a:rPr lang="en-US" sz="2400" b="1" dirty="0">
                <a:solidFill>
                  <a:schemeClr val="tx1"/>
                </a:solidFill>
                <a:effectLst/>
                <a:latin typeface="+mn-lt"/>
                <a:ea typeface="MS Mincho" panose="02020609040205080304" pitchFamily="49" charset="-128"/>
                <a:cs typeface="Shruti" panose="020B0502040204020203" pitchFamily="34" charset="0"/>
              </a:rPr>
              <a:t>2. Customer Android Mobile Application</a:t>
            </a:r>
            <a:endParaRPr lang="en-IN" sz="2400" dirty="0">
              <a:solidFill>
                <a:schemeClr val="tx1"/>
              </a:solidFill>
              <a:effectLst/>
              <a:latin typeface="+mn-lt"/>
              <a:ea typeface="MS Mincho" panose="02020609040205080304" pitchFamily="49" charset="-128"/>
              <a:cs typeface="Shruti" panose="020B0502040204020203" pitchFamily="34" charset="0"/>
            </a:endParaRPr>
          </a:p>
          <a:p>
            <a:pPr lvl="0">
              <a:lnSpc>
                <a:spcPct val="100000"/>
              </a:lnSpc>
              <a:spcAft>
                <a:spcPts val="400"/>
              </a:spcAft>
              <a:tabLst>
                <a:tab pos="228600" algn="l"/>
              </a:tabLst>
            </a:pPr>
            <a:r>
              <a:rPr lang="en-US" sz="2400" b="1" dirty="0">
                <a:solidFill>
                  <a:schemeClr val="tx1"/>
                </a:solidFill>
                <a:effectLst/>
                <a:latin typeface="+mn-lt"/>
                <a:ea typeface="MS Mincho" panose="02020609040205080304" pitchFamily="49" charset="-128"/>
                <a:cs typeface="Shruti" panose="020B0502040204020203" pitchFamily="34" charset="0"/>
              </a:rPr>
              <a:t>3. Delivery Partner Subsystem</a:t>
            </a:r>
          </a:p>
          <a:p>
            <a:pPr lvl="0">
              <a:lnSpc>
                <a:spcPct val="100000"/>
              </a:lnSpc>
              <a:spcAft>
                <a:spcPts val="400"/>
              </a:spcAft>
              <a:tabLst>
                <a:tab pos="228600" algn="l"/>
              </a:tabLst>
            </a:pPr>
            <a:r>
              <a:rPr lang="en-US" sz="2400" b="1" dirty="0">
                <a:solidFill>
                  <a:schemeClr val="tx1"/>
                </a:solidFill>
                <a:effectLst/>
                <a:latin typeface="+mn-lt"/>
                <a:ea typeface="MS Mincho" panose="02020609040205080304" pitchFamily="49" charset="-128"/>
                <a:cs typeface="Shruti" panose="020B0502040204020203" pitchFamily="34" charset="0"/>
              </a:rPr>
              <a:t>4. Database Subsystem (MySQL)</a:t>
            </a:r>
          </a:p>
          <a:p>
            <a:pPr lvl="0">
              <a:lnSpc>
                <a:spcPct val="100000"/>
              </a:lnSpc>
              <a:spcAft>
                <a:spcPts val="400"/>
              </a:spcAft>
              <a:tabLst>
                <a:tab pos="228600" algn="l"/>
              </a:tabLst>
            </a:pPr>
            <a:r>
              <a:rPr lang="en-US" sz="2400" b="1" dirty="0">
                <a:solidFill>
                  <a:schemeClr val="tx1"/>
                </a:solidFill>
                <a:effectLst/>
                <a:latin typeface="+mn-lt"/>
                <a:ea typeface="MS Mincho" panose="02020609040205080304" pitchFamily="49" charset="-128"/>
                <a:cs typeface="Shruti" panose="020B0502040204020203" pitchFamily="34" charset="0"/>
              </a:rPr>
              <a:t>5. Geolocation &amp; Payment API Integration Subsystems</a:t>
            </a:r>
            <a:endParaRPr lang="en-IN" sz="24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p:cNvGrpSpPr/>
          <p:nvPr/>
        </p:nvGrpSpPr>
        <p:grpSpPr>
          <a:xfrm>
            <a:off x="-720824" y="9258300"/>
            <a:ext cx="19729648" cy="1630997"/>
            <a:chOff x="0" y="0"/>
            <a:chExt cx="5196286" cy="429563"/>
          </a:xfrm>
        </p:grpSpPr>
        <p:sp>
          <p:nvSpPr>
            <p:cNvPr id="4" name="Freeform 4"/>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p:cNvSpPr txBox="1"/>
            <p:nvPr/>
          </p:nvSpPr>
          <p:spPr>
            <a:xfrm>
              <a:off x="0" y="-38100"/>
              <a:ext cx="5196286" cy="467663"/>
            </a:xfrm>
            <a:prstGeom prst="rect">
              <a:avLst/>
            </a:prstGeom>
          </p:spPr>
          <p:txBody>
            <a:bodyPr lIns="50800" tIns="50800" rIns="50800" bIns="50800" rtlCol="0" anchor="ctr"/>
            <a:lstStyle/>
            <a:p>
              <a:pPr>
                <a:lnSpc>
                  <a:spcPts val="2659"/>
                </a:lnSpc>
              </a:pPr>
              <a:endParaRPr b="1"/>
            </a:p>
          </p:txBody>
        </p:sp>
      </p:grpSp>
      <p:sp>
        <p:nvSpPr>
          <p:cNvPr id="6" name="TextBox 6"/>
          <p:cNvSpPr txBox="1"/>
          <p:nvPr/>
        </p:nvSpPr>
        <p:spPr>
          <a:xfrm>
            <a:off x="1143000" y="571500"/>
            <a:ext cx="15849600" cy="1538883"/>
          </a:xfrm>
          <a:prstGeom prst="rect">
            <a:avLst/>
          </a:prstGeom>
        </p:spPr>
        <p:txBody>
          <a:bodyPr wrap="square" lIns="0" tIns="0" rIns="0" bIns="0" rtlCol="0" anchor="t">
            <a:spAutoFit/>
          </a:bodyPr>
          <a:lstStyle/>
          <a:p>
            <a:pPr>
              <a:spcBef>
                <a:spcPts val="200"/>
              </a:spcBef>
              <a:buClr>
                <a:srgbClr val="202020"/>
              </a:buClr>
              <a:buSzPts val="2400"/>
            </a:pPr>
            <a:r>
              <a:rPr lang="en-US" sz="5000" b="1" dirty="0">
                <a:solidFill>
                  <a:schemeClr val="tx1">
                    <a:lumMod val="95000"/>
                    <a:lumOff val="5000"/>
                  </a:schemeClr>
                </a:solidFill>
                <a:latin typeface="Times New Roman"/>
                <a:ea typeface="Times New Roman"/>
                <a:cs typeface="Times New Roman"/>
                <a:sym typeface="Times New Roman"/>
              </a:rPr>
              <a:t>Minimum and Maximum Software/Hardware requirements</a:t>
            </a:r>
          </a:p>
        </p:txBody>
      </p:sp>
      <p:graphicFrame>
        <p:nvGraphicFramePr>
          <p:cNvPr id="9" name="Table 8">
            <a:extLst>
              <a:ext uri="{FF2B5EF4-FFF2-40B4-BE49-F238E27FC236}">
                <a16:creationId xmlns:a16="http://schemas.microsoft.com/office/drawing/2014/main" id="{821344A8-F67C-9D8A-974C-EDADEC6EBBF6}"/>
              </a:ext>
            </a:extLst>
          </p:cNvPr>
          <p:cNvGraphicFramePr>
            <a:graphicFrameLocks noGrp="1"/>
          </p:cNvGraphicFramePr>
          <p:nvPr>
            <p:extLst>
              <p:ext uri="{D42A27DB-BD31-4B8C-83A1-F6EECF244321}">
                <p14:modId xmlns:p14="http://schemas.microsoft.com/office/powerpoint/2010/main" val="2986660317"/>
              </p:ext>
            </p:extLst>
          </p:nvPr>
        </p:nvGraphicFramePr>
        <p:xfrm>
          <a:off x="1143000" y="1592265"/>
          <a:ext cx="9753600" cy="7686192"/>
        </p:xfrm>
        <a:graphic>
          <a:graphicData uri="http://schemas.openxmlformats.org/drawingml/2006/table">
            <a:tbl>
              <a:tblPr firstRow="1" firstCol="1" bandRow="1">
                <a:tableStyleId>{912C8C85-51F0-491E-9774-3900AFEF0FD7}</a:tableStyleId>
              </a:tblPr>
              <a:tblGrid>
                <a:gridCol w="2250831">
                  <a:extLst>
                    <a:ext uri="{9D8B030D-6E8A-4147-A177-3AD203B41FA5}">
                      <a16:colId xmlns:a16="http://schemas.microsoft.com/office/drawing/2014/main" val="1094764689"/>
                    </a:ext>
                  </a:extLst>
                </a:gridCol>
                <a:gridCol w="2250831">
                  <a:extLst>
                    <a:ext uri="{9D8B030D-6E8A-4147-A177-3AD203B41FA5}">
                      <a16:colId xmlns:a16="http://schemas.microsoft.com/office/drawing/2014/main" val="1233072136"/>
                    </a:ext>
                  </a:extLst>
                </a:gridCol>
                <a:gridCol w="2550941">
                  <a:extLst>
                    <a:ext uri="{9D8B030D-6E8A-4147-A177-3AD203B41FA5}">
                      <a16:colId xmlns:a16="http://schemas.microsoft.com/office/drawing/2014/main" val="2808462718"/>
                    </a:ext>
                  </a:extLst>
                </a:gridCol>
                <a:gridCol w="2700997">
                  <a:extLst>
                    <a:ext uri="{9D8B030D-6E8A-4147-A177-3AD203B41FA5}">
                      <a16:colId xmlns:a16="http://schemas.microsoft.com/office/drawing/2014/main" val="3156438799"/>
                    </a:ext>
                  </a:extLst>
                </a:gridCol>
              </a:tblGrid>
              <a:tr h="758323">
                <a:tc>
                  <a:txBody>
                    <a:bodyPr/>
                    <a:lstStyle/>
                    <a:p>
                      <a:pPr>
                        <a:lnSpc>
                          <a:spcPct val="115000"/>
                        </a:lnSpc>
                        <a:spcAft>
                          <a:spcPts val="1000"/>
                        </a:spcAft>
                        <a:buNone/>
                      </a:pPr>
                      <a:r>
                        <a:rPr lang="en-US" sz="1600">
                          <a:effectLst/>
                        </a:rPr>
                        <a:t>Component Layer</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75861" marB="75861"/>
                </a:tc>
                <a:tc>
                  <a:txBody>
                    <a:bodyPr/>
                    <a:lstStyle/>
                    <a:p>
                      <a:pPr>
                        <a:lnSpc>
                          <a:spcPct val="115000"/>
                        </a:lnSpc>
                        <a:spcAft>
                          <a:spcPts val="1000"/>
                        </a:spcAft>
                        <a:buNone/>
                      </a:pPr>
                      <a:r>
                        <a:rPr lang="en-US" sz="1600">
                          <a:effectLst/>
                        </a:rPr>
                        <a:t>Specification Parameter</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75861" marB="75861"/>
                </a:tc>
                <a:tc>
                  <a:txBody>
                    <a:bodyPr/>
                    <a:lstStyle/>
                    <a:p>
                      <a:pPr>
                        <a:lnSpc>
                          <a:spcPct val="115000"/>
                        </a:lnSpc>
                        <a:spcAft>
                          <a:spcPts val="1000"/>
                        </a:spcAft>
                        <a:buNone/>
                      </a:pPr>
                      <a:r>
                        <a:rPr lang="en-US" sz="1600">
                          <a:effectLst/>
                        </a:rPr>
                        <a:t>Minimum Requirement</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75861" marB="75861"/>
                </a:tc>
                <a:tc>
                  <a:txBody>
                    <a:bodyPr/>
                    <a:lstStyle/>
                    <a:p>
                      <a:pPr>
                        <a:lnSpc>
                          <a:spcPct val="115000"/>
                        </a:lnSpc>
                        <a:spcAft>
                          <a:spcPts val="1000"/>
                        </a:spcAft>
                        <a:buNone/>
                      </a:pPr>
                      <a:r>
                        <a:rPr lang="en-US" sz="1600">
                          <a:effectLst/>
                        </a:rPr>
                        <a:t>Maximum / Recommended</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75861" marB="75861"/>
                </a:tc>
                <a:extLst>
                  <a:ext uri="{0D108BD9-81ED-4DB2-BD59-A6C34878D82A}">
                    <a16:rowId xmlns:a16="http://schemas.microsoft.com/office/drawing/2014/main" val="1373326752"/>
                  </a:ext>
                </a:extLst>
              </a:tr>
              <a:tr h="636212">
                <a:tc>
                  <a:txBody>
                    <a:bodyPr/>
                    <a:lstStyle/>
                    <a:p>
                      <a:pPr>
                        <a:lnSpc>
                          <a:spcPct val="115000"/>
                        </a:lnSpc>
                        <a:spcAft>
                          <a:spcPts val="1000"/>
                        </a:spcAft>
                        <a:buNone/>
                      </a:pPr>
                      <a:r>
                        <a:rPr lang="en-US" sz="1600">
                          <a:effectLst/>
                        </a:rPr>
                        <a:t>Server Side (Web Backend)</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Operating System</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Ubuntu Linux 20.04 LTS</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Ubuntu Linux 24.04 LTS / Cloud Server</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extLst>
                  <a:ext uri="{0D108BD9-81ED-4DB2-BD59-A6C34878D82A}">
                    <a16:rowId xmlns:a16="http://schemas.microsoft.com/office/drawing/2014/main" val="4260891476"/>
                  </a:ext>
                </a:extLst>
              </a:tr>
              <a:tr h="636212">
                <a:tc>
                  <a:txBody>
                    <a:bodyPr/>
                    <a:lstStyle/>
                    <a:p>
                      <a:pPr>
                        <a:lnSpc>
                          <a:spcPct val="115000"/>
                        </a:lnSpc>
                        <a:spcAft>
                          <a:spcPts val="1000"/>
                        </a:spcAft>
                        <a:buNone/>
                      </a:pPr>
                      <a:r>
                        <a:rPr lang="en-US" sz="1600">
                          <a:effectLst/>
                        </a:rPr>
                        <a:t>Server Side (Web Backend)</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CPU Processor</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Dual-Core 2.0 GHz</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Octa-Core 3.5 GHz+ (Intel Xeon / AMD EPYC)</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extLst>
                  <a:ext uri="{0D108BD9-81ED-4DB2-BD59-A6C34878D82A}">
                    <a16:rowId xmlns:a16="http://schemas.microsoft.com/office/drawing/2014/main" val="1998850120"/>
                  </a:ext>
                </a:extLst>
              </a:tr>
              <a:tr h="636212">
                <a:tc>
                  <a:txBody>
                    <a:bodyPr/>
                    <a:lstStyle/>
                    <a:p>
                      <a:pPr>
                        <a:lnSpc>
                          <a:spcPct val="115000"/>
                        </a:lnSpc>
                        <a:spcAft>
                          <a:spcPts val="1000"/>
                        </a:spcAft>
                        <a:buNone/>
                      </a:pPr>
                      <a:r>
                        <a:rPr lang="en-US" sz="1600">
                          <a:effectLst/>
                        </a:rPr>
                        <a:t>Server Side (Web Backend)</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System Memory (RAM)</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4 GB DDR4</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16 GB+ DDR5</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extLst>
                  <a:ext uri="{0D108BD9-81ED-4DB2-BD59-A6C34878D82A}">
                    <a16:rowId xmlns:a16="http://schemas.microsoft.com/office/drawing/2014/main" val="3590716171"/>
                  </a:ext>
                </a:extLst>
              </a:tr>
              <a:tr h="636212">
                <a:tc>
                  <a:txBody>
                    <a:bodyPr/>
                    <a:lstStyle/>
                    <a:p>
                      <a:pPr>
                        <a:lnSpc>
                          <a:spcPct val="115000"/>
                        </a:lnSpc>
                        <a:spcAft>
                          <a:spcPts val="1000"/>
                        </a:spcAft>
                        <a:buNone/>
                      </a:pPr>
                      <a:r>
                        <a:rPr lang="en-US" sz="1600" dirty="0">
                          <a:effectLst/>
                        </a:rPr>
                        <a:t>Server Side (Web Backend)</a:t>
                      </a:r>
                      <a:endParaRPr lang="en-IN" sz="16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Storage Capacity</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30 GB SSD</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250 GB+ NVMe SSD</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extLst>
                  <a:ext uri="{0D108BD9-81ED-4DB2-BD59-A6C34878D82A}">
                    <a16:rowId xmlns:a16="http://schemas.microsoft.com/office/drawing/2014/main" val="4015225853"/>
                  </a:ext>
                </a:extLst>
              </a:tr>
              <a:tr h="636212">
                <a:tc>
                  <a:txBody>
                    <a:bodyPr/>
                    <a:lstStyle/>
                    <a:p>
                      <a:pPr>
                        <a:lnSpc>
                          <a:spcPct val="115000"/>
                        </a:lnSpc>
                        <a:spcAft>
                          <a:spcPts val="1000"/>
                        </a:spcAft>
                        <a:buNone/>
                      </a:pPr>
                      <a:r>
                        <a:rPr lang="en-US" sz="1600">
                          <a:effectLst/>
                        </a:rPr>
                        <a:t>Server Side (Web Backend)</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Software Stack</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PHP 8.2, MySQL 8.0, Apache/NGINX</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PHP 8.3+, MySQL 8.0+, NGINX, Redis Cache</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extLst>
                  <a:ext uri="{0D108BD9-81ED-4DB2-BD59-A6C34878D82A}">
                    <a16:rowId xmlns:a16="http://schemas.microsoft.com/office/drawing/2014/main" val="2594243871"/>
                  </a:ext>
                </a:extLst>
              </a:tr>
              <a:tr h="636212">
                <a:tc>
                  <a:txBody>
                    <a:bodyPr/>
                    <a:lstStyle/>
                    <a:p>
                      <a:pPr>
                        <a:lnSpc>
                          <a:spcPct val="115000"/>
                        </a:lnSpc>
                        <a:spcAft>
                          <a:spcPts val="1000"/>
                        </a:spcAft>
                        <a:buNone/>
                      </a:pPr>
                      <a:r>
                        <a:rPr lang="en-US" sz="1600">
                          <a:effectLst/>
                        </a:rPr>
                        <a:t>Client Web Interface</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Device &amp; Display</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Desktop/Laptop (1024x768 display)</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Full HD 1080p Desktop/Laptop/Tablet</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extLst>
                  <a:ext uri="{0D108BD9-81ED-4DB2-BD59-A6C34878D82A}">
                    <a16:rowId xmlns:a16="http://schemas.microsoft.com/office/drawing/2014/main" val="2381364036"/>
                  </a:ext>
                </a:extLst>
              </a:tr>
              <a:tr h="636212">
                <a:tc>
                  <a:txBody>
                    <a:bodyPr/>
                    <a:lstStyle/>
                    <a:p>
                      <a:pPr>
                        <a:lnSpc>
                          <a:spcPct val="115000"/>
                        </a:lnSpc>
                        <a:spcAft>
                          <a:spcPts val="1000"/>
                        </a:spcAft>
                        <a:buNone/>
                      </a:pPr>
                      <a:r>
                        <a:rPr lang="en-US" sz="1600">
                          <a:effectLst/>
                        </a:rPr>
                        <a:t>Client Web Interface</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Browser Engine</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Google Chrome 90+, Firefox 88+</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Latest Google Chrome / Safari / Edge</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extLst>
                  <a:ext uri="{0D108BD9-81ED-4DB2-BD59-A6C34878D82A}">
                    <a16:rowId xmlns:a16="http://schemas.microsoft.com/office/drawing/2014/main" val="1970493658"/>
                  </a:ext>
                </a:extLst>
              </a:tr>
              <a:tr h="400929">
                <a:tc>
                  <a:txBody>
                    <a:bodyPr/>
                    <a:lstStyle/>
                    <a:p>
                      <a:pPr>
                        <a:lnSpc>
                          <a:spcPct val="115000"/>
                        </a:lnSpc>
                        <a:spcAft>
                          <a:spcPts val="1000"/>
                        </a:spcAft>
                        <a:buNone/>
                      </a:pPr>
                      <a:r>
                        <a:rPr lang="en-US" sz="1600">
                          <a:effectLst/>
                        </a:rPr>
                        <a:t>Client Web Interface</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Network Bandwidth</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2 Mbps Broadband</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100 Mbps+ High-Speed Fiber</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extLst>
                  <a:ext uri="{0D108BD9-81ED-4DB2-BD59-A6C34878D82A}">
                    <a16:rowId xmlns:a16="http://schemas.microsoft.com/office/drawing/2014/main" val="3449658073"/>
                  </a:ext>
                </a:extLst>
              </a:tr>
              <a:tr h="636212">
                <a:tc>
                  <a:txBody>
                    <a:bodyPr/>
                    <a:lstStyle/>
                    <a:p>
                      <a:pPr>
                        <a:lnSpc>
                          <a:spcPct val="115000"/>
                        </a:lnSpc>
                        <a:spcAft>
                          <a:spcPts val="1000"/>
                        </a:spcAft>
                        <a:buNone/>
                      </a:pPr>
                      <a:r>
                        <a:rPr lang="en-US" sz="1600">
                          <a:effectLst/>
                        </a:rPr>
                        <a:t>Client Mobile App (Android)</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Mobile Device OS</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Android 8.0 (Oreo / API Level 26)</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Android 14 / 15 (Latest API)</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extLst>
                  <a:ext uri="{0D108BD9-81ED-4DB2-BD59-A6C34878D82A}">
                    <a16:rowId xmlns:a16="http://schemas.microsoft.com/office/drawing/2014/main" val="1339927126"/>
                  </a:ext>
                </a:extLst>
              </a:tr>
              <a:tr h="636212">
                <a:tc>
                  <a:txBody>
                    <a:bodyPr/>
                    <a:lstStyle/>
                    <a:p>
                      <a:pPr>
                        <a:lnSpc>
                          <a:spcPct val="115000"/>
                        </a:lnSpc>
                        <a:spcAft>
                          <a:spcPts val="1000"/>
                        </a:spcAft>
                        <a:buNone/>
                      </a:pPr>
                      <a:r>
                        <a:rPr lang="en-US" sz="1600">
                          <a:effectLst/>
                        </a:rPr>
                        <a:t>Client Mobile App (Android)</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Device Memory &amp; Storage</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2 GB RAM, 100 MB free storage</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6 GB+ RAM, 500 MB free storage</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extLst>
                  <a:ext uri="{0D108BD9-81ED-4DB2-BD59-A6C34878D82A}">
                    <a16:rowId xmlns:a16="http://schemas.microsoft.com/office/drawing/2014/main" val="467766329"/>
                  </a:ext>
                </a:extLst>
              </a:tr>
              <a:tr h="636212">
                <a:tc>
                  <a:txBody>
                    <a:bodyPr/>
                    <a:lstStyle/>
                    <a:p>
                      <a:pPr>
                        <a:lnSpc>
                          <a:spcPct val="115000"/>
                        </a:lnSpc>
                        <a:spcAft>
                          <a:spcPts val="1000"/>
                        </a:spcAft>
                        <a:buNone/>
                      </a:pPr>
                      <a:r>
                        <a:rPr lang="en-US" sz="1600">
                          <a:effectLst/>
                        </a:rPr>
                        <a:t>Client Mobile App (Android)</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Connectivity &amp; GPS</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dirty="0">
                          <a:effectLst/>
                        </a:rPr>
                        <a:t>3G Mobile Data, Basic GPS</a:t>
                      </a:r>
                      <a:endParaRPr lang="en-IN" sz="16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dirty="0">
                          <a:effectLst/>
                        </a:rPr>
                        <a:t>4G LTE / 5G Network, Precision Dual-GPS</a:t>
                      </a:r>
                      <a:endParaRPr lang="en-IN" sz="16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extLst>
                  <a:ext uri="{0D108BD9-81ED-4DB2-BD59-A6C34878D82A}">
                    <a16:rowId xmlns:a16="http://schemas.microsoft.com/office/drawing/2014/main" val="1101750700"/>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flipV="1">
            <a:off x="9556923" y="-600573"/>
            <a:ext cx="3933892" cy="3933892"/>
          </a:xfrm>
          <a:custGeom>
            <a:avLst/>
            <a:gdLst/>
            <a:ahLst/>
            <a:cxnLst/>
            <a:rect l="l" t="t" r="r" b="b"/>
            <a:pathLst>
              <a:path w="3933892" h="3933892">
                <a:moveTo>
                  <a:pt x="0" y="3933892"/>
                </a:moveTo>
                <a:lnTo>
                  <a:pt x="3933892" y="3933892"/>
                </a:lnTo>
                <a:lnTo>
                  <a:pt x="3933892" y="0"/>
                </a:lnTo>
                <a:lnTo>
                  <a:pt x="0" y="0"/>
                </a:lnTo>
                <a:lnTo>
                  <a:pt x="0" y="3933892"/>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2337175" y="5968771"/>
            <a:ext cx="8636457" cy="8636457"/>
          </a:xfrm>
          <a:custGeom>
            <a:avLst/>
            <a:gdLst/>
            <a:ahLst/>
            <a:cxnLst/>
            <a:rect l="l" t="t" r="r" b="b"/>
            <a:pathLst>
              <a:path w="8636457" h="8636457">
                <a:moveTo>
                  <a:pt x="0" y="0"/>
                </a:moveTo>
                <a:lnTo>
                  <a:pt x="8636457" y="0"/>
                </a:lnTo>
                <a:lnTo>
                  <a:pt x="8636457" y="8636458"/>
                </a:lnTo>
                <a:lnTo>
                  <a:pt x="0" y="8636458"/>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11126012" y="5458006"/>
            <a:ext cx="6870425" cy="3800294"/>
            <a:chOff x="0" y="0"/>
            <a:chExt cx="1469434" cy="812800"/>
          </a:xfrm>
        </p:grpSpPr>
        <p:sp>
          <p:nvSpPr>
            <p:cNvPr id="6" name="Freeform 6"/>
            <p:cNvSpPr/>
            <p:nvPr/>
          </p:nvSpPr>
          <p:spPr>
            <a:xfrm>
              <a:off x="0" y="0"/>
              <a:ext cx="1469434" cy="812800"/>
            </a:xfrm>
            <a:custGeom>
              <a:avLst/>
              <a:gdLst/>
              <a:ahLst/>
              <a:cxnLst/>
              <a:rect l="l" t="t" r="r" b="b"/>
              <a:pathLst>
                <a:path w="1469434" h="812800">
                  <a:moveTo>
                    <a:pt x="0" y="0"/>
                  </a:moveTo>
                  <a:lnTo>
                    <a:pt x="1469434" y="0"/>
                  </a:lnTo>
                  <a:lnTo>
                    <a:pt x="1469434" y="812800"/>
                  </a:lnTo>
                  <a:lnTo>
                    <a:pt x="0" y="812800"/>
                  </a:lnTo>
                  <a:close/>
                </a:path>
              </a:pathLst>
            </a:custGeom>
            <a:blipFill>
              <a:blip r:embed="rId4"/>
              <a:stretch>
                <a:fillRect t="-10224" b="-10224"/>
              </a:stretch>
            </a:blipFill>
          </p:spPr>
        </p:sp>
      </p:grpSp>
      <p:grpSp>
        <p:nvGrpSpPr>
          <p:cNvPr id="7" name="Group 7"/>
          <p:cNvGrpSpPr/>
          <p:nvPr/>
        </p:nvGrpSpPr>
        <p:grpSpPr>
          <a:xfrm>
            <a:off x="11126012" y="1499385"/>
            <a:ext cx="6870425" cy="3800294"/>
            <a:chOff x="0" y="0"/>
            <a:chExt cx="1469434" cy="812800"/>
          </a:xfrm>
        </p:grpSpPr>
        <p:sp>
          <p:nvSpPr>
            <p:cNvPr id="8" name="Freeform 8"/>
            <p:cNvSpPr/>
            <p:nvPr/>
          </p:nvSpPr>
          <p:spPr>
            <a:xfrm>
              <a:off x="0" y="0"/>
              <a:ext cx="1469434" cy="812800"/>
            </a:xfrm>
            <a:custGeom>
              <a:avLst/>
              <a:gdLst/>
              <a:ahLst/>
              <a:cxnLst/>
              <a:rect l="l" t="t" r="r" b="b"/>
              <a:pathLst>
                <a:path w="1469434" h="812800">
                  <a:moveTo>
                    <a:pt x="0" y="0"/>
                  </a:moveTo>
                  <a:lnTo>
                    <a:pt x="1469434" y="0"/>
                  </a:lnTo>
                  <a:lnTo>
                    <a:pt x="1469434" y="812800"/>
                  </a:lnTo>
                  <a:lnTo>
                    <a:pt x="0" y="812800"/>
                  </a:lnTo>
                  <a:close/>
                </a:path>
              </a:pathLst>
            </a:custGeom>
            <a:blipFill>
              <a:blip r:embed="rId5"/>
              <a:stretch>
                <a:fillRect t="-10224" b="-10224"/>
              </a:stretch>
            </a:blipFill>
          </p:spPr>
        </p:sp>
      </p:grpSp>
      <p:sp>
        <p:nvSpPr>
          <p:cNvPr id="9" name="TextBox 9"/>
          <p:cNvSpPr txBox="1"/>
          <p:nvPr/>
        </p:nvSpPr>
        <p:spPr>
          <a:xfrm>
            <a:off x="291563" y="596931"/>
            <a:ext cx="9105564" cy="1538883"/>
          </a:xfrm>
          <a:prstGeom prst="rect">
            <a:avLst/>
          </a:prstGeom>
        </p:spPr>
        <p:txBody>
          <a:bodyPr lIns="0" tIns="0" rIns="0" bIns="0" rtlCol="0" anchor="t">
            <a:spAutoFit/>
          </a:bodyPr>
          <a:lstStyle/>
          <a:p>
            <a:pPr>
              <a:spcBef>
                <a:spcPts val="200"/>
              </a:spcBef>
              <a:buClr>
                <a:srgbClr val="202020"/>
              </a:buClr>
              <a:buSzPts val="2400"/>
            </a:pPr>
            <a:r>
              <a:rPr lang="en-US" sz="5000" b="1" dirty="0">
                <a:solidFill>
                  <a:schemeClr val="tx1">
                    <a:lumMod val="95000"/>
                    <a:lumOff val="5000"/>
                  </a:schemeClr>
                </a:solidFill>
                <a:latin typeface="Times New Roman"/>
                <a:ea typeface="Times New Roman"/>
                <a:cs typeface="Times New Roman"/>
                <a:sym typeface="Times New Roman"/>
              </a:rPr>
              <a:t>Advantages and Limitations of the Proposed System</a:t>
            </a:r>
          </a:p>
        </p:txBody>
      </p:sp>
      <p:sp>
        <p:nvSpPr>
          <p:cNvPr id="14" name="TextBox 13">
            <a:extLst>
              <a:ext uri="{FF2B5EF4-FFF2-40B4-BE49-F238E27FC236}">
                <a16:creationId xmlns:a16="http://schemas.microsoft.com/office/drawing/2014/main" id="{4CE09E2C-F1F1-A8A7-7FDB-C4830A834206}"/>
              </a:ext>
            </a:extLst>
          </p:cNvPr>
          <p:cNvSpPr txBox="1"/>
          <p:nvPr/>
        </p:nvSpPr>
        <p:spPr>
          <a:xfrm>
            <a:off x="324220" y="2572087"/>
            <a:ext cx="10482942" cy="6760825"/>
          </a:xfrm>
          <a:prstGeom prst="rect">
            <a:avLst/>
          </a:prstGeom>
          <a:noFill/>
        </p:spPr>
        <p:txBody>
          <a:bodyPr wrap="square">
            <a:spAutoFit/>
          </a:bodyPr>
          <a:lstStyle/>
          <a:p>
            <a:pPr lvl="0">
              <a:lnSpc>
                <a:spcPct val="100000"/>
              </a:lnSpc>
              <a:spcAft>
                <a:spcPts val="400"/>
              </a:spcAft>
              <a:tabLst>
                <a:tab pos="228600" algn="l"/>
              </a:tabLst>
            </a:pPr>
            <a:r>
              <a:rPr lang="en-US" sz="2800" b="1" dirty="0">
                <a:solidFill>
                  <a:schemeClr val="tx1"/>
                </a:solidFill>
                <a:effectLst/>
                <a:latin typeface="+mn-lt"/>
                <a:ea typeface="MS Mincho" panose="02020609040205080304" pitchFamily="49" charset="-128"/>
                <a:cs typeface="Shruti" panose="020B0502040204020203" pitchFamily="34" charset="0"/>
              </a:rPr>
              <a:t>• Automated Workflow &amp; Error Reduction: </a:t>
            </a:r>
            <a:r>
              <a:rPr lang="en-US" sz="2800" dirty="0">
                <a:solidFill>
                  <a:schemeClr val="tx1"/>
                </a:solidFill>
                <a:effectLst/>
                <a:latin typeface="+mn-lt"/>
                <a:ea typeface="MS Mincho" panose="02020609040205080304" pitchFamily="49" charset="-128"/>
                <a:cs typeface="Shruti" panose="020B0502040204020203" pitchFamily="34" charset="0"/>
              </a:rPr>
              <a:t>Eliminates manual pen-and-paper order processing, preventing order misinterpretations, incorrect billing, and table booking overlaps.</a:t>
            </a:r>
            <a:endParaRPr lang="en-IN" sz="2800" dirty="0">
              <a:solidFill>
                <a:schemeClr val="tx1"/>
              </a:solidFill>
              <a:effectLst/>
              <a:latin typeface="+mn-lt"/>
              <a:ea typeface="MS Mincho" panose="02020609040205080304" pitchFamily="49" charset="-128"/>
              <a:cs typeface="Shruti" panose="020B0502040204020203" pitchFamily="34" charset="0"/>
            </a:endParaRPr>
          </a:p>
          <a:p>
            <a:pPr lvl="0">
              <a:lnSpc>
                <a:spcPct val="100000"/>
              </a:lnSpc>
              <a:spcAft>
                <a:spcPts val="400"/>
              </a:spcAft>
              <a:tabLst>
                <a:tab pos="228600" algn="l"/>
              </a:tabLst>
            </a:pPr>
            <a:r>
              <a:rPr lang="en-US" sz="2800" b="1" dirty="0">
                <a:solidFill>
                  <a:schemeClr val="tx1"/>
                </a:solidFill>
                <a:effectLst/>
                <a:latin typeface="+mn-lt"/>
                <a:ea typeface="MS Mincho" panose="02020609040205080304" pitchFamily="49" charset="-128"/>
                <a:cs typeface="Shruti" panose="020B0502040204020203" pitchFamily="34" charset="0"/>
              </a:rPr>
              <a:t>• Enhanced Customer Convenience: </a:t>
            </a:r>
            <a:r>
              <a:rPr lang="en-US" sz="2800" dirty="0">
                <a:solidFill>
                  <a:schemeClr val="tx1"/>
                </a:solidFill>
                <a:effectLst/>
                <a:latin typeface="+mn-lt"/>
                <a:ea typeface="MS Mincho" panose="02020609040205080304" pitchFamily="49" charset="-128"/>
                <a:cs typeface="Shruti" panose="020B0502040204020203" pitchFamily="34" charset="0"/>
              </a:rPr>
              <a:t>Allows customers to place delivery orders or reserve dining tables anywhere, anytime via mobile app or web portal without waiting in long queues.</a:t>
            </a:r>
            <a:endParaRPr lang="en-IN" sz="2800" dirty="0">
              <a:solidFill>
                <a:schemeClr val="tx1"/>
              </a:solidFill>
              <a:effectLst/>
              <a:latin typeface="+mn-lt"/>
              <a:ea typeface="MS Mincho" panose="02020609040205080304" pitchFamily="49" charset="-128"/>
              <a:cs typeface="Shruti" panose="020B0502040204020203" pitchFamily="34" charset="0"/>
            </a:endParaRPr>
          </a:p>
          <a:p>
            <a:pPr lvl="0">
              <a:lnSpc>
                <a:spcPct val="100000"/>
              </a:lnSpc>
              <a:spcAft>
                <a:spcPts val="400"/>
              </a:spcAft>
              <a:tabLst>
                <a:tab pos="228600" algn="l"/>
              </a:tabLst>
            </a:pPr>
            <a:r>
              <a:rPr lang="en-US" sz="2800" b="1" dirty="0">
                <a:solidFill>
                  <a:schemeClr val="tx1"/>
                </a:solidFill>
                <a:effectLst/>
                <a:latin typeface="+mn-lt"/>
                <a:ea typeface="MS Mincho" panose="02020609040205080304" pitchFamily="49" charset="-128"/>
                <a:cs typeface="Shruti" panose="020B0502040204020203" pitchFamily="34" charset="0"/>
              </a:rPr>
              <a:t>• Real-Time Order &amp; Location Visibility: </a:t>
            </a:r>
            <a:r>
              <a:rPr lang="en-US" sz="2800" dirty="0">
                <a:solidFill>
                  <a:schemeClr val="tx1"/>
                </a:solidFill>
                <a:effectLst/>
                <a:latin typeface="+mn-lt"/>
                <a:ea typeface="MS Mincho" panose="02020609040205080304" pitchFamily="49" charset="-128"/>
                <a:cs typeface="Shruti" panose="020B0502040204020203" pitchFamily="34" charset="0"/>
              </a:rPr>
              <a:t>Provides step-by-step transparency from order placement to kitchen preparation, delivery dispatch, and real-time destination arrival.</a:t>
            </a:r>
            <a:endParaRPr lang="en-IN" sz="2800" dirty="0">
              <a:solidFill>
                <a:schemeClr val="tx1"/>
              </a:solidFill>
              <a:effectLst/>
              <a:latin typeface="+mn-lt"/>
              <a:ea typeface="MS Mincho" panose="02020609040205080304" pitchFamily="49" charset="-128"/>
              <a:cs typeface="Shruti" panose="020B0502040204020203" pitchFamily="34" charset="0"/>
            </a:endParaRPr>
          </a:p>
          <a:p>
            <a:pPr lvl="0">
              <a:lnSpc>
                <a:spcPct val="100000"/>
              </a:lnSpc>
              <a:spcAft>
                <a:spcPts val="400"/>
              </a:spcAft>
              <a:tabLst>
                <a:tab pos="228600" algn="l"/>
              </a:tabLst>
            </a:pPr>
            <a:r>
              <a:rPr lang="en-US" sz="2800" b="1" dirty="0">
                <a:solidFill>
                  <a:schemeClr val="tx1"/>
                </a:solidFill>
                <a:effectLst/>
                <a:latin typeface="+mn-lt"/>
                <a:ea typeface="MS Mincho" panose="02020609040205080304" pitchFamily="49" charset="-128"/>
                <a:cs typeface="Shruti" panose="020B0502040204020203" pitchFamily="34" charset="0"/>
              </a:rPr>
              <a:t>• Integrated Payment Security: </a:t>
            </a:r>
            <a:r>
              <a:rPr lang="en-US" sz="2800" dirty="0">
                <a:solidFill>
                  <a:schemeClr val="tx1"/>
                </a:solidFill>
                <a:effectLst/>
                <a:latin typeface="+mn-lt"/>
                <a:ea typeface="MS Mincho" panose="02020609040205080304" pitchFamily="49" charset="-128"/>
                <a:cs typeface="Shruti" panose="020B0502040204020203" pitchFamily="34" charset="0"/>
              </a:rPr>
              <a:t>Eliminates cash dependency while guaranteeing PCI-DSS compliant online payment transactions powered by </a:t>
            </a:r>
            <a:r>
              <a:rPr lang="en-US" sz="2800" dirty="0" err="1">
                <a:solidFill>
                  <a:schemeClr val="tx1"/>
                </a:solidFill>
                <a:effectLst/>
                <a:latin typeface="+mn-lt"/>
                <a:ea typeface="MS Mincho" panose="02020609040205080304" pitchFamily="49" charset="-128"/>
                <a:cs typeface="Shruti" panose="020B0502040204020203" pitchFamily="34" charset="0"/>
              </a:rPr>
              <a:t>Razorpay</a:t>
            </a:r>
            <a:r>
              <a:rPr lang="en-US" sz="2800" dirty="0">
                <a:solidFill>
                  <a:schemeClr val="tx1"/>
                </a:solidFill>
                <a:effectLst/>
                <a:latin typeface="+mn-lt"/>
                <a:ea typeface="MS Mincho" panose="02020609040205080304" pitchFamily="49" charset="-128"/>
                <a:cs typeface="Shruti" panose="020B0502040204020203" pitchFamily="34" charset="0"/>
              </a:rPr>
              <a:t> signature verification.</a:t>
            </a:r>
            <a:endParaRPr lang="en-IN" sz="2800" dirty="0">
              <a:solidFill>
                <a:schemeClr val="tx1"/>
              </a:solidFill>
              <a:effectLst/>
              <a:latin typeface="+mn-lt"/>
              <a:ea typeface="MS Mincho" panose="02020609040205080304" pitchFamily="49" charset="-128"/>
              <a:cs typeface="Shruti" panose="020B0502040204020203" pitchFamily="34" charset="0"/>
            </a:endParaRPr>
          </a:p>
          <a:p>
            <a:pPr lvl="0">
              <a:lnSpc>
                <a:spcPct val="100000"/>
              </a:lnSpc>
              <a:spcAft>
                <a:spcPts val="400"/>
              </a:spcAft>
              <a:tabLst>
                <a:tab pos="228600" algn="l"/>
              </a:tabLst>
            </a:pPr>
            <a:r>
              <a:rPr lang="en-US" sz="2800" b="1" dirty="0">
                <a:solidFill>
                  <a:schemeClr val="tx1"/>
                </a:solidFill>
                <a:effectLst/>
                <a:latin typeface="+mn-lt"/>
                <a:ea typeface="MS Mincho" panose="02020609040205080304" pitchFamily="49" charset="-128"/>
                <a:cs typeface="Shruti" panose="020B0502040204020203" pitchFamily="34" charset="0"/>
              </a:rPr>
              <a:t>• Centralized Business Intelligence: </a:t>
            </a:r>
            <a:r>
              <a:rPr lang="en-US" sz="2800" dirty="0">
                <a:solidFill>
                  <a:schemeClr val="tx1"/>
                </a:solidFill>
                <a:effectLst/>
                <a:latin typeface="+mn-lt"/>
                <a:ea typeface="MS Mincho" panose="02020609040205080304" pitchFamily="49" charset="-128"/>
                <a:cs typeface="Shruti" panose="020B0502040204020203" pitchFamily="34" charset="0"/>
              </a:rPr>
              <a:t>Equips restaurant managers with real-time revenue analytics, popular menu trends, active delivery person availability, and feedback metrics.</a:t>
            </a:r>
            <a:endParaRPr lang="en-IN" sz="2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B61DF-103E-DBDF-AB07-DCCF21328691}"/>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F7073BD2-8F81-E6FA-513E-4798D85740EF}"/>
              </a:ext>
            </a:extLst>
          </p:cNvPr>
          <p:cNvSpPr/>
          <p:nvPr/>
        </p:nvSpPr>
        <p:spPr>
          <a:xfrm flipV="1">
            <a:off x="9556923" y="-600573"/>
            <a:ext cx="3933892" cy="3933892"/>
          </a:xfrm>
          <a:custGeom>
            <a:avLst/>
            <a:gdLst/>
            <a:ahLst/>
            <a:cxnLst/>
            <a:rect l="l" t="t" r="r" b="b"/>
            <a:pathLst>
              <a:path w="3933892" h="3933892">
                <a:moveTo>
                  <a:pt x="0" y="3933892"/>
                </a:moveTo>
                <a:lnTo>
                  <a:pt x="3933892" y="3933892"/>
                </a:lnTo>
                <a:lnTo>
                  <a:pt x="3933892" y="0"/>
                </a:lnTo>
                <a:lnTo>
                  <a:pt x="0" y="0"/>
                </a:lnTo>
                <a:lnTo>
                  <a:pt x="0" y="3933892"/>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28BF4E76-F79C-FB82-46D4-C5A567DD3697}"/>
              </a:ext>
            </a:extLst>
          </p:cNvPr>
          <p:cNvSpPr/>
          <p:nvPr/>
        </p:nvSpPr>
        <p:spPr>
          <a:xfrm>
            <a:off x="12337175" y="5968771"/>
            <a:ext cx="8636457" cy="8636457"/>
          </a:xfrm>
          <a:custGeom>
            <a:avLst/>
            <a:gdLst/>
            <a:ahLst/>
            <a:cxnLst/>
            <a:rect l="l" t="t" r="r" b="b"/>
            <a:pathLst>
              <a:path w="8636457" h="8636457">
                <a:moveTo>
                  <a:pt x="0" y="0"/>
                </a:moveTo>
                <a:lnTo>
                  <a:pt x="8636457" y="0"/>
                </a:lnTo>
                <a:lnTo>
                  <a:pt x="8636457" y="8636458"/>
                </a:lnTo>
                <a:lnTo>
                  <a:pt x="0" y="8636458"/>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5" name="Group 5">
            <a:extLst>
              <a:ext uri="{FF2B5EF4-FFF2-40B4-BE49-F238E27FC236}">
                <a16:creationId xmlns:a16="http://schemas.microsoft.com/office/drawing/2014/main" id="{FE4F9DA7-36BE-C666-8355-BE817EC6E1DA}"/>
              </a:ext>
            </a:extLst>
          </p:cNvPr>
          <p:cNvGrpSpPr/>
          <p:nvPr/>
        </p:nvGrpSpPr>
        <p:grpSpPr>
          <a:xfrm>
            <a:off x="11126012" y="5458006"/>
            <a:ext cx="6870425" cy="3800294"/>
            <a:chOff x="0" y="0"/>
            <a:chExt cx="1469434" cy="812800"/>
          </a:xfrm>
        </p:grpSpPr>
        <p:sp>
          <p:nvSpPr>
            <p:cNvPr id="6" name="Freeform 6">
              <a:extLst>
                <a:ext uri="{FF2B5EF4-FFF2-40B4-BE49-F238E27FC236}">
                  <a16:creationId xmlns:a16="http://schemas.microsoft.com/office/drawing/2014/main" id="{F11458E6-8F74-F731-2840-BE33FC65AD72}"/>
                </a:ext>
              </a:extLst>
            </p:cNvPr>
            <p:cNvSpPr/>
            <p:nvPr/>
          </p:nvSpPr>
          <p:spPr>
            <a:xfrm>
              <a:off x="0" y="0"/>
              <a:ext cx="1469434" cy="812800"/>
            </a:xfrm>
            <a:custGeom>
              <a:avLst/>
              <a:gdLst/>
              <a:ahLst/>
              <a:cxnLst/>
              <a:rect l="l" t="t" r="r" b="b"/>
              <a:pathLst>
                <a:path w="1469434" h="812800">
                  <a:moveTo>
                    <a:pt x="0" y="0"/>
                  </a:moveTo>
                  <a:lnTo>
                    <a:pt x="1469434" y="0"/>
                  </a:lnTo>
                  <a:lnTo>
                    <a:pt x="1469434" y="812800"/>
                  </a:lnTo>
                  <a:lnTo>
                    <a:pt x="0" y="812800"/>
                  </a:lnTo>
                  <a:close/>
                </a:path>
              </a:pathLst>
            </a:custGeom>
            <a:blipFill>
              <a:blip r:embed="rId4"/>
              <a:stretch>
                <a:fillRect t="-10224" b="-10224"/>
              </a:stretch>
            </a:blipFill>
          </p:spPr>
        </p:sp>
      </p:grpSp>
      <p:grpSp>
        <p:nvGrpSpPr>
          <p:cNvPr id="7" name="Group 7">
            <a:extLst>
              <a:ext uri="{FF2B5EF4-FFF2-40B4-BE49-F238E27FC236}">
                <a16:creationId xmlns:a16="http://schemas.microsoft.com/office/drawing/2014/main" id="{5F368EBC-B484-07CA-9819-D4BEA2555BF3}"/>
              </a:ext>
            </a:extLst>
          </p:cNvPr>
          <p:cNvGrpSpPr/>
          <p:nvPr/>
        </p:nvGrpSpPr>
        <p:grpSpPr>
          <a:xfrm>
            <a:off x="11126012" y="1499385"/>
            <a:ext cx="6870425" cy="3800294"/>
            <a:chOff x="0" y="0"/>
            <a:chExt cx="1469434" cy="812800"/>
          </a:xfrm>
        </p:grpSpPr>
        <p:sp>
          <p:nvSpPr>
            <p:cNvPr id="8" name="Freeform 8">
              <a:extLst>
                <a:ext uri="{FF2B5EF4-FFF2-40B4-BE49-F238E27FC236}">
                  <a16:creationId xmlns:a16="http://schemas.microsoft.com/office/drawing/2014/main" id="{BE6D70B4-C144-31A8-0454-92D0B52464B6}"/>
                </a:ext>
              </a:extLst>
            </p:cNvPr>
            <p:cNvSpPr/>
            <p:nvPr/>
          </p:nvSpPr>
          <p:spPr>
            <a:xfrm>
              <a:off x="0" y="0"/>
              <a:ext cx="1469434" cy="812800"/>
            </a:xfrm>
            <a:custGeom>
              <a:avLst/>
              <a:gdLst/>
              <a:ahLst/>
              <a:cxnLst/>
              <a:rect l="l" t="t" r="r" b="b"/>
              <a:pathLst>
                <a:path w="1469434" h="812800">
                  <a:moveTo>
                    <a:pt x="0" y="0"/>
                  </a:moveTo>
                  <a:lnTo>
                    <a:pt x="1469434" y="0"/>
                  </a:lnTo>
                  <a:lnTo>
                    <a:pt x="1469434" y="812800"/>
                  </a:lnTo>
                  <a:lnTo>
                    <a:pt x="0" y="812800"/>
                  </a:lnTo>
                  <a:close/>
                </a:path>
              </a:pathLst>
            </a:custGeom>
            <a:blipFill>
              <a:blip r:embed="rId5"/>
              <a:stretch>
                <a:fillRect t="-10224" b="-10224"/>
              </a:stretch>
            </a:blipFill>
          </p:spPr>
        </p:sp>
      </p:grpSp>
      <p:sp>
        <p:nvSpPr>
          <p:cNvPr id="9" name="TextBox 9">
            <a:extLst>
              <a:ext uri="{FF2B5EF4-FFF2-40B4-BE49-F238E27FC236}">
                <a16:creationId xmlns:a16="http://schemas.microsoft.com/office/drawing/2014/main" id="{ADDDC169-0015-A864-E12E-7FC3EABEA3B6}"/>
              </a:ext>
            </a:extLst>
          </p:cNvPr>
          <p:cNvSpPr txBox="1"/>
          <p:nvPr/>
        </p:nvSpPr>
        <p:spPr>
          <a:xfrm>
            <a:off x="387790" y="1114664"/>
            <a:ext cx="9105564" cy="769441"/>
          </a:xfrm>
          <a:prstGeom prst="rect">
            <a:avLst/>
          </a:prstGeom>
        </p:spPr>
        <p:txBody>
          <a:bodyPr lIns="0" tIns="0" rIns="0" bIns="0" rtlCol="0" anchor="t">
            <a:spAutoFit/>
          </a:bodyPr>
          <a:lstStyle/>
          <a:p>
            <a:pPr>
              <a:spcBef>
                <a:spcPts val="200"/>
              </a:spcBef>
              <a:buClr>
                <a:srgbClr val="202020"/>
              </a:buClr>
              <a:buSzPts val="2400"/>
            </a:pPr>
            <a:r>
              <a:rPr lang="en-US" sz="5000" b="1" dirty="0">
                <a:solidFill>
                  <a:schemeClr val="tx1">
                    <a:lumMod val="95000"/>
                    <a:lumOff val="5000"/>
                  </a:schemeClr>
                </a:solidFill>
                <a:latin typeface="Times New Roman"/>
                <a:ea typeface="Times New Roman"/>
                <a:cs typeface="Times New Roman"/>
                <a:sym typeface="Times New Roman"/>
              </a:rPr>
              <a:t>Limitations</a:t>
            </a:r>
          </a:p>
        </p:txBody>
      </p:sp>
      <p:sp>
        <p:nvSpPr>
          <p:cNvPr id="14" name="TextBox 13">
            <a:extLst>
              <a:ext uri="{FF2B5EF4-FFF2-40B4-BE49-F238E27FC236}">
                <a16:creationId xmlns:a16="http://schemas.microsoft.com/office/drawing/2014/main" id="{01667FBC-3A33-DC9D-FDD6-6B7E34C80C24}"/>
              </a:ext>
            </a:extLst>
          </p:cNvPr>
          <p:cNvSpPr txBox="1"/>
          <p:nvPr/>
        </p:nvSpPr>
        <p:spPr>
          <a:xfrm>
            <a:off x="324220" y="2572087"/>
            <a:ext cx="10482942" cy="4524315"/>
          </a:xfrm>
          <a:prstGeom prst="rect">
            <a:avLst/>
          </a:prstGeom>
          <a:noFill/>
        </p:spPr>
        <p:txBody>
          <a:bodyPr wrap="square">
            <a:spAutoFit/>
          </a:bodyPr>
          <a:lstStyle/>
          <a:p>
            <a:pPr lvl="0"/>
            <a:r>
              <a:rPr lang="en-US" sz="3200" b="1" dirty="0"/>
              <a:t>• Internet Connectivity Reliance: </a:t>
            </a:r>
            <a:r>
              <a:rPr lang="en-US" sz="3200" dirty="0"/>
              <a:t>Both web backend and mobile app interfaces require active internet connectivity; offline operation is limited to local cache viewing.</a:t>
            </a:r>
            <a:endParaRPr lang="en-IN" sz="3200" dirty="0"/>
          </a:p>
          <a:p>
            <a:pPr lvl="0"/>
            <a:r>
              <a:rPr lang="en-US" sz="3200" b="1" dirty="0"/>
              <a:t>• Device Hardware Dependency: </a:t>
            </a:r>
            <a:r>
              <a:rPr lang="en-US" sz="3200" dirty="0"/>
              <a:t>Delivery personnel and mobile app users require GPS-enabled Android smartphones with functional camera sensors for scanning/navigation.</a:t>
            </a:r>
            <a:endParaRPr lang="en-IN" sz="3200" dirty="0"/>
          </a:p>
          <a:p>
            <a:pPr lvl="0"/>
            <a:r>
              <a:rPr lang="en-US" sz="3200" b="1" dirty="0"/>
              <a:t>• Initial Deployment &amp; Training Effort: </a:t>
            </a:r>
            <a:r>
              <a:rPr lang="en-US" sz="3200" dirty="0"/>
              <a:t>Requires initial configuration of server infrastructure, database migrations, and staff onboarding for kitchen and delivery workflows.</a:t>
            </a:r>
            <a:endParaRPr lang="en-IN" sz="3200" dirty="0"/>
          </a:p>
        </p:txBody>
      </p:sp>
    </p:spTree>
    <p:extLst>
      <p:ext uri="{BB962C8B-B14F-4D97-AF65-F5344CB8AC3E}">
        <p14:creationId xmlns:p14="http://schemas.microsoft.com/office/powerpoint/2010/main" val="775015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99128-3769-38D6-F76A-C5C502B52D9C}"/>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2E3B00E8-66EA-981A-BA4E-D59CD63C8CB6}"/>
              </a:ext>
            </a:extLst>
          </p:cNvPr>
          <p:cNvSpPr/>
          <p:nvPr/>
        </p:nvSpPr>
        <p:spPr>
          <a:xfrm flipV="1">
            <a:off x="9556923" y="-600573"/>
            <a:ext cx="3933892" cy="3933892"/>
          </a:xfrm>
          <a:custGeom>
            <a:avLst/>
            <a:gdLst/>
            <a:ahLst/>
            <a:cxnLst/>
            <a:rect l="l" t="t" r="r" b="b"/>
            <a:pathLst>
              <a:path w="3933892" h="3933892">
                <a:moveTo>
                  <a:pt x="0" y="3933892"/>
                </a:moveTo>
                <a:lnTo>
                  <a:pt x="3933892" y="3933892"/>
                </a:lnTo>
                <a:lnTo>
                  <a:pt x="3933892" y="0"/>
                </a:lnTo>
                <a:lnTo>
                  <a:pt x="0" y="0"/>
                </a:lnTo>
                <a:lnTo>
                  <a:pt x="0" y="3933892"/>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294124AE-F7D0-2C3D-13CA-73D52119E436}"/>
              </a:ext>
            </a:extLst>
          </p:cNvPr>
          <p:cNvSpPr/>
          <p:nvPr/>
        </p:nvSpPr>
        <p:spPr>
          <a:xfrm>
            <a:off x="12337175" y="5968771"/>
            <a:ext cx="8636457" cy="8636457"/>
          </a:xfrm>
          <a:custGeom>
            <a:avLst/>
            <a:gdLst/>
            <a:ahLst/>
            <a:cxnLst/>
            <a:rect l="l" t="t" r="r" b="b"/>
            <a:pathLst>
              <a:path w="8636457" h="8636457">
                <a:moveTo>
                  <a:pt x="0" y="0"/>
                </a:moveTo>
                <a:lnTo>
                  <a:pt x="8636457" y="0"/>
                </a:lnTo>
                <a:lnTo>
                  <a:pt x="8636457" y="8636458"/>
                </a:lnTo>
                <a:lnTo>
                  <a:pt x="0" y="8636458"/>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5" name="Group 5">
            <a:extLst>
              <a:ext uri="{FF2B5EF4-FFF2-40B4-BE49-F238E27FC236}">
                <a16:creationId xmlns:a16="http://schemas.microsoft.com/office/drawing/2014/main" id="{52229EE3-0277-CDBD-FEB7-056CDB34BD3A}"/>
              </a:ext>
            </a:extLst>
          </p:cNvPr>
          <p:cNvGrpSpPr/>
          <p:nvPr/>
        </p:nvGrpSpPr>
        <p:grpSpPr>
          <a:xfrm>
            <a:off x="11126012" y="5458006"/>
            <a:ext cx="6870425" cy="3800294"/>
            <a:chOff x="0" y="0"/>
            <a:chExt cx="1469434" cy="812800"/>
          </a:xfrm>
        </p:grpSpPr>
        <p:sp>
          <p:nvSpPr>
            <p:cNvPr id="6" name="Freeform 6">
              <a:extLst>
                <a:ext uri="{FF2B5EF4-FFF2-40B4-BE49-F238E27FC236}">
                  <a16:creationId xmlns:a16="http://schemas.microsoft.com/office/drawing/2014/main" id="{D3C2174E-1CD2-C8B3-F6D0-29D1DF96C155}"/>
                </a:ext>
              </a:extLst>
            </p:cNvPr>
            <p:cNvSpPr/>
            <p:nvPr/>
          </p:nvSpPr>
          <p:spPr>
            <a:xfrm>
              <a:off x="0" y="0"/>
              <a:ext cx="1469434" cy="812800"/>
            </a:xfrm>
            <a:custGeom>
              <a:avLst/>
              <a:gdLst/>
              <a:ahLst/>
              <a:cxnLst/>
              <a:rect l="l" t="t" r="r" b="b"/>
              <a:pathLst>
                <a:path w="1469434" h="812800">
                  <a:moveTo>
                    <a:pt x="0" y="0"/>
                  </a:moveTo>
                  <a:lnTo>
                    <a:pt x="1469434" y="0"/>
                  </a:lnTo>
                  <a:lnTo>
                    <a:pt x="1469434" y="812800"/>
                  </a:lnTo>
                  <a:lnTo>
                    <a:pt x="0" y="812800"/>
                  </a:lnTo>
                  <a:close/>
                </a:path>
              </a:pathLst>
            </a:custGeom>
            <a:blipFill>
              <a:blip r:embed="rId4"/>
              <a:stretch>
                <a:fillRect t="-10224" b="-10224"/>
              </a:stretch>
            </a:blipFill>
          </p:spPr>
        </p:sp>
      </p:grpSp>
      <p:grpSp>
        <p:nvGrpSpPr>
          <p:cNvPr id="7" name="Group 7">
            <a:extLst>
              <a:ext uri="{FF2B5EF4-FFF2-40B4-BE49-F238E27FC236}">
                <a16:creationId xmlns:a16="http://schemas.microsoft.com/office/drawing/2014/main" id="{B424B113-C8D6-26EE-99D4-D1DFEDED0C32}"/>
              </a:ext>
            </a:extLst>
          </p:cNvPr>
          <p:cNvGrpSpPr/>
          <p:nvPr/>
        </p:nvGrpSpPr>
        <p:grpSpPr>
          <a:xfrm>
            <a:off x="11126012" y="1499385"/>
            <a:ext cx="6870425" cy="3800294"/>
            <a:chOff x="0" y="0"/>
            <a:chExt cx="1469434" cy="812800"/>
          </a:xfrm>
        </p:grpSpPr>
        <p:sp>
          <p:nvSpPr>
            <p:cNvPr id="8" name="Freeform 8">
              <a:extLst>
                <a:ext uri="{FF2B5EF4-FFF2-40B4-BE49-F238E27FC236}">
                  <a16:creationId xmlns:a16="http://schemas.microsoft.com/office/drawing/2014/main" id="{D990C96A-3734-F226-B3E7-7B44B9481C1E}"/>
                </a:ext>
              </a:extLst>
            </p:cNvPr>
            <p:cNvSpPr/>
            <p:nvPr/>
          </p:nvSpPr>
          <p:spPr>
            <a:xfrm>
              <a:off x="0" y="0"/>
              <a:ext cx="1469434" cy="812800"/>
            </a:xfrm>
            <a:custGeom>
              <a:avLst/>
              <a:gdLst/>
              <a:ahLst/>
              <a:cxnLst/>
              <a:rect l="l" t="t" r="r" b="b"/>
              <a:pathLst>
                <a:path w="1469434" h="812800">
                  <a:moveTo>
                    <a:pt x="0" y="0"/>
                  </a:moveTo>
                  <a:lnTo>
                    <a:pt x="1469434" y="0"/>
                  </a:lnTo>
                  <a:lnTo>
                    <a:pt x="1469434" y="812800"/>
                  </a:lnTo>
                  <a:lnTo>
                    <a:pt x="0" y="812800"/>
                  </a:lnTo>
                  <a:close/>
                </a:path>
              </a:pathLst>
            </a:custGeom>
            <a:blipFill>
              <a:blip r:embed="rId5"/>
              <a:stretch>
                <a:fillRect t="-10224" b="-10224"/>
              </a:stretch>
            </a:blipFill>
          </p:spPr>
        </p:sp>
      </p:grpSp>
      <p:sp>
        <p:nvSpPr>
          <p:cNvPr id="9" name="TextBox 9">
            <a:extLst>
              <a:ext uri="{FF2B5EF4-FFF2-40B4-BE49-F238E27FC236}">
                <a16:creationId xmlns:a16="http://schemas.microsoft.com/office/drawing/2014/main" id="{6EAD839F-6DA6-8F68-9391-F4C5780B9029}"/>
              </a:ext>
            </a:extLst>
          </p:cNvPr>
          <p:cNvSpPr txBox="1"/>
          <p:nvPr/>
        </p:nvSpPr>
        <p:spPr>
          <a:xfrm>
            <a:off x="371461" y="576262"/>
            <a:ext cx="9105564" cy="830997"/>
          </a:xfrm>
          <a:prstGeom prst="rect">
            <a:avLst/>
          </a:prstGeom>
        </p:spPr>
        <p:txBody>
          <a:bodyPr lIns="0" tIns="0" rIns="0" bIns="0" rtlCol="0" anchor="t">
            <a:spAutoFit/>
          </a:bodyPr>
          <a:lstStyle/>
          <a:p>
            <a:pPr>
              <a:spcBef>
                <a:spcPts val="200"/>
              </a:spcBef>
              <a:buClr>
                <a:srgbClr val="202020"/>
              </a:buClr>
              <a:buSzPts val="2400"/>
            </a:pPr>
            <a:r>
              <a:rPr lang="en-US" sz="5400" b="1" dirty="0">
                <a:solidFill>
                  <a:schemeClr val="tx1">
                    <a:lumMod val="95000"/>
                    <a:lumOff val="5000"/>
                  </a:schemeClr>
                </a:solidFill>
                <a:latin typeface="Times New Roman"/>
                <a:ea typeface="Times New Roman"/>
                <a:cs typeface="Times New Roman"/>
                <a:sym typeface="Times New Roman"/>
              </a:rPr>
              <a:t>Requirement Determination</a:t>
            </a:r>
          </a:p>
        </p:txBody>
      </p:sp>
      <p:sp>
        <p:nvSpPr>
          <p:cNvPr id="14" name="TextBox 13">
            <a:extLst>
              <a:ext uri="{FF2B5EF4-FFF2-40B4-BE49-F238E27FC236}">
                <a16:creationId xmlns:a16="http://schemas.microsoft.com/office/drawing/2014/main" id="{EDA4DD8E-FCEF-A39C-8A79-205089564071}"/>
              </a:ext>
            </a:extLst>
          </p:cNvPr>
          <p:cNvSpPr txBox="1"/>
          <p:nvPr/>
        </p:nvSpPr>
        <p:spPr>
          <a:xfrm>
            <a:off x="344247" y="1668028"/>
            <a:ext cx="10482942" cy="8586966"/>
          </a:xfrm>
          <a:prstGeom prst="rect">
            <a:avLst/>
          </a:prstGeom>
          <a:noFill/>
        </p:spPr>
        <p:txBody>
          <a:bodyPr wrap="square">
            <a:spAutoFit/>
          </a:bodyPr>
          <a:lstStyle/>
          <a:p>
            <a:pPr marL="342900" lvl="0" indent="-342900">
              <a:buFont typeface="Arial" panose="020B0604020202020204" pitchFamily="34" charset="0"/>
              <a:buChar char="•"/>
            </a:pPr>
            <a:r>
              <a:rPr lang="en-US" sz="2400" b="1" dirty="0"/>
              <a:t>User Authentication &amp; Authorization: </a:t>
            </a:r>
            <a:r>
              <a:rPr lang="en-US" sz="2400" dirty="0"/>
              <a:t>The system shall allow users to register, log in, and manage profiles with role-based permissions (Customer, Admin, Delivery Person).</a:t>
            </a:r>
            <a:endParaRPr lang="en-IN" sz="2400" dirty="0"/>
          </a:p>
          <a:p>
            <a:pPr marL="342900" lvl="0" indent="-342900">
              <a:buFont typeface="Arial" panose="020B0604020202020204" pitchFamily="34" charset="0"/>
              <a:buChar char="•"/>
            </a:pPr>
            <a:r>
              <a:rPr lang="en-US" sz="2400" b="1" dirty="0"/>
              <a:t>Category &amp; Menu Management: </a:t>
            </a:r>
            <a:r>
              <a:rPr lang="en-US" sz="2400" dirty="0"/>
              <a:t>Administrators shall be able to create, update, activate/deactivate menu categories and individual menu items with pricing, imagery, vegetarian flags, and availability status.</a:t>
            </a:r>
            <a:endParaRPr lang="en-IN" sz="2400" dirty="0"/>
          </a:p>
          <a:p>
            <a:pPr marL="342900" lvl="0" indent="-342900">
              <a:buFont typeface="Arial" panose="020B0604020202020204" pitchFamily="34" charset="0"/>
              <a:buChar char="•"/>
            </a:pPr>
            <a:r>
              <a:rPr lang="en-US" sz="2400" b="1" dirty="0"/>
              <a:t>Cart &amp; Checkout Processing: </a:t>
            </a:r>
            <a:r>
              <a:rPr lang="en-US" sz="2400" dirty="0"/>
              <a:t>Customers shall be able to add menu items to a persistent shopping cart, modify item quantities, enter delivery addresses, and calculate taxes and delivery fees dynamically.</a:t>
            </a:r>
            <a:endParaRPr lang="en-IN" sz="2400" dirty="0"/>
          </a:p>
          <a:p>
            <a:pPr marL="342900" lvl="0" indent="-342900">
              <a:buFont typeface="Arial" panose="020B0604020202020204" pitchFamily="34" charset="0"/>
              <a:buChar char="•"/>
            </a:pPr>
            <a:r>
              <a:rPr lang="en-US" sz="2400" b="1" dirty="0"/>
              <a:t>Table Reservation Management: </a:t>
            </a:r>
            <a:r>
              <a:rPr lang="en-US" sz="2400" dirty="0"/>
              <a:t>Customers shall be able to book dining tables by selecting date, time slot, and guest count. The system shall validate table capacity and prevent conflicting reservations.</a:t>
            </a:r>
            <a:endParaRPr lang="en-IN" sz="2400" dirty="0"/>
          </a:p>
          <a:p>
            <a:pPr marL="342900" lvl="0" indent="-342900">
              <a:buFont typeface="Arial" panose="020B0604020202020204" pitchFamily="34" charset="0"/>
              <a:buChar char="•"/>
            </a:pPr>
            <a:r>
              <a:rPr lang="en-US" sz="2400" b="1" dirty="0"/>
              <a:t>Order Processing &amp; Tracking: </a:t>
            </a:r>
            <a:r>
              <a:rPr lang="en-US" sz="2400" dirty="0"/>
              <a:t>The system shall process orders through distinct operational statuses ('Pending', 'Preparing', 'Out for Delivery', 'Delivered', 'Cancelled') and reflect changes across customer and admin dashboards.</a:t>
            </a:r>
            <a:endParaRPr lang="en-IN" sz="2400" dirty="0"/>
          </a:p>
          <a:p>
            <a:pPr marL="342900" lvl="0" indent="-342900">
              <a:buFont typeface="Arial" panose="020B0604020202020204" pitchFamily="34" charset="0"/>
              <a:buChar char="•"/>
            </a:pPr>
            <a:r>
              <a:rPr lang="en-US" sz="2400" b="1" dirty="0"/>
              <a:t>Delivery Partner Assignment &amp; Distance Computation: </a:t>
            </a:r>
            <a:r>
              <a:rPr lang="en-US" sz="2400" dirty="0"/>
              <a:t>Administrators shall assign available delivery personnel to pending orders. The system shall calculate geographical distance to compute delivery fees and estimated transit times.</a:t>
            </a:r>
            <a:endParaRPr lang="en-IN" sz="2400" dirty="0"/>
          </a:p>
          <a:p>
            <a:pPr marL="342900" lvl="0" indent="-342900">
              <a:buFont typeface="Arial" panose="020B0604020202020204" pitchFamily="34" charset="0"/>
              <a:buChar char="•"/>
            </a:pPr>
            <a:r>
              <a:rPr lang="en-US" sz="2400" b="1" dirty="0"/>
              <a:t>Payment Processing: </a:t>
            </a:r>
            <a:r>
              <a:rPr lang="en-US" sz="2400" dirty="0"/>
              <a:t>The system shall support Cash on Delivery (COD) and online payments via </a:t>
            </a:r>
            <a:r>
              <a:rPr lang="en-US" sz="2400" dirty="0" err="1"/>
              <a:t>Razorpay</a:t>
            </a:r>
            <a:r>
              <a:rPr lang="en-US" sz="2400" dirty="0"/>
              <a:t> API, verifying transaction IDs cryptographically before order completion.</a:t>
            </a:r>
            <a:endParaRPr lang="en-IN" sz="2400" dirty="0"/>
          </a:p>
          <a:p>
            <a:pPr marL="342900" lvl="0" indent="-342900">
              <a:buFont typeface="Arial" panose="020B0604020202020204" pitchFamily="34" charset="0"/>
              <a:buChar char="•"/>
            </a:pPr>
            <a:r>
              <a:rPr lang="en-US" sz="2400" b="1" dirty="0"/>
              <a:t>Feedback &amp; Rating Mechanism: </a:t>
            </a:r>
            <a:r>
              <a:rPr lang="en-US" sz="2400" dirty="0"/>
              <a:t>Customers shall be able to submit star ratings (1 to 5) and textual reviews for completed orders and dining experiences.</a:t>
            </a:r>
            <a:endParaRPr lang="en-IN" sz="2400" dirty="0"/>
          </a:p>
        </p:txBody>
      </p:sp>
    </p:spTree>
    <p:extLst>
      <p:ext uri="{BB962C8B-B14F-4D97-AF65-F5344CB8AC3E}">
        <p14:creationId xmlns:p14="http://schemas.microsoft.com/office/powerpoint/2010/main" val="872115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flipH="1" flipV="1">
            <a:off x="4448464" y="-451673"/>
            <a:ext cx="4311439" cy="4311439"/>
          </a:xfrm>
          <a:custGeom>
            <a:avLst/>
            <a:gdLst/>
            <a:ahLst/>
            <a:cxnLst/>
            <a:rect l="l" t="t" r="r" b="b"/>
            <a:pathLst>
              <a:path w="4311439" h="4311439">
                <a:moveTo>
                  <a:pt x="4311440" y="4311439"/>
                </a:moveTo>
                <a:lnTo>
                  <a:pt x="0" y="4311439"/>
                </a:lnTo>
                <a:lnTo>
                  <a:pt x="0" y="0"/>
                </a:lnTo>
                <a:lnTo>
                  <a:pt x="4311440" y="0"/>
                </a:lnTo>
                <a:lnTo>
                  <a:pt x="4311440" y="4311439"/>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3780604" y="3806994"/>
            <a:ext cx="8636457" cy="8636457"/>
          </a:xfrm>
          <a:custGeom>
            <a:avLst/>
            <a:gdLst/>
            <a:ahLst/>
            <a:cxnLst/>
            <a:rect l="l" t="t" r="r" b="b"/>
            <a:pathLst>
              <a:path w="8636457" h="8636457">
                <a:moveTo>
                  <a:pt x="0" y="0"/>
                </a:moveTo>
                <a:lnTo>
                  <a:pt x="8636457" y="0"/>
                </a:lnTo>
                <a:lnTo>
                  <a:pt x="8636457" y="8636457"/>
                </a:lnTo>
                <a:lnTo>
                  <a:pt x="0" y="8636457"/>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16850290" y="-933714"/>
            <a:ext cx="2211640" cy="12154429"/>
            <a:chOff x="0" y="0"/>
            <a:chExt cx="582490" cy="3201166"/>
          </a:xfrm>
        </p:grpSpPr>
        <p:sp>
          <p:nvSpPr>
            <p:cNvPr id="6" name="Freeform 6"/>
            <p:cNvSpPr/>
            <p:nvPr/>
          </p:nvSpPr>
          <p:spPr>
            <a:xfrm>
              <a:off x="0" y="0"/>
              <a:ext cx="582489" cy="3201166"/>
            </a:xfrm>
            <a:custGeom>
              <a:avLst/>
              <a:gdLst/>
              <a:ahLst/>
              <a:cxnLst/>
              <a:rect l="l" t="t" r="r" b="b"/>
              <a:pathLst>
                <a:path w="582489" h="3201166">
                  <a:moveTo>
                    <a:pt x="0" y="0"/>
                  </a:moveTo>
                  <a:lnTo>
                    <a:pt x="582489" y="0"/>
                  </a:lnTo>
                  <a:lnTo>
                    <a:pt x="582489" y="3201166"/>
                  </a:lnTo>
                  <a:lnTo>
                    <a:pt x="0" y="3201166"/>
                  </a:lnTo>
                  <a:close/>
                </a:path>
              </a:pathLst>
            </a:custGeom>
            <a:solidFill>
              <a:srgbClr val="B84900"/>
            </a:solidFill>
          </p:spPr>
        </p:sp>
        <p:sp>
          <p:nvSpPr>
            <p:cNvPr id="7" name="TextBox 7"/>
            <p:cNvSpPr txBox="1"/>
            <p:nvPr/>
          </p:nvSpPr>
          <p:spPr>
            <a:xfrm>
              <a:off x="0" y="-38100"/>
              <a:ext cx="582490" cy="3239266"/>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415945" y="1704047"/>
            <a:ext cx="4912535" cy="7554253"/>
            <a:chOff x="0" y="0"/>
            <a:chExt cx="761080" cy="1170352"/>
          </a:xfrm>
        </p:grpSpPr>
        <p:sp>
          <p:nvSpPr>
            <p:cNvPr id="9" name="Freeform 9"/>
            <p:cNvSpPr/>
            <p:nvPr/>
          </p:nvSpPr>
          <p:spPr>
            <a:xfrm>
              <a:off x="0" y="0"/>
              <a:ext cx="761080" cy="1170352"/>
            </a:xfrm>
            <a:custGeom>
              <a:avLst/>
              <a:gdLst/>
              <a:ahLst/>
              <a:cxnLst/>
              <a:rect l="l" t="t" r="r" b="b"/>
              <a:pathLst>
                <a:path w="761080" h="1170352">
                  <a:moveTo>
                    <a:pt x="0" y="0"/>
                  </a:moveTo>
                  <a:lnTo>
                    <a:pt x="761080" y="0"/>
                  </a:lnTo>
                  <a:lnTo>
                    <a:pt x="761080" y="1170352"/>
                  </a:lnTo>
                  <a:lnTo>
                    <a:pt x="0" y="1170352"/>
                  </a:lnTo>
                  <a:close/>
                </a:path>
              </a:pathLst>
            </a:custGeom>
            <a:blipFill>
              <a:blip r:embed="rId4"/>
              <a:stretch>
                <a:fillRect t="-7804" b="-7804"/>
              </a:stretch>
            </a:blipFill>
          </p:spPr>
        </p:sp>
      </p:grpSp>
      <p:sp>
        <p:nvSpPr>
          <p:cNvPr id="10" name="TextBox 10"/>
          <p:cNvSpPr txBox="1"/>
          <p:nvPr/>
        </p:nvSpPr>
        <p:spPr>
          <a:xfrm>
            <a:off x="9528099" y="190500"/>
            <a:ext cx="5550188" cy="1379224"/>
          </a:xfrm>
          <a:prstGeom prst="rect">
            <a:avLst/>
          </a:prstGeom>
        </p:spPr>
        <p:txBody>
          <a:bodyPr lIns="0" tIns="0" rIns="0" bIns="0" rtlCol="0" anchor="t">
            <a:spAutoFit/>
          </a:bodyPr>
          <a:lstStyle/>
          <a:p>
            <a:pPr algn="l">
              <a:lnSpc>
                <a:spcPts val="12880"/>
              </a:lnSpc>
            </a:pPr>
            <a:r>
              <a:rPr lang="en-US" sz="3600" dirty="0">
                <a:solidFill>
                  <a:srgbClr val="231816"/>
                </a:solidFill>
                <a:latin typeface="Bugaki"/>
                <a:ea typeface="Bugaki"/>
                <a:cs typeface="Bugaki"/>
                <a:sym typeface="Bugaki"/>
              </a:rPr>
              <a:t>Use Case Diagram</a:t>
            </a:r>
          </a:p>
        </p:txBody>
      </p:sp>
      <p:pic>
        <p:nvPicPr>
          <p:cNvPr id="87" name="Picture 86">
            <a:extLst>
              <a:ext uri="{FF2B5EF4-FFF2-40B4-BE49-F238E27FC236}">
                <a16:creationId xmlns:a16="http://schemas.microsoft.com/office/drawing/2014/main" id="{B38743CE-3B8D-60C9-EC45-114BE73DAF5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96933" y="1384667"/>
            <a:ext cx="9119612" cy="871727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D276F-08B4-0B61-3778-1447E2080C52}"/>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F080DF61-66B0-785B-3766-93F9589D0B62}"/>
              </a:ext>
            </a:extLst>
          </p:cNvPr>
          <p:cNvSpPr/>
          <p:nvPr/>
        </p:nvSpPr>
        <p:spPr>
          <a:xfrm flipH="1" flipV="1">
            <a:off x="4448464" y="-451673"/>
            <a:ext cx="4311439" cy="4311439"/>
          </a:xfrm>
          <a:custGeom>
            <a:avLst/>
            <a:gdLst/>
            <a:ahLst/>
            <a:cxnLst/>
            <a:rect l="l" t="t" r="r" b="b"/>
            <a:pathLst>
              <a:path w="4311439" h="4311439">
                <a:moveTo>
                  <a:pt x="4311440" y="4311439"/>
                </a:moveTo>
                <a:lnTo>
                  <a:pt x="0" y="4311439"/>
                </a:lnTo>
                <a:lnTo>
                  <a:pt x="0" y="0"/>
                </a:lnTo>
                <a:lnTo>
                  <a:pt x="4311440" y="0"/>
                </a:lnTo>
                <a:lnTo>
                  <a:pt x="4311440" y="4311439"/>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3075D8B7-3F45-4677-DD66-C0E57CC3FFE3}"/>
              </a:ext>
            </a:extLst>
          </p:cNvPr>
          <p:cNvSpPr/>
          <p:nvPr/>
        </p:nvSpPr>
        <p:spPr>
          <a:xfrm>
            <a:off x="-3780604" y="3806994"/>
            <a:ext cx="8636457" cy="8636457"/>
          </a:xfrm>
          <a:custGeom>
            <a:avLst/>
            <a:gdLst/>
            <a:ahLst/>
            <a:cxnLst/>
            <a:rect l="l" t="t" r="r" b="b"/>
            <a:pathLst>
              <a:path w="8636457" h="8636457">
                <a:moveTo>
                  <a:pt x="0" y="0"/>
                </a:moveTo>
                <a:lnTo>
                  <a:pt x="8636457" y="0"/>
                </a:lnTo>
                <a:lnTo>
                  <a:pt x="8636457" y="8636457"/>
                </a:lnTo>
                <a:lnTo>
                  <a:pt x="0" y="8636457"/>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5" name="Group 5">
            <a:extLst>
              <a:ext uri="{FF2B5EF4-FFF2-40B4-BE49-F238E27FC236}">
                <a16:creationId xmlns:a16="http://schemas.microsoft.com/office/drawing/2014/main" id="{14E357C5-DF12-6033-F813-16EA41CAEE5A}"/>
              </a:ext>
            </a:extLst>
          </p:cNvPr>
          <p:cNvGrpSpPr/>
          <p:nvPr/>
        </p:nvGrpSpPr>
        <p:grpSpPr>
          <a:xfrm>
            <a:off x="16850290" y="-933714"/>
            <a:ext cx="2211640" cy="12154429"/>
            <a:chOff x="0" y="0"/>
            <a:chExt cx="582490" cy="3201166"/>
          </a:xfrm>
        </p:grpSpPr>
        <p:sp>
          <p:nvSpPr>
            <p:cNvPr id="6" name="Freeform 6">
              <a:extLst>
                <a:ext uri="{FF2B5EF4-FFF2-40B4-BE49-F238E27FC236}">
                  <a16:creationId xmlns:a16="http://schemas.microsoft.com/office/drawing/2014/main" id="{36038A8D-0E63-0F09-105A-BD74E8FC1285}"/>
                </a:ext>
              </a:extLst>
            </p:cNvPr>
            <p:cNvSpPr/>
            <p:nvPr/>
          </p:nvSpPr>
          <p:spPr>
            <a:xfrm>
              <a:off x="0" y="0"/>
              <a:ext cx="582489" cy="3201166"/>
            </a:xfrm>
            <a:custGeom>
              <a:avLst/>
              <a:gdLst/>
              <a:ahLst/>
              <a:cxnLst/>
              <a:rect l="l" t="t" r="r" b="b"/>
              <a:pathLst>
                <a:path w="582489" h="3201166">
                  <a:moveTo>
                    <a:pt x="0" y="0"/>
                  </a:moveTo>
                  <a:lnTo>
                    <a:pt x="582489" y="0"/>
                  </a:lnTo>
                  <a:lnTo>
                    <a:pt x="582489" y="3201166"/>
                  </a:lnTo>
                  <a:lnTo>
                    <a:pt x="0" y="3201166"/>
                  </a:lnTo>
                  <a:close/>
                </a:path>
              </a:pathLst>
            </a:custGeom>
            <a:solidFill>
              <a:srgbClr val="B84900"/>
            </a:solidFill>
          </p:spPr>
        </p:sp>
        <p:sp>
          <p:nvSpPr>
            <p:cNvPr id="7" name="TextBox 7">
              <a:extLst>
                <a:ext uri="{FF2B5EF4-FFF2-40B4-BE49-F238E27FC236}">
                  <a16:creationId xmlns:a16="http://schemas.microsoft.com/office/drawing/2014/main" id="{5164BE3A-7A95-ADA2-6D2E-9DDD9A14BA75}"/>
                </a:ext>
              </a:extLst>
            </p:cNvPr>
            <p:cNvSpPr txBox="1"/>
            <p:nvPr/>
          </p:nvSpPr>
          <p:spPr>
            <a:xfrm>
              <a:off x="0" y="-38100"/>
              <a:ext cx="582490" cy="3239266"/>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423AB917-AFE7-9370-35B2-2B08B23EF370}"/>
              </a:ext>
            </a:extLst>
          </p:cNvPr>
          <p:cNvGrpSpPr/>
          <p:nvPr/>
        </p:nvGrpSpPr>
        <p:grpSpPr>
          <a:xfrm>
            <a:off x="1415945" y="1704047"/>
            <a:ext cx="4912535" cy="7554253"/>
            <a:chOff x="0" y="0"/>
            <a:chExt cx="761080" cy="1170352"/>
          </a:xfrm>
        </p:grpSpPr>
        <p:sp>
          <p:nvSpPr>
            <p:cNvPr id="9" name="Freeform 9">
              <a:extLst>
                <a:ext uri="{FF2B5EF4-FFF2-40B4-BE49-F238E27FC236}">
                  <a16:creationId xmlns:a16="http://schemas.microsoft.com/office/drawing/2014/main" id="{D099385F-14B8-6DDF-85D0-20A816794CED}"/>
                </a:ext>
              </a:extLst>
            </p:cNvPr>
            <p:cNvSpPr/>
            <p:nvPr/>
          </p:nvSpPr>
          <p:spPr>
            <a:xfrm>
              <a:off x="0" y="0"/>
              <a:ext cx="761080" cy="1170352"/>
            </a:xfrm>
            <a:custGeom>
              <a:avLst/>
              <a:gdLst/>
              <a:ahLst/>
              <a:cxnLst/>
              <a:rect l="l" t="t" r="r" b="b"/>
              <a:pathLst>
                <a:path w="761080" h="1170352">
                  <a:moveTo>
                    <a:pt x="0" y="0"/>
                  </a:moveTo>
                  <a:lnTo>
                    <a:pt x="761080" y="0"/>
                  </a:lnTo>
                  <a:lnTo>
                    <a:pt x="761080" y="1170352"/>
                  </a:lnTo>
                  <a:lnTo>
                    <a:pt x="0" y="1170352"/>
                  </a:lnTo>
                  <a:close/>
                </a:path>
              </a:pathLst>
            </a:custGeom>
            <a:blipFill>
              <a:blip r:embed="rId4"/>
              <a:stretch>
                <a:fillRect t="-7804" b="-7804"/>
              </a:stretch>
            </a:blipFill>
          </p:spPr>
        </p:sp>
      </p:grpSp>
      <p:sp>
        <p:nvSpPr>
          <p:cNvPr id="10" name="TextBox 10">
            <a:extLst>
              <a:ext uri="{FF2B5EF4-FFF2-40B4-BE49-F238E27FC236}">
                <a16:creationId xmlns:a16="http://schemas.microsoft.com/office/drawing/2014/main" id="{87FC7C09-AB70-C3D5-3FD6-7BE4A79C5A91}"/>
              </a:ext>
            </a:extLst>
          </p:cNvPr>
          <p:cNvSpPr txBox="1"/>
          <p:nvPr/>
        </p:nvSpPr>
        <p:spPr>
          <a:xfrm>
            <a:off x="9220201" y="190500"/>
            <a:ext cx="5562599" cy="1379224"/>
          </a:xfrm>
          <a:prstGeom prst="rect">
            <a:avLst/>
          </a:prstGeom>
        </p:spPr>
        <p:txBody>
          <a:bodyPr wrap="square" lIns="0" tIns="0" rIns="0" bIns="0" rtlCol="0" anchor="t">
            <a:spAutoFit/>
          </a:bodyPr>
          <a:lstStyle/>
          <a:p>
            <a:pPr algn="l">
              <a:lnSpc>
                <a:spcPts val="12880"/>
              </a:lnSpc>
            </a:pPr>
            <a:r>
              <a:rPr lang="en-US" sz="3600" dirty="0">
                <a:solidFill>
                  <a:srgbClr val="231816"/>
                </a:solidFill>
                <a:latin typeface="Bugaki"/>
                <a:ea typeface="Bugaki"/>
                <a:cs typeface="Bugaki"/>
                <a:sym typeface="Bugaki"/>
              </a:rPr>
              <a:t>Use Case Diagram</a:t>
            </a:r>
          </a:p>
        </p:txBody>
      </p:sp>
      <p:pic>
        <p:nvPicPr>
          <p:cNvPr id="11" name="Picture 10">
            <a:extLst>
              <a:ext uri="{FF2B5EF4-FFF2-40B4-BE49-F238E27FC236}">
                <a16:creationId xmlns:a16="http://schemas.microsoft.com/office/drawing/2014/main" id="{4D4E502A-39E2-3E7E-DEDC-B62C913DE1D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20512" y="1409700"/>
            <a:ext cx="8779799" cy="8392454"/>
          </a:xfrm>
          <a:prstGeom prst="rect">
            <a:avLst/>
          </a:prstGeom>
        </p:spPr>
      </p:pic>
    </p:spTree>
    <p:extLst>
      <p:ext uri="{BB962C8B-B14F-4D97-AF65-F5344CB8AC3E}">
        <p14:creationId xmlns:p14="http://schemas.microsoft.com/office/powerpoint/2010/main" val="3895483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C25C0-3496-107A-A3C3-E0407548CA62}"/>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AA677495-D7B5-777C-33A8-E0301AB9B093}"/>
              </a:ext>
            </a:extLst>
          </p:cNvPr>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a:extLst>
              <a:ext uri="{FF2B5EF4-FFF2-40B4-BE49-F238E27FC236}">
                <a16:creationId xmlns:a16="http://schemas.microsoft.com/office/drawing/2014/main" id="{72CAA276-B1C8-8944-DFF3-4BE62D4ECD0E}"/>
              </a:ext>
            </a:extLst>
          </p:cNvPr>
          <p:cNvGrpSpPr/>
          <p:nvPr/>
        </p:nvGrpSpPr>
        <p:grpSpPr>
          <a:xfrm>
            <a:off x="-720824" y="9258300"/>
            <a:ext cx="19729648" cy="1630997"/>
            <a:chOff x="0" y="0"/>
            <a:chExt cx="5196286" cy="429563"/>
          </a:xfrm>
        </p:grpSpPr>
        <p:sp>
          <p:nvSpPr>
            <p:cNvPr id="4" name="Freeform 4">
              <a:extLst>
                <a:ext uri="{FF2B5EF4-FFF2-40B4-BE49-F238E27FC236}">
                  <a16:creationId xmlns:a16="http://schemas.microsoft.com/office/drawing/2014/main" id="{D5D45D47-5968-F369-9C77-42363EB06472}"/>
                </a:ext>
              </a:extLst>
            </p:cNvPr>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a:extLst>
                <a:ext uri="{FF2B5EF4-FFF2-40B4-BE49-F238E27FC236}">
                  <a16:creationId xmlns:a16="http://schemas.microsoft.com/office/drawing/2014/main" id="{16A90B2C-1AD3-A9BB-E546-09CD1B0C1B3F}"/>
                </a:ext>
              </a:extLst>
            </p:cNvPr>
            <p:cNvSpPr txBox="1"/>
            <p:nvPr/>
          </p:nvSpPr>
          <p:spPr>
            <a:xfrm>
              <a:off x="0" y="-38100"/>
              <a:ext cx="5196286" cy="467663"/>
            </a:xfrm>
            <a:prstGeom prst="rect">
              <a:avLst/>
            </a:prstGeom>
          </p:spPr>
          <p:txBody>
            <a:bodyPr lIns="50800" tIns="50800" rIns="50800" bIns="50800" rtlCol="0" anchor="ctr"/>
            <a:lstStyle/>
            <a:p>
              <a:pPr algn="ctr">
                <a:lnSpc>
                  <a:spcPts val="2659"/>
                </a:lnSpc>
              </a:pPr>
              <a:endParaRPr/>
            </a:p>
          </p:txBody>
        </p:sp>
      </p:grpSp>
      <p:pic>
        <p:nvPicPr>
          <p:cNvPr id="8" name="Picture 7">
            <a:extLst>
              <a:ext uri="{FF2B5EF4-FFF2-40B4-BE49-F238E27FC236}">
                <a16:creationId xmlns:a16="http://schemas.microsoft.com/office/drawing/2014/main" id="{52A1AC48-E0AF-52AE-ED4F-7811B1FDB8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8640" y="785286"/>
            <a:ext cx="17210018" cy="8244414"/>
          </a:xfrm>
          <a:prstGeom prst="rect">
            <a:avLst/>
          </a:prstGeom>
        </p:spPr>
      </p:pic>
      <p:sp>
        <p:nvSpPr>
          <p:cNvPr id="10" name="TextBox 9">
            <a:extLst>
              <a:ext uri="{FF2B5EF4-FFF2-40B4-BE49-F238E27FC236}">
                <a16:creationId xmlns:a16="http://schemas.microsoft.com/office/drawing/2014/main" id="{95B05B02-D8C0-40C6-689E-4CDD658B99BE}"/>
              </a:ext>
            </a:extLst>
          </p:cNvPr>
          <p:cNvSpPr txBox="1"/>
          <p:nvPr/>
        </p:nvSpPr>
        <p:spPr>
          <a:xfrm>
            <a:off x="1371600" y="-10886"/>
            <a:ext cx="2552878" cy="584775"/>
          </a:xfrm>
          <a:prstGeom prst="rect">
            <a:avLst/>
          </a:prstGeom>
          <a:noFill/>
        </p:spPr>
        <p:txBody>
          <a:bodyPr wrap="none" rtlCol="0">
            <a:spAutoFit/>
          </a:bodyPr>
          <a:lstStyle/>
          <a:p>
            <a:r>
              <a:rPr lang="en-US" sz="3200" b="1" dirty="0"/>
              <a:t>Class Diagram</a:t>
            </a:r>
            <a:endParaRPr lang="en-IN" sz="3200" b="1" dirty="0"/>
          </a:p>
        </p:txBody>
      </p:sp>
    </p:spTree>
    <p:extLst>
      <p:ext uri="{BB962C8B-B14F-4D97-AF65-F5344CB8AC3E}">
        <p14:creationId xmlns:p14="http://schemas.microsoft.com/office/powerpoint/2010/main" val="18568201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EB12A-D37F-C5FA-8BB7-B729F2FC42A5}"/>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F8A0D388-851B-52CB-F716-8DD7FECFF041}"/>
              </a:ext>
            </a:extLst>
          </p:cNvPr>
          <p:cNvSpPr/>
          <p:nvPr/>
        </p:nvSpPr>
        <p:spPr>
          <a:xfrm flipH="1" flipV="1">
            <a:off x="4448464" y="-451673"/>
            <a:ext cx="4311439" cy="4311439"/>
          </a:xfrm>
          <a:custGeom>
            <a:avLst/>
            <a:gdLst/>
            <a:ahLst/>
            <a:cxnLst/>
            <a:rect l="l" t="t" r="r" b="b"/>
            <a:pathLst>
              <a:path w="4311439" h="4311439">
                <a:moveTo>
                  <a:pt x="4311440" y="4311439"/>
                </a:moveTo>
                <a:lnTo>
                  <a:pt x="0" y="4311439"/>
                </a:lnTo>
                <a:lnTo>
                  <a:pt x="0" y="0"/>
                </a:lnTo>
                <a:lnTo>
                  <a:pt x="4311440" y="0"/>
                </a:lnTo>
                <a:lnTo>
                  <a:pt x="4311440" y="4311439"/>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8B043464-9EAF-D7DB-C41A-A1B93ED234AA}"/>
              </a:ext>
            </a:extLst>
          </p:cNvPr>
          <p:cNvSpPr/>
          <p:nvPr/>
        </p:nvSpPr>
        <p:spPr>
          <a:xfrm>
            <a:off x="-3780604" y="3806994"/>
            <a:ext cx="8636457" cy="8636457"/>
          </a:xfrm>
          <a:custGeom>
            <a:avLst/>
            <a:gdLst/>
            <a:ahLst/>
            <a:cxnLst/>
            <a:rect l="l" t="t" r="r" b="b"/>
            <a:pathLst>
              <a:path w="8636457" h="8636457">
                <a:moveTo>
                  <a:pt x="0" y="0"/>
                </a:moveTo>
                <a:lnTo>
                  <a:pt x="8636457" y="0"/>
                </a:lnTo>
                <a:lnTo>
                  <a:pt x="8636457" y="8636457"/>
                </a:lnTo>
                <a:lnTo>
                  <a:pt x="0" y="8636457"/>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5" name="Group 5">
            <a:extLst>
              <a:ext uri="{FF2B5EF4-FFF2-40B4-BE49-F238E27FC236}">
                <a16:creationId xmlns:a16="http://schemas.microsoft.com/office/drawing/2014/main" id="{E5FD4A15-5545-14C3-C475-AF7C27615D6B}"/>
              </a:ext>
            </a:extLst>
          </p:cNvPr>
          <p:cNvGrpSpPr/>
          <p:nvPr/>
        </p:nvGrpSpPr>
        <p:grpSpPr>
          <a:xfrm>
            <a:off x="16850290" y="-933714"/>
            <a:ext cx="2211640" cy="12154429"/>
            <a:chOff x="0" y="0"/>
            <a:chExt cx="582490" cy="3201166"/>
          </a:xfrm>
        </p:grpSpPr>
        <p:sp>
          <p:nvSpPr>
            <p:cNvPr id="6" name="Freeform 6">
              <a:extLst>
                <a:ext uri="{FF2B5EF4-FFF2-40B4-BE49-F238E27FC236}">
                  <a16:creationId xmlns:a16="http://schemas.microsoft.com/office/drawing/2014/main" id="{51338414-4DC1-84A5-43FD-9B6B1C05C6CC}"/>
                </a:ext>
              </a:extLst>
            </p:cNvPr>
            <p:cNvSpPr/>
            <p:nvPr/>
          </p:nvSpPr>
          <p:spPr>
            <a:xfrm>
              <a:off x="0" y="0"/>
              <a:ext cx="582489" cy="3201166"/>
            </a:xfrm>
            <a:custGeom>
              <a:avLst/>
              <a:gdLst/>
              <a:ahLst/>
              <a:cxnLst/>
              <a:rect l="l" t="t" r="r" b="b"/>
              <a:pathLst>
                <a:path w="582489" h="3201166">
                  <a:moveTo>
                    <a:pt x="0" y="0"/>
                  </a:moveTo>
                  <a:lnTo>
                    <a:pt x="582489" y="0"/>
                  </a:lnTo>
                  <a:lnTo>
                    <a:pt x="582489" y="3201166"/>
                  </a:lnTo>
                  <a:lnTo>
                    <a:pt x="0" y="3201166"/>
                  </a:lnTo>
                  <a:close/>
                </a:path>
              </a:pathLst>
            </a:custGeom>
            <a:solidFill>
              <a:srgbClr val="B84900"/>
            </a:solidFill>
          </p:spPr>
        </p:sp>
        <p:sp>
          <p:nvSpPr>
            <p:cNvPr id="7" name="TextBox 7">
              <a:extLst>
                <a:ext uri="{FF2B5EF4-FFF2-40B4-BE49-F238E27FC236}">
                  <a16:creationId xmlns:a16="http://schemas.microsoft.com/office/drawing/2014/main" id="{85C30E93-B3EB-79DD-989E-4B653830CE0B}"/>
                </a:ext>
              </a:extLst>
            </p:cNvPr>
            <p:cNvSpPr txBox="1"/>
            <p:nvPr/>
          </p:nvSpPr>
          <p:spPr>
            <a:xfrm>
              <a:off x="0" y="-38100"/>
              <a:ext cx="582490" cy="3239266"/>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F67B884C-1978-B00E-0704-A78C65494BA0}"/>
              </a:ext>
            </a:extLst>
          </p:cNvPr>
          <p:cNvGrpSpPr/>
          <p:nvPr/>
        </p:nvGrpSpPr>
        <p:grpSpPr>
          <a:xfrm>
            <a:off x="1415945" y="1704047"/>
            <a:ext cx="4912535" cy="7554253"/>
            <a:chOff x="0" y="0"/>
            <a:chExt cx="761080" cy="1170352"/>
          </a:xfrm>
        </p:grpSpPr>
        <p:sp>
          <p:nvSpPr>
            <p:cNvPr id="9" name="Freeform 9">
              <a:extLst>
                <a:ext uri="{FF2B5EF4-FFF2-40B4-BE49-F238E27FC236}">
                  <a16:creationId xmlns:a16="http://schemas.microsoft.com/office/drawing/2014/main" id="{27464DAE-D01E-7C41-367C-67BCF855517E}"/>
                </a:ext>
              </a:extLst>
            </p:cNvPr>
            <p:cNvSpPr/>
            <p:nvPr/>
          </p:nvSpPr>
          <p:spPr>
            <a:xfrm>
              <a:off x="0" y="0"/>
              <a:ext cx="761080" cy="1170352"/>
            </a:xfrm>
            <a:custGeom>
              <a:avLst/>
              <a:gdLst/>
              <a:ahLst/>
              <a:cxnLst/>
              <a:rect l="l" t="t" r="r" b="b"/>
              <a:pathLst>
                <a:path w="761080" h="1170352">
                  <a:moveTo>
                    <a:pt x="0" y="0"/>
                  </a:moveTo>
                  <a:lnTo>
                    <a:pt x="761080" y="0"/>
                  </a:lnTo>
                  <a:lnTo>
                    <a:pt x="761080" y="1170352"/>
                  </a:lnTo>
                  <a:lnTo>
                    <a:pt x="0" y="1170352"/>
                  </a:lnTo>
                  <a:close/>
                </a:path>
              </a:pathLst>
            </a:custGeom>
            <a:blipFill>
              <a:blip r:embed="rId4"/>
              <a:stretch>
                <a:fillRect t="-7804" b="-7804"/>
              </a:stretch>
            </a:blipFill>
          </p:spPr>
        </p:sp>
      </p:grpSp>
      <p:pic>
        <p:nvPicPr>
          <p:cNvPr id="18" name="Picture 17">
            <a:extLst>
              <a:ext uri="{FF2B5EF4-FFF2-40B4-BE49-F238E27FC236}">
                <a16:creationId xmlns:a16="http://schemas.microsoft.com/office/drawing/2014/main" id="{FC41FC10-8B14-495D-8417-554DDE58A0E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687486" y="-16329"/>
            <a:ext cx="7162800" cy="10287000"/>
          </a:xfrm>
          <a:prstGeom prst="rect">
            <a:avLst/>
          </a:prstGeom>
        </p:spPr>
      </p:pic>
      <p:sp>
        <p:nvSpPr>
          <p:cNvPr id="19" name="TextBox 18">
            <a:extLst>
              <a:ext uri="{FF2B5EF4-FFF2-40B4-BE49-F238E27FC236}">
                <a16:creationId xmlns:a16="http://schemas.microsoft.com/office/drawing/2014/main" id="{421DB2AC-EC7B-4E57-90D0-1E78EAB3F8A7}"/>
              </a:ext>
            </a:extLst>
          </p:cNvPr>
          <p:cNvSpPr txBox="1"/>
          <p:nvPr/>
        </p:nvSpPr>
        <p:spPr>
          <a:xfrm>
            <a:off x="1842633" y="420469"/>
            <a:ext cx="4727063" cy="646331"/>
          </a:xfrm>
          <a:prstGeom prst="rect">
            <a:avLst/>
          </a:prstGeom>
          <a:noFill/>
        </p:spPr>
        <p:txBody>
          <a:bodyPr wrap="none" rtlCol="0">
            <a:spAutoFit/>
          </a:bodyPr>
          <a:lstStyle/>
          <a:p>
            <a:r>
              <a:rPr lang="en-US" sz="3600" b="1" dirty="0"/>
              <a:t>Admin Activity Diagram</a:t>
            </a:r>
            <a:endParaRPr lang="en-IN" sz="3600" b="1" dirty="0"/>
          </a:p>
        </p:txBody>
      </p:sp>
    </p:spTree>
    <p:extLst>
      <p:ext uri="{BB962C8B-B14F-4D97-AF65-F5344CB8AC3E}">
        <p14:creationId xmlns:p14="http://schemas.microsoft.com/office/powerpoint/2010/main" val="4128471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007A8-5C0D-0AB1-8E71-F817CE4B82EB}"/>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8411F6CC-1482-1670-39E1-3D1B77C09783}"/>
              </a:ext>
            </a:extLst>
          </p:cNvPr>
          <p:cNvSpPr/>
          <p:nvPr/>
        </p:nvSpPr>
        <p:spPr>
          <a:xfrm flipH="1" flipV="1">
            <a:off x="4448464" y="-451673"/>
            <a:ext cx="4311439" cy="4311439"/>
          </a:xfrm>
          <a:custGeom>
            <a:avLst/>
            <a:gdLst/>
            <a:ahLst/>
            <a:cxnLst/>
            <a:rect l="l" t="t" r="r" b="b"/>
            <a:pathLst>
              <a:path w="4311439" h="4311439">
                <a:moveTo>
                  <a:pt x="4311440" y="4311439"/>
                </a:moveTo>
                <a:lnTo>
                  <a:pt x="0" y="4311439"/>
                </a:lnTo>
                <a:lnTo>
                  <a:pt x="0" y="0"/>
                </a:lnTo>
                <a:lnTo>
                  <a:pt x="4311440" y="0"/>
                </a:lnTo>
                <a:lnTo>
                  <a:pt x="4311440" y="4311439"/>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839987BA-22E3-F5DC-EEE4-BF4E230B33A0}"/>
              </a:ext>
            </a:extLst>
          </p:cNvPr>
          <p:cNvSpPr/>
          <p:nvPr/>
        </p:nvSpPr>
        <p:spPr>
          <a:xfrm>
            <a:off x="-3780604" y="3806994"/>
            <a:ext cx="8636457" cy="8636457"/>
          </a:xfrm>
          <a:custGeom>
            <a:avLst/>
            <a:gdLst/>
            <a:ahLst/>
            <a:cxnLst/>
            <a:rect l="l" t="t" r="r" b="b"/>
            <a:pathLst>
              <a:path w="8636457" h="8636457">
                <a:moveTo>
                  <a:pt x="0" y="0"/>
                </a:moveTo>
                <a:lnTo>
                  <a:pt x="8636457" y="0"/>
                </a:lnTo>
                <a:lnTo>
                  <a:pt x="8636457" y="8636457"/>
                </a:lnTo>
                <a:lnTo>
                  <a:pt x="0" y="8636457"/>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5" name="Group 5">
            <a:extLst>
              <a:ext uri="{FF2B5EF4-FFF2-40B4-BE49-F238E27FC236}">
                <a16:creationId xmlns:a16="http://schemas.microsoft.com/office/drawing/2014/main" id="{4650F121-3FC1-BA90-FE7A-FE0F3AFB5EB7}"/>
              </a:ext>
            </a:extLst>
          </p:cNvPr>
          <p:cNvGrpSpPr/>
          <p:nvPr/>
        </p:nvGrpSpPr>
        <p:grpSpPr>
          <a:xfrm>
            <a:off x="16850290" y="-933714"/>
            <a:ext cx="2211640" cy="12154429"/>
            <a:chOff x="0" y="0"/>
            <a:chExt cx="582490" cy="3201166"/>
          </a:xfrm>
        </p:grpSpPr>
        <p:sp>
          <p:nvSpPr>
            <p:cNvPr id="6" name="Freeform 6">
              <a:extLst>
                <a:ext uri="{FF2B5EF4-FFF2-40B4-BE49-F238E27FC236}">
                  <a16:creationId xmlns:a16="http://schemas.microsoft.com/office/drawing/2014/main" id="{126FC28B-17F2-B0E3-474B-1A591730457E}"/>
                </a:ext>
              </a:extLst>
            </p:cNvPr>
            <p:cNvSpPr/>
            <p:nvPr/>
          </p:nvSpPr>
          <p:spPr>
            <a:xfrm>
              <a:off x="0" y="0"/>
              <a:ext cx="582489" cy="3201166"/>
            </a:xfrm>
            <a:custGeom>
              <a:avLst/>
              <a:gdLst/>
              <a:ahLst/>
              <a:cxnLst/>
              <a:rect l="l" t="t" r="r" b="b"/>
              <a:pathLst>
                <a:path w="582489" h="3201166">
                  <a:moveTo>
                    <a:pt x="0" y="0"/>
                  </a:moveTo>
                  <a:lnTo>
                    <a:pt x="582489" y="0"/>
                  </a:lnTo>
                  <a:lnTo>
                    <a:pt x="582489" y="3201166"/>
                  </a:lnTo>
                  <a:lnTo>
                    <a:pt x="0" y="3201166"/>
                  </a:lnTo>
                  <a:close/>
                </a:path>
              </a:pathLst>
            </a:custGeom>
            <a:solidFill>
              <a:srgbClr val="B84900"/>
            </a:solidFill>
          </p:spPr>
        </p:sp>
        <p:sp>
          <p:nvSpPr>
            <p:cNvPr id="7" name="TextBox 7">
              <a:extLst>
                <a:ext uri="{FF2B5EF4-FFF2-40B4-BE49-F238E27FC236}">
                  <a16:creationId xmlns:a16="http://schemas.microsoft.com/office/drawing/2014/main" id="{BD4174F0-ADDC-CDCC-1279-27F487235C9B}"/>
                </a:ext>
              </a:extLst>
            </p:cNvPr>
            <p:cNvSpPr txBox="1"/>
            <p:nvPr/>
          </p:nvSpPr>
          <p:spPr>
            <a:xfrm>
              <a:off x="0" y="-38100"/>
              <a:ext cx="582490" cy="3239266"/>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947676FF-FD97-DEA9-AD50-97E281F3E61E}"/>
              </a:ext>
            </a:extLst>
          </p:cNvPr>
          <p:cNvGrpSpPr/>
          <p:nvPr/>
        </p:nvGrpSpPr>
        <p:grpSpPr>
          <a:xfrm>
            <a:off x="1415945" y="1704047"/>
            <a:ext cx="4912535" cy="7554253"/>
            <a:chOff x="0" y="0"/>
            <a:chExt cx="761080" cy="1170352"/>
          </a:xfrm>
        </p:grpSpPr>
        <p:sp>
          <p:nvSpPr>
            <p:cNvPr id="9" name="Freeform 9">
              <a:extLst>
                <a:ext uri="{FF2B5EF4-FFF2-40B4-BE49-F238E27FC236}">
                  <a16:creationId xmlns:a16="http://schemas.microsoft.com/office/drawing/2014/main" id="{5F851F41-B000-C2F1-82AE-DB44157C610F}"/>
                </a:ext>
              </a:extLst>
            </p:cNvPr>
            <p:cNvSpPr/>
            <p:nvPr/>
          </p:nvSpPr>
          <p:spPr>
            <a:xfrm>
              <a:off x="0" y="0"/>
              <a:ext cx="761080" cy="1170352"/>
            </a:xfrm>
            <a:custGeom>
              <a:avLst/>
              <a:gdLst/>
              <a:ahLst/>
              <a:cxnLst/>
              <a:rect l="l" t="t" r="r" b="b"/>
              <a:pathLst>
                <a:path w="761080" h="1170352">
                  <a:moveTo>
                    <a:pt x="0" y="0"/>
                  </a:moveTo>
                  <a:lnTo>
                    <a:pt x="761080" y="0"/>
                  </a:lnTo>
                  <a:lnTo>
                    <a:pt x="761080" y="1170352"/>
                  </a:lnTo>
                  <a:lnTo>
                    <a:pt x="0" y="1170352"/>
                  </a:lnTo>
                  <a:close/>
                </a:path>
              </a:pathLst>
            </a:custGeom>
            <a:blipFill>
              <a:blip r:embed="rId4"/>
              <a:stretch>
                <a:fillRect t="-7804" b="-7804"/>
              </a:stretch>
            </a:blipFill>
          </p:spPr>
        </p:sp>
      </p:grpSp>
      <p:sp>
        <p:nvSpPr>
          <p:cNvPr id="19" name="TextBox 18">
            <a:extLst>
              <a:ext uri="{FF2B5EF4-FFF2-40B4-BE49-F238E27FC236}">
                <a16:creationId xmlns:a16="http://schemas.microsoft.com/office/drawing/2014/main" id="{C8DA9288-0396-B8EB-55E6-91F20FDD9203}"/>
              </a:ext>
            </a:extLst>
          </p:cNvPr>
          <p:cNvSpPr txBox="1"/>
          <p:nvPr/>
        </p:nvSpPr>
        <p:spPr>
          <a:xfrm>
            <a:off x="1842633" y="420469"/>
            <a:ext cx="4342343" cy="646331"/>
          </a:xfrm>
          <a:prstGeom prst="rect">
            <a:avLst/>
          </a:prstGeom>
          <a:noFill/>
        </p:spPr>
        <p:txBody>
          <a:bodyPr wrap="none" rtlCol="0">
            <a:spAutoFit/>
          </a:bodyPr>
          <a:lstStyle/>
          <a:p>
            <a:r>
              <a:rPr lang="en-US" sz="3600" b="1" dirty="0"/>
              <a:t>User Activity Diagram</a:t>
            </a:r>
            <a:endParaRPr lang="en-IN" sz="3600" b="1" dirty="0"/>
          </a:p>
        </p:txBody>
      </p:sp>
      <p:pic>
        <p:nvPicPr>
          <p:cNvPr id="10" name="Picture 9">
            <a:extLst>
              <a:ext uri="{FF2B5EF4-FFF2-40B4-BE49-F238E27FC236}">
                <a16:creationId xmlns:a16="http://schemas.microsoft.com/office/drawing/2014/main" id="{C0726B0D-2D39-5A5F-4E15-2ADE7F6C42E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44000" y="0"/>
            <a:ext cx="6726115" cy="10287000"/>
          </a:xfrm>
          <a:prstGeom prst="rect">
            <a:avLst/>
          </a:prstGeom>
        </p:spPr>
      </p:pic>
    </p:spTree>
    <p:extLst>
      <p:ext uri="{BB962C8B-B14F-4D97-AF65-F5344CB8AC3E}">
        <p14:creationId xmlns:p14="http://schemas.microsoft.com/office/powerpoint/2010/main" val="3511093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C963A-9A94-0143-6332-D6842D4910A5}"/>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F48A901C-BA66-C29B-62A0-487A83E33845}"/>
              </a:ext>
            </a:extLst>
          </p:cNvPr>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a:extLst>
              <a:ext uri="{FF2B5EF4-FFF2-40B4-BE49-F238E27FC236}">
                <a16:creationId xmlns:a16="http://schemas.microsoft.com/office/drawing/2014/main" id="{224E0F48-9EE7-16A5-F471-393B09383F66}"/>
              </a:ext>
            </a:extLst>
          </p:cNvPr>
          <p:cNvGrpSpPr/>
          <p:nvPr/>
        </p:nvGrpSpPr>
        <p:grpSpPr>
          <a:xfrm>
            <a:off x="-720824" y="9258300"/>
            <a:ext cx="19729648" cy="1630997"/>
            <a:chOff x="0" y="0"/>
            <a:chExt cx="5196286" cy="429563"/>
          </a:xfrm>
        </p:grpSpPr>
        <p:sp>
          <p:nvSpPr>
            <p:cNvPr id="4" name="Freeform 4">
              <a:extLst>
                <a:ext uri="{FF2B5EF4-FFF2-40B4-BE49-F238E27FC236}">
                  <a16:creationId xmlns:a16="http://schemas.microsoft.com/office/drawing/2014/main" id="{6C669465-68D5-DE3A-E1A7-65B9A27F33C8}"/>
                </a:ext>
              </a:extLst>
            </p:cNvPr>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a:extLst>
                <a:ext uri="{FF2B5EF4-FFF2-40B4-BE49-F238E27FC236}">
                  <a16:creationId xmlns:a16="http://schemas.microsoft.com/office/drawing/2014/main" id="{BE171557-F4E4-5CFA-C693-3B444FB9D298}"/>
                </a:ext>
              </a:extLst>
            </p:cNvPr>
            <p:cNvSpPr txBox="1"/>
            <p:nvPr/>
          </p:nvSpPr>
          <p:spPr>
            <a:xfrm>
              <a:off x="0" y="-38100"/>
              <a:ext cx="5196286" cy="467663"/>
            </a:xfrm>
            <a:prstGeom prst="rect">
              <a:avLst/>
            </a:prstGeom>
          </p:spPr>
          <p:txBody>
            <a:bodyPr lIns="50800" tIns="50800" rIns="50800" bIns="50800" rtlCol="0" anchor="ctr"/>
            <a:lstStyle/>
            <a:p>
              <a:pPr algn="ctr">
                <a:lnSpc>
                  <a:spcPts val="2659"/>
                </a:lnSpc>
              </a:pPr>
              <a:endParaRPr/>
            </a:p>
          </p:txBody>
        </p:sp>
      </p:grpSp>
      <p:sp>
        <p:nvSpPr>
          <p:cNvPr id="6" name="TextBox 6">
            <a:extLst>
              <a:ext uri="{FF2B5EF4-FFF2-40B4-BE49-F238E27FC236}">
                <a16:creationId xmlns:a16="http://schemas.microsoft.com/office/drawing/2014/main" id="{9F9353EE-AC65-8FDA-80DF-14B92F700299}"/>
              </a:ext>
            </a:extLst>
          </p:cNvPr>
          <p:cNvSpPr txBox="1"/>
          <p:nvPr/>
        </p:nvSpPr>
        <p:spPr>
          <a:xfrm>
            <a:off x="1600200" y="333400"/>
            <a:ext cx="9595005" cy="1448473"/>
          </a:xfrm>
          <a:prstGeom prst="rect">
            <a:avLst/>
          </a:prstGeom>
        </p:spPr>
        <p:txBody>
          <a:bodyPr lIns="0" tIns="0" rIns="0" bIns="0" rtlCol="0" anchor="t">
            <a:spAutoFit/>
          </a:bodyPr>
          <a:lstStyle/>
          <a:p>
            <a:pPr>
              <a:lnSpc>
                <a:spcPts val="12880"/>
              </a:lnSpc>
            </a:pPr>
            <a:r>
              <a:rPr lang="en-US" sz="5400" dirty="0">
                <a:solidFill>
                  <a:srgbClr val="231816"/>
                </a:solidFill>
                <a:latin typeface="Bugaki"/>
                <a:ea typeface="Bugaki"/>
                <a:cs typeface="Bugaki"/>
                <a:sym typeface="Bugaki"/>
              </a:rPr>
              <a:t>Targeted Users</a:t>
            </a:r>
          </a:p>
        </p:txBody>
      </p:sp>
      <p:graphicFrame>
        <p:nvGraphicFramePr>
          <p:cNvPr id="9" name="Table 8">
            <a:extLst>
              <a:ext uri="{FF2B5EF4-FFF2-40B4-BE49-F238E27FC236}">
                <a16:creationId xmlns:a16="http://schemas.microsoft.com/office/drawing/2014/main" id="{E120D2B7-CE45-6641-1764-4E5496DA7EF8}"/>
              </a:ext>
            </a:extLst>
          </p:cNvPr>
          <p:cNvGraphicFramePr>
            <a:graphicFrameLocks noGrp="1"/>
          </p:cNvGraphicFramePr>
          <p:nvPr/>
        </p:nvGraphicFramePr>
        <p:xfrm>
          <a:off x="1600200" y="1926534"/>
          <a:ext cx="9067800" cy="7158168"/>
        </p:xfrm>
        <a:graphic>
          <a:graphicData uri="http://schemas.openxmlformats.org/drawingml/2006/table">
            <a:tbl>
              <a:tblPr firstRow="1" firstCol="1" bandRow="1">
                <a:tableStyleId>{912C8C85-51F0-491E-9774-3900AFEF0FD7}</a:tableStyleId>
              </a:tblPr>
              <a:tblGrid>
                <a:gridCol w="1813560">
                  <a:extLst>
                    <a:ext uri="{9D8B030D-6E8A-4147-A177-3AD203B41FA5}">
                      <a16:colId xmlns:a16="http://schemas.microsoft.com/office/drawing/2014/main" val="2546696881"/>
                    </a:ext>
                  </a:extLst>
                </a:gridCol>
                <a:gridCol w="1953064">
                  <a:extLst>
                    <a:ext uri="{9D8B030D-6E8A-4147-A177-3AD203B41FA5}">
                      <a16:colId xmlns:a16="http://schemas.microsoft.com/office/drawing/2014/main" val="1685649043"/>
                    </a:ext>
                  </a:extLst>
                </a:gridCol>
                <a:gridCol w="2650588">
                  <a:extLst>
                    <a:ext uri="{9D8B030D-6E8A-4147-A177-3AD203B41FA5}">
                      <a16:colId xmlns:a16="http://schemas.microsoft.com/office/drawing/2014/main" val="894610079"/>
                    </a:ext>
                  </a:extLst>
                </a:gridCol>
                <a:gridCol w="2650588">
                  <a:extLst>
                    <a:ext uri="{9D8B030D-6E8A-4147-A177-3AD203B41FA5}">
                      <a16:colId xmlns:a16="http://schemas.microsoft.com/office/drawing/2014/main" val="2375279217"/>
                    </a:ext>
                  </a:extLst>
                </a:gridCol>
              </a:tblGrid>
              <a:tr h="848820">
                <a:tc>
                  <a:txBody>
                    <a:bodyPr/>
                    <a:lstStyle/>
                    <a:p>
                      <a:pPr>
                        <a:lnSpc>
                          <a:spcPct val="115000"/>
                        </a:lnSpc>
                        <a:spcAft>
                          <a:spcPts val="1000"/>
                        </a:spcAft>
                        <a:buNone/>
                      </a:pPr>
                      <a:r>
                        <a:rPr lang="en-US" sz="1800">
                          <a:effectLst/>
                        </a:rPr>
                        <a:t>User Category</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a:effectLst/>
                        </a:rPr>
                        <a:t>Target Roles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dirty="0">
                          <a:effectLst/>
                        </a:rPr>
                        <a:t>Primary System Objectives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dirty="0">
                          <a:effectLst/>
                        </a:rPr>
                        <a:t>Key System Functions Utilized</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extLst>
                  <a:ext uri="{0D108BD9-81ED-4DB2-BD59-A6C34878D82A}">
                    <a16:rowId xmlns:a16="http://schemas.microsoft.com/office/drawing/2014/main" val="4152456511"/>
                  </a:ext>
                </a:extLst>
              </a:tr>
              <a:tr h="2107568">
                <a:tc>
                  <a:txBody>
                    <a:bodyPr/>
                    <a:lstStyle/>
                    <a:p>
                      <a:pPr>
                        <a:lnSpc>
                          <a:spcPct val="115000"/>
                        </a:lnSpc>
                        <a:spcAft>
                          <a:spcPts val="1000"/>
                        </a:spcAft>
                        <a:buNone/>
                      </a:pPr>
                      <a:r>
                        <a:rPr lang="en-US" sz="1800">
                          <a:effectLst/>
                        </a:rPr>
                        <a:t>System Administrator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Restaurant Owner, Managers, Head Chefs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Oversee restaurant business, manage menu offerings, monitor table bookings, assign delivery staff, view financial analytics.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Admin Web Dashboard, Menu CRUD, Table Booking Approval, Delivery Assignment, Revenue Analytics.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478686536"/>
                  </a:ext>
                </a:extLst>
              </a:tr>
              <a:tr h="2094212">
                <a:tc>
                  <a:txBody>
                    <a:bodyPr/>
                    <a:lstStyle/>
                    <a:p>
                      <a:pPr>
                        <a:lnSpc>
                          <a:spcPct val="115000"/>
                        </a:lnSpc>
                        <a:spcAft>
                          <a:spcPts val="1000"/>
                        </a:spcAft>
                        <a:buNone/>
                      </a:pPr>
                      <a:r>
                        <a:rPr lang="en-US" sz="1800">
                          <a:effectLst/>
                        </a:rPr>
                        <a:t>End Customer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Dine-in Guests, Takeaway &amp; Delivery Clients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Browse food options, place food delivery orders, reserve dining tables, pay online, track live orders, provide feedback.</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Android Mobile App, Web Client, Cart &amp; Checkout, Table Booking, </a:t>
                      </a:r>
                      <a:r>
                        <a:rPr lang="en-US" sz="1800" dirty="0" err="1">
                          <a:effectLst/>
                        </a:rPr>
                        <a:t>Razorpay</a:t>
                      </a:r>
                      <a:r>
                        <a:rPr lang="en-US" sz="1800" dirty="0">
                          <a:effectLst/>
                        </a:rPr>
                        <a:t> Gateway, Order Tracking, Feedback.</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265764922"/>
                  </a:ext>
                </a:extLst>
              </a:tr>
              <a:tr h="2107568">
                <a:tc>
                  <a:txBody>
                    <a:bodyPr/>
                    <a:lstStyle/>
                    <a:p>
                      <a:pPr>
                        <a:lnSpc>
                          <a:spcPct val="115000"/>
                        </a:lnSpc>
                        <a:spcAft>
                          <a:spcPts val="1000"/>
                        </a:spcAft>
                        <a:buNone/>
                      </a:pPr>
                      <a:r>
                        <a:rPr lang="en-US" sz="1800">
                          <a:effectLst/>
                        </a:rPr>
                        <a:t>Delivery Personnel</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In-house Drivers, Courier Partners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Receive delivery assignments, view customer locations, navigate transit routes, deliver orders, update fulfillment status.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Android Mobile App (Delivery Module), Order Accept/Status Toggle, Distance Tracking, COD Payment Collection.</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789976216"/>
                  </a:ext>
                </a:extLst>
              </a:tr>
            </a:tbl>
          </a:graphicData>
        </a:graphic>
      </p:graphicFrame>
    </p:spTree>
    <p:extLst>
      <p:ext uri="{BB962C8B-B14F-4D97-AF65-F5344CB8AC3E}">
        <p14:creationId xmlns:p14="http://schemas.microsoft.com/office/powerpoint/2010/main" val="35491068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EAFED-D120-D1F9-46B4-3A55963C42D1}"/>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2BFF6F79-3114-E075-2FF9-9E9718F08B17}"/>
              </a:ext>
            </a:extLst>
          </p:cNvPr>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a:extLst>
              <a:ext uri="{FF2B5EF4-FFF2-40B4-BE49-F238E27FC236}">
                <a16:creationId xmlns:a16="http://schemas.microsoft.com/office/drawing/2014/main" id="{1B01AF5F-48E1-6623-5D1C-B697DEF43084}"/>
              </a:ext>
            </a:extLst>
          </p:cNvPr>
          <p:cNvGrpSpPr/>
          <p:nvPr/>
        </p:nvGrpSpPr>
        <p:grpSpPr>
          <a:xfrm>
            <a:off x="-720824" y="9258300"/>
            <a:ext cx="19729648" cy="1630997"/>
            <a:chOff x="0" y="0"/>
            <a:chExt cx="5196286" cy="429563"/>
          </a:xfrm>
        </p:grpSpPr>
        <p:sp>
          <p:nvSpPr>
            <p:cNvPr id="4" name="Freeform 4">
              <a:extLst>
                <a:ext uri="{FF2B5EF4-FFF2-40B4-BE49-F238E27FC236}">
                  <a16:creationId xmlns:a16="http://schemas.microsoft.com/office/drawing/2014/main" id="{6DD41B9F-F09D-C3D8-7708-0DE06A3C9038}"/>
                </a:ext>
              </a:extLst>
            </p:cNvPr>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a:extLst>
                <a:ext uri="{FF2B5EF4-FFF2-40B4-BE49-F238E27FC236}">
                  <a16:creationId xmlns:a16="http://schemas.microsoft.com/office/drawing/2014/main" id="{BE8EF483-1CF6-F1C1-B7FF-307E8C74F4FD}"/>
                </a:ext>
              </a:extLst>
            </p:cNvPr>
            <p:cNvSpPr txBox="1"/>
            <p:nvPr/>
          </p:nvSpPr>
          <p:spPr>
            <a:xfrm>
              <a:off x="0" y="-38100"/>
              <a:ext cx="5196286" cy="467663"/>
            </a:xfrm>
            <a:prstGeom prst="rect">
              <a:avLst/>
            </a:prstGeom>
          </p:spPr>
          <p:txBody>
            <a:bodyPr lIns="50800" tIns="50800" rIns="50800" bIns="50800" rtlCol="0" anchor="ctr"/>
            <a:lstStyle/>
            <a:p>
              <a:pPr algn="ctr">
                <a:lnSpc>
                  <a:spcPts val="2659"/>
                </a:lnSpc>
              </a:pPr>
              <a:endParaRPr/>
            </a:p>
          </p:txBody>
        </p:sp>
      </p:grpSp>
      <p:sp>
        <p:nvSpPr>
          <p:cNvPr id="6" name="TextBox 6">
            <a:extLst>
              <a:ext uri="{FF2B5EF4-FFF2-40B4-BE49-F238E27FC236}">
                <a16:creationId xmlns:a16="http://schemas.microsoft.com/office/drawing/2014/main" id="{09F54DD0-1FF6-2BCC-B7CB-005E77E1C8C9}"/>
              </a:ext>
            </a:extLst>
          </p:cNvPr>
          <p:cNvSpPr txBox="1"/>
          <p:nvPr/>
        </p:nvSpPr>
        <p:spPr>
          <a:xfrm>
            <a:off x="1600200" y="333400"/>
            <a:ext cx="9595005" cy="1448473"/>
          </a:xfrm>
          <a:prstGeom prst="rect">
            <a:avLst/>
          </a:prstGeom>
        </p:spPr>
        <p:txBody>
          <a:bodyPr lIns="0" tIns="0" rIns="0" bIns="0" rtlCol="0" anchor="t">
            <a:spAutoFit/>
          </a:bodyPr>
          <a:lstStyle/>
          <a:p>
            <a:pPr>
              <a:lnSpc>
                <a:spcPts val="12880"/>
              </a:lnSpc>
            </a:pPr>
            <a:r>
              <a:rPr lang="en-US" sz="5400" dirty="0">
                <a:solidFill>
                  <a:srgbClr val="231816"/>
                </a:solidFill>
                <a:latin typeface="Bugaki"/>
                <a:ea typeface="Bugaki"/>
                <a:cs typeface="Bugaki"/>
                <a:sym typeface="Bugaki"/>
              </a:rPr>
              <a:t>System Design</a:t>
            </a:r>
          </a:p>
        </p:txBody>
      </p:sp>
      <p:graphicFrame>
        <p:nvGraphicFramePr>
          <p:cNvPr id="9" name="Table 8">
            <a:extLst>
              <a:ext uri="{FF2B5EF4-FFF2-40B4-BE49-F238E27FC236}">
                <a16:creationId xmlns:a16="http://schemas.microsoft.com/office/drawing/2014/main" id="{68A28EC5-C377-C4ED-5C91-81991E52F5CA}"/>
              </a:ext>
            </a:extLst>
          </p:cNvPr>
          <p:cNvGraphicFramePr>
            <a:graphicFrameLocks noGrp="1"/>
          </p:cNvGraphicFramePr>
          <p:nvPr/>
        </p:nvGraphicFramePr>
        <p:xfrm>
          <a:off x="1600200" y="1926534"/>
          <a:ext cx="9067800" cy="7158168"/>
        </p:xfrm>
        <a:graphic>
          <a:graphicData uri="http://schemas.openxmlformats.org/drawingml/2006/table">
            <a:tbl>
              <a:tblPr firstRow="1" firstCol="1" bandRow="1">
                <a:tableStyleId>{912C8C85-51F0-491E-9774-3900AFEF0FD7}</a:tableStyleId>
              </a:tblPr>
              <a:tblGrid>
                <a:gridCol w="1813560">
                  <a:extLst>
                    <a:ext uri="{9D8B030D-6E8A-4147-A177-3AD203B41FA5}">
                      <a16:colId xmlns:a16="http://schemas.microsoft.com/office/drawing/2014/main" val="2546696881"/>
                    </a:ext>
                  </a:extLst>
                </a:gridCol>
                <a:gridCol w="1953064">
                  <a:extLst>
                    <a:ext uri="{9D8B030D-6E8A-4147-A177-3AD203B41FA5}">
                      <a16:colId xmlns:a16="http://schemas.microsoft.com/office/drawing/2014/main" val="1685649043"/>
                    </a:ext>
                  </a:extLst>
                </a:gridCol>
                <a:gridCol w="2650588">
                  <a:extLst>
                    <a:ext uri="{9D8B030D-6E8A-4147-A177-3AD203B41FA5}">
                      <a16:colId xmlns:a16="http://schemas.microsoft.com/office/drawing/2014/main" val="894610079"/>
                    </a:ext>
                  </a:extLst>
                </a:gridCol>
                <a:gridCol w="2650588">
                  <a:extLst>
                    <a:ext uri="{9D8B030D-6E8A-4147-A177-3AD203B41FA5}">
                      <a16:colId xmlns:a16="http://schemas.microsoft.com/office/drawing/2014/main" val="2375279217"/>
                    </a:ext>
                  </a:extLst>
                </a:gridCol>
              </a:tblGrid>
              <a:tr h="848820">
                <a:tc>
                  <a:txBody>
                    <a:bodyPr/>
                    <a:lstStyle/>
                    <a:p>
                      <a:pPr>
                        <a:lnSpc>
                          <a:spcPct val="115000"/>
                        </a:lnSpc>
                        <a:spcAft>
                          <a:spcPts val="1000"/>
                        </a:spcAft>
                        <a:buNone/>
                      </a:pPr>
                      <a:r>
                        <a:rPr lang="en-US" sz="1800">
                          <a:effectLst/>
                        </a:rPr>
                        <a:t>User Category</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a:effectLst/>
                        </a:rPr>
                        <a:t>Target Roles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dirty="0">
                          <a:effectLst/>
                        </a:rPr>
                        <a:t>Primary System Objectives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dirty="0">
                          <a:effectLst/>
                        </a:rPr>
                        <a:t>Key System Functions Utilized</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extLst>
                  <a:ext uri="{0D108BD9-81ED-4DB2-BD59-A6C34878D82A}">
                    <a16:rowId xmlns:a16="http://schemas.microsoft.com/office/drawing/2014/main" val="4152456511"/>
                  </a:ext>
                </a:extLst>
              </a:tr>
              <a:tr h="2107568">
                <a:tc>
                  <a:txBody>
                    <a:bodyPr/>
                    <a:lstStyle/>
                    <a:p>
                      <a:pPr>
                        <a:lnSpc>
                          <a:spcPct val="115000"/>
                        </a:lnSpc>
                        <a:spcAft>
                          <a:spcPts val="1000"/>
                        </a:spcAft>
                        <a:buNone/>
                      </a:pPr>
                      <a:r>
                        <a:rPr lang="en-US" sz="1800">
                          <a:effectLst/>
                        </a:rPr>
                        <a:t>System Administrator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Restaurant Owner, Managers, Head Chefs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Oversee restaurant business, manage menu offerings, monitor table bookings, assign delivery staff, view financial analytics.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Admin Web Dashboard, Menu CRUD, Table Booking Approval, Delivery Assignment, Revenue Analytics.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478686536"/>
                  </a:ext>
                </a:extLst>
              </a:tr>
              <a:tr h="2094212">
                <a:tc>
                  <a:txBody>
                    <a:bodyPr/>
                    <a:lstStyle/>
                    <a:p>
                      <a:pPr>
                        <a:lnSpc>
                          <a:spcPct val="115000"/>
                        </a:lnSpc>
                        <a:spcAft>
                          <a:spcPts val="1000"/>
                        </a:spcAft>
                        <a:buNone/>
                      </a:pPr>
                      <a:r>
                        <a:rPr lang="en-US" sz="1800">
                          <a:effectLst/>
                        </a:rPr>
                        <a:t>End Customer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Dine-in Guests, Takeaway &amp; Delivery Clients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Browse food options, place food delivery orders, reserve dining tables, pay online, track live orders, provide feedback.</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Android Mobile App, Web Client, Cart &amp; Checkout, Table Booking, </a:t>
                      </a:r>
                      <a:r>
                        <a:rPr lang="en-US" sz="1800" dirty="0" err="1">
                          <a:effectLst/>
                        </a:rPr>
                        <a:t>Razorpay</a:t>
                      </a:r>
                      <a:r>
                        <a:rPr lang="en-US" sz="1800" dirty="0">
                          <a:effectLst/>
                        </a:rPr>
                        <a:t> Gateway, Order Tracking, Feedback.</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265764922"/>
                  </a:ext>
                </a:extLst>
              </a:tr>
              <a:tr h="2107568">
                <a:tc>
                  <a:txBody>
                    <a:bodyPr/>
                    <a:lstStyle/>
                    <a:p>
                      <a:pPr>
                        <a:lnSpc>
                          <a:spcPct val="115000"/>
                        </a:lnSpc>
                        <a:spcAft>
                          <a:spcPts val="1000"/>
                        </a:spcAft>
                        <a:buNone/>
                      </a:pPr>
                      <a:r>
                        <a:rPr lang="en-US" sz="1800">
                          <a:effectLst/>
                        </a:rPr>
                        <a:t>Delivery Personnel</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In-house Drivers, Courier Partners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Receive delivery assignments, view customer locations, navigate transit routes, deliver orders, update fulfillment status.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Android Mobile App (Delivery Module), Order Accept/Status Toggle, Distance Tracking, COD Payment Collection.</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789976216"/>
                  </a:ext>
                </a:extLst>
              </a:tr>
            </a:tbl>
          </a:graphicData>
        </a:graphic>
      </p:graphicFrame>
    </p:spTree>
    <p:extLst>
      <p:ext uri="{BB962C8B-B14F-4D97-AF65-F5344CB8AC3E}">
        <p14:creationId xmlns:p14="http://schemas.microsoft.com/office/powerpoint/2010/main" val="3736351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B3D3A-57DF-EC89-7B63-9A8BD5843F0D}"/>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7D9CE347-D03E-B732-433F-D03D6A1941FF}"/>
              </a:ext>
            </a:extLst>
          </p:cNvPr>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a:extLst>
              <a:ext uri="{FF2B5EF4-FFF2-40B4-BE49-F238E27FC236}">
                <a16:creationId xmlns:a16="http://schemas.microsoft.com/office/drawing/2014/main" id="{FA2E33A2-2606-DB34-A3C5-95E6581C5187}"/>
              </a:ext>
            </a:extLst>
          </p:cNvPr>
          <p:cNvGrpSpPr/>
          <p:nvPr/>
        </p:nvGrpSpPr>
        <p:grpSpPr>
          <a:xfrm>
            <a:off x="-720824" y="9258300"/>
            <a:ext cx="19729648" cy="1630997"/>
            <a:chOff x="0" y="0"/>
            <a:chExt cx="5196286" cy="429563"/>
          </a:xfrm>
        </p:grpSpPr>
        <p:sp>
          <p:nvSpPr>
            <p:cNvPr id="4" name="Freeform 4">
              <a:extLst>
                <a:ext uri="{FF2B5EF4-FFF2-40B4-BE49-F238E27FC236}">
                  <a16:creationId xmlns:a16="http://schemas.microsoft.com/office/drawing/2014/main" id="{5EB837C4-3E37-8744-8E38-B7EA9955481E}"/>
                </a:ext>
              </a:extLst>
            </p:cNvPr>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a:extLst>
                <a:ext uri="{FF2B5EF4-FFF2-40B4-BE49-F238E27FC236}">
                  <a16:creationId xmlns:a16="http://schemas.microsoft.com/office/drawing/2014/main" id="{F5CF6047-7175-8A8C-7D72-DE1F31707AE7}"/>
                </a:ext>
              </a:extLst>
            </p:cNvPr>
            <p:cNvSpPr txBox="1"/>
            <p:nvPr/>
          </p:nvSpPr>
          <p:spPr>
            <a:xfrm>
              <a:off x="0" y="-38100"/>
              <a:ext cx="5196286" cy="467663"/>
            </a:xfrm>
            <a:prstGeom prst="rect">
              <a:avLst/>
            </a:prstGeom>
          </p:spPr>
          <p:txBody>
            <a:bodyPr lIns="50800" tIns="50800" rIns="50800" bIns="50800" rtlCol="0" anchor="ctr"/>
            <a:lstStyle/>
            <a:p>
              <a:pPr algn="ctr">
                <a:lnSpc>
                  <a:spcPts val="2659"/>
                </a:lnSpc>
              </a:pPr>
              <a:endParaRPr/>
            </a:p>
          </p:txBody>
        </p:sp>
      </p:grpSp>
      <p:sp>
        <p:nvSpPr>
          <p:cNvPr id="6" name="TextBox 6">
            <a:extLst>
              <a:ext uri="{FF2B5EF4-FFF2-40B4-BE49-F238E27FC236}">
                <a16:creationId xmlns:a16="http://schemas.microsoft.com/office/drawing/2014/main" id="{02B98A4D-9127-15D9-C35C-67E690937529}"/>
              </a:ext>
            </a:extLst>
          </p:cNvPr>
          <p:cNvSpPr txBox="1"/>
          <p:nvPr/>
        </p:nvSpPr>
        <p:spPr>
          <a:xfrm>
            <a:off x="1600200" y="333400"/>
            <a:ext cx="12268200" cy="861774"/>
          </a:xfrm>
          <a:prstGeom prst="rect">
            <a:avLst/>
          </a:prstGeom>
        </p:spPr>
        <p:txBody>
          <a:bodyPr wrap="square" lIns="0" tIns="0" rIns="0" bIns="0" rtlCol="0" anchor="t">
            <a:spAutoFit/>
          </a:bodyPr>
          <a:lstStyle/>
          <a:p>
            <a:r>
              <a:rPr lang="en-US" sz="2800" dirty="0">
                <a:solidFill>
                  <a:srgbClr val="231816"/>
                </a:solidFill>
                <a:latin typeface="Bugaki"/>
                <a:ea typeface="Bugaki"/>
                <a:cs typeface="Bugaki"/>
                <a:sym typeface="Bugaki"/>
              </a:rPr>
              <a:t>Data Dictionary</a:t>
            </a:r>
          </a:p>
          <a:p>
            <a:pPr marL="457200" indent="-457200">
              <a:buFont typeface="Arial" panose="020B0604020202020204" pitchFamily="34" charset="0"/>
              <a:buChar char="•"/>
            </a:pPr>
            <a:r>
              <a:rPr lang="en-US" sz="2800" dirty="0">
                <a:solidFill>
                  <a:srgbClr val="231816"/>
                </a:solidFill>
                <a:latin typeface="Bugaki"/>
                <a:ea typeface="Bugaki"/>
                <a:cs typeface="Bugaki"/>
                <a:sym typeface="Bugaki"/>
              </a:rPr>
              <a:t>Users</a:t>
            </a:r>
          </a:p>
        </p:txBody>
      </p:sp>
      <p:graphicFrame>
        <p:nvGraphicFramePr>
          <p:cNvPr id="10" name="Table 9">
            <a:extLst>
              <a:ext uri="{FF2B5EF4-FFF2-40B4-BE49-F238E27FC236}">
                <a16:creationId xmlns:a16="http://schemas.microsoft.com/office/drawing/2014/main" id="{2DE29BB3-8F85-9B66-835F-0FD9B7EE93FF}"/>
              </a:ext>
            </a:extLst>
          </p:cNvPr>
          <p:cNvGraphicFramePr>
            <a:graphicFrameLocks noGrp="1"/>
          </p:cNvGraphicFramePr>
          <p:nvPr>
            <p:extLst>
              <p:ext uri="{D42A27DB-BD31-4B8C-83A1-F6EECF244321}">
                <p14:modId xmlns:p14="http://schemas.microsoft.com/office/powerpoint/2010/main" val="933412484"/>
              </p:ext>
            </p:extLst>
          </p:nvPr>
        </p:nvGraphicFramePr>
        <p:xfrm>
          <a:off x="1849554" y="1224111"/>
          <a:ext cx="8970846" cy="7747498"/>
        </p:xfrm>
        <a:graphic>
          <a:graphicData uri="http://schemas.openxmlformats.org/drawingml/2006/table">
            <a:tbl>
              <a:tblPr firstRow="1" firstCol="1" bandRow="1">
                <a:tableStyleId>{912C8C85-51F0-491E-9774-3900AFEF0FD7}</a:tableStyleId>
              </a:tblPr>
              <a:tblGrid>
                <a:gridCol w="1942751">
                  <a:extLst>
                    <a:ext uri="{9D8B030D-6E8A-4147-A177-3AD203B41FA5}">
                      <a16:colId xmlns:a16="http://schemas.microsoft.com/office/drawing/2014/main" val="2959683636"/>
                    </a:ext>
                  </a:extLst>
                </a:gridCol>
                <a:gridCol w="3204762">
                  <a:extLst>
                    <a:ext uri="{9D8B030D-6E8A-4147-A177-3AD203B41FA5}">
                      <a16:colId xmlns:a16="http://schemas.microsoft.com/office/drawing/2014/main" val="817519221"/>
                    </a:ext>
                  </a:extLst>
                </a:gridCol>
                <a:gridCol w="1770752">
                  <a:extLst>
                    <a:ext uri="{9D8B030D-6E8A-4147-A177-3AD203B41FA5}">
                      <a16:colId xmlns:a16="http://schemas.microsoft.com/office/drawing/2014/main" val="803051589"/>
                    </a:ext>
                  </a:extLst>
                </a:gridCol>
                <a:gridCol w="2052581">
                  <a:extLst>
                    <a:ext uri="{9D8B030D-6E8A-4147-A177-3AD203B41FA5}">
                      <a16:colId xmlns:a16="http://schemas.microsoft.com/office/drawing/2014/main" val="1199406051"/>
                    </a:ext>
                  </a:extLst>
                </a:gridCol>
              </a:tblGrid>
              <a:tr h="444286">
                <a:tc>
                  <a:txBody>
                    <a:bodyPr/>
                    <a:lstStyle/>
                    <a:p>
                      <a:pPr>
                        <a:lnSpc>
                          <a:spcPct val="115000"/>
                        </a:lnSpc>
                        <a:spcAft>
                          <a:spcPts val="1000"/>
                        </a:spcAft>
                        <a:buNone/>
                      </a:pPr>
                      <a:r>
                        <a:rPr lang="en-US" sz="1800">
                          <a:effectLst/>
                        </a:rPr>
                        <a:t>Field Name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88044" marB="88044"/>
                </a:tc>
                <a:tc>
                  <a:txBody>
                    <a:bodyPr/>
                    <a:lstStyle/>
                    <a:p>
                      <a:pPr>
                        <a:lnSpc>
                          <a:spcPct val="115000"/>
                        </a:lnSpc>
                        <a:spcAft>
                          <a:spcPts val="1000"/>
                        </a:spcAft>
                        <a:buNone/>
                      </a:pPr>
                      <a:r>
                        <a:rPr lang="en-US" sz="1800">
                          <a:effectLst/>
                        </a:rPr>
                        <a:t>Data Type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88044" marB="88044"/>
                </a:tc>
                <a:tc>
                  <a:txBody>
                    <a:bodyPr/>
                    <a:lstStyle/>
                    <a:p>
                      <a:pPr>
                        <a:lnSpc>
                          <a:spcPct val="115000"/>
                        </a:lnSpc>
                        <a:spcAft>
                          <a:spcPts val="1000"/>
                        </a:spcAft>
                        <a:buNone/>
                      </a:pPr>
                      <a:r>
                        <a:rPr lang="en-US" sz="1800">
                          <a:effectLst/>
                        </a:rPr>
                        <a:t>Key / Constraints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88044" marB="88044"/>
                </a:tc>
                <a:tc>
                  <a:txBody>
                    <a:bodyPr/>
                    <a:lstStyle/>
                    <a:p>
                      <a:pPr>
                        <a:lnSpc>
                          <a:spcPct val="115000"/>
                        </a:lnSpc>
                        <a:spcAft>
                          <a:spcPts val="1000"/>
                        </a:spcAft>
                        <a:buNone/>
                      </a:pPr>
                      <a:r>
                        <a:rPr lang="en-US" sz="1800">
                          <a:effectLst/>
                        </a:rPr>
                        <a:t>Description &amp; Purpose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88044" marB="88044"/>
                </a:tc>
                <a:extLst>
                  <a:ext uri="{0D108BD9-81ED-4DB2-BD59-A6C34878D82A}">
                    <a16:rowId xmlns:a16="http://schemas.microsoft.com/office/drawing/2014/main" val="2413383225"/>
                  </a:ext>
                </a:extLst>
              </a:tr>
              <a:tr h="386122">
                <a:tc>
                  <a:txBody>
                    <a:bodyPr/>
                    <a:lstStyle/>
                    <a:p>
                      <a:pPr>
                        <a:lnSpc>
                          <a:spcPct val="115000"/>
                        </a:lnSpc>
                        <a:spcAft>
                          <a:spcPts val="1000"/>
                        </a:spcAft>
                        <a:buNone/>
                      </a:pPr>
                      <a:r>
                        <a:rPr lang="en-US" sz="1800">
                          <a:effectLst/>
                        </a:rPr>
                        <a:t>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PRIMARY KEY, AUTO_INC</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Unique user account identifier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689142812"/>
                  </a:ext>
                </a:extLst>
              </a:tr>
              <a:tr h="243328">
                <a:tc>
                  <a:txBody>
                    <a:bodyPr/>
                    <a:lstStyle/>
                    <a:p>
                      <a:pPr>
                        <a:lnSpc>
                          <a:spcPct val="115000"/>
                        </a:lnSpc>
                        <a:spcAft>
                          <a:spcPts val="1000"/>
                        </a:spcAft>
                        <a:buNone/>
                      </a:pPr>
                      <a:r>
                        <a:rPr lang="en-US" sz="1800">
                          <a:effectLst/>
                        </a:rPr>
                        <a:t>name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VARCHAR(255)</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Full name of the user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3416840407"/>
                  </a:ext>
                </a:extLst>
              </a:tr>
              <a:tr h="386122">
                <a:tc>
                  <a:txBody>
                    <a:bodyPr/>
                    <a:lstStyle/>
                    <a:p>
                      <a:pPr>
                        <a:lnSpc>
                          <a:spcPct val="115000"/>
                        </a:lnSpc>
                        <a:spcAft>
                          <a:spcPts val="1000"/>
                        </a:spcAft>
                        <a:buNone/>
                      </a:pPr>
                      <a:r>
                        <a:rPr lang="en-US" sz="1800">
                          <a:effectLst/>
                        </a:rPr>
                        <a:t>email</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VARCHAR(255)</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UNIQUE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User email address for login</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1149704586"/>
                  </a:ext>
                </a:extLst>
              </a:tr>
              <a:tr h="386122">
                <a:tc>
                  <a:txBody>
                    <a:bodyPr/>
                    <a:lstStyle/>
                    <a:p>
                      <a:pPr>
                        <a:lnSpc>
                          <a:spcPct val="115000"/>
                        </a:lnSpc>
                        <a:spcAft>
                          <a:spcPts val="1000"/>
                        </a:spcAft>
                        <a:buNone/>
                      </a:pPr>
                      <a:r>
                        <a:rPr lang="en-US" sz="1800">
                          <a:effectLst/>
                        </a:rPr>
                        <a:t>email_verified_at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TIMESTAMP</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dirty="0">
                          <a:effectLst/>
                        </a:rPr>
                        <a:t>Timestamp when email was verified</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3734185450"/>
                  </a:ext>
                </a:extLst>
              </a:tr>
              <a:tr h="386122">
                <a:tc>
                  <a:txBody>
                    <a:bodyPr/>
                    <a:lstStyle/>
                    <a:p>
                      <a:pPr>
                        <a:lnSpc>
                          <a:spcPct val="115000"/>
                        </a:lnSpc>
                        <a:spcAft>
                          <a:spcPts val="1000"/>
                        </a:spcAft>
                        <a:buNone/>
                      </a:pPr>
                      <a:r>
                        <a:rPr lang="en-US" sz="1800" dirty="0">
                          <a:effectLst/>
                        </a:rPr>
                        <a:t>password</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dirty="0">
                          <a:effectLst/>
                        </a:rPr>
                        <a:t>VARCHAR(255)</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Bcrypt hashed account password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1387390209"/>
                  </a:ext>
                </a:extLst>
              </a:tr>
              <a:tr h="386122">
                <a:tc>
                  <a:txBody>
                    <a:bodyPr/>
                    <a:lstStyle/>
                    <a:p>
                      <a:pPr>
                        <a:lnSpc>
                          <a:spcPct val="115000"/>
                        </a:lnSpc>
                        <a:spcAft>
                          <a:spcPts val="1000"/>
                        </a:spcAft>
                        <a:buNone/>
                      </a:pPr>
                      <a:r>
                        <a:rPr lang="en-US" sz="1800">
                          <a:effectLst/>
                        </a:rPr>
                        <a:t>phone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VARCHAR(20)</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Contact phone number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1790644814"/>
                  </a:ext>
                </a:extLst>
              </a:tr>
              <a:tr h="386122">
                <a:tc>
                  <a:txBody>
                    <a:bodyPr/>
                    <a:lstStyle/>
                    <a:p>
                      <a:pPr>
                        <a:lnSpc>
                          <a:spcPct val="115000"/>
                        </a:lnSpc>
                        <a:spcAft>
                          <a:spcPts val="1000"/>
                        </a:spcAft>
                        <a:buNone/>
                      </a:pPr>
                      <a:r>
                        <a:rPr lang="en-US" sz="1800">
                          <a:effectLst/>
                        </a:rPr>
                        <a:t>role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ENUM('admin','customer','delivery')</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DEFAULT 'customer'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System access role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4256214613"/>
                  </a:ext>
                </a:extLst>
              </a:tr>
              <a:tr h="386122">
                <a:tc>
                  <a:txBody>
                    <a:bodyPr/>
                    <a:lstStyle/>
                    <a:p>
                      <a:pPr>
                        <a:lnSpc>
                          <a:spcPct val="115000"/>
                        </a:lnSpc>
                        <a:spcAft>
                          <a:spcPts val="1000"/>
                        </a:spcAft>
                        <a:buNone/>
                      </a:pPr>
                      <a:r>
                        <a:rPr lang="en-US" sz="1800">
                          <a:effectLst/>
                        </a:rPr>
                        <a:t>remember_token</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dirty="0">
                          <a:effectLst/>
                        </a:rPr>
                        <a:t>VARCHAR(100)</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Session remember token</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3244019331"/>
                  </a:ext>
                </a:extLst>
              </a:tr>
              <a:tr h="528918">
                <a:tc>
                  <a:txBody>
                    <a:bodyPr/>
                    <a:lstStyle/>
                    <a:p>
                      <a:pPr>
                        <a:lnSpc>
                          <a:spcPct val="115000"/>
                        </a:lnSpc>
                        <a:spcAft>
                          <a:spcPts val="1000"/>
                        </a:spcAft>
                        <a:buNone/>
                      </a:pPr>
                      <a:r>
                        <a:rPr lang="en-US" sz="1800">
                          <a:effectLst/>
                        </a:rPr>
                        <a:t>created_at / updated_at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TIMESTAMP</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dirty="0">
                          <a:effectLst/>
                        </a:rPr>
                        <a:t>Record creation and modification timestamps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1493877975"/>
                  </a:ext>
                </a:extLst>
              </a:tr>
            </a:tbl>
          </a:graphicData>
        </a:graphic>
      </p:graphicFrame>
    </p:spTree>
    <p:extLst>
      <p:ext uri="{BB962C8B-B14F-4D97-AF65-F5344CB8AC3E}">
        <p14:creationId xmlns:p14="http://schemas.microsoft.com/office/powerpoint/2010/main" val="11928416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3D74D-0ADE-5206-31B8-990BB20D19F0}"/>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FA5A4C36-D441-D8C7-6F6C-974E6428E58E}"/>
              </a:ext>
            </a:extLst>
          </p:cNvPr>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a:extLst>
              <a:ext uri="{FF2B5EF4-FFF2-40B4-BE49-F238E27FC236}">
                <a16:creationId xmlns:a16="http://schemas.microsoft.com/office/drawing/2014/main" id="{A126EB43-BA0F-2896-047B-F47CCF3B6D04}"/>
              </a:ext>
            </a:extLst>
          </p:cNvPr>
          <p:cNvGrpSpPr/>
          <p:nvPr/>
        </p:nvGrpSpPr>
        <p:grpSpPr>
          <a:xfrm>
            <a:off x="-720824" y="9258300"/>
            <a:ext cx="19729648" cy="1630997"/>
            <a:chOff x="0" y="0"/>
            <a:chExt cx="5196286" cy="429563"/>
          </a:xfrm>
        </p:grpSpPr>
        <p:sp>
          <p:nvSpPr>
            <p:cNvPr id="4" name="Freeform 4">
              <a:extLst>
                <a:ext uri="{FF2B5EF4-FFF2-40B4-BE49-F238E27FC236}">
                  <a16:creationId xmlns:a16="http://schemas.microsoft.com/office/drawing/2014/main" id="{EDD1F98A-3B27-6B1F-4452-B45B150C89B7}"/>
                </a:ext>
              </a:extLst>
            </p:cNvPr>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a:extLst>
                <a:ext uri="{FF2B5EF4-FFF2-40B4-BE49-F238E27FC236}">
                  <a16:creationId xmlns:a16="http://schemas.microsoft.com/office/drawing/2014/main" id="{F115FDC1-4E57-64C7-00EA-4981A3C12C87}"/>
                </a:ext>
              </a:extLst>
            </p:cNvPr>
            <p:cNvSpPr txBox="1"/>
            <p:nvPr/>
          </p:nvSpPr>
          <p:spPr>
            <a:xfrm>
              <a:off x="0" y="-38100"/>
              <a:ext cx="5196286" cy="467663"/>
            </a:xfrm>
            <a:prstGeom prst="rect">
              <a:avLst/>
            </a:prstGeom>
          </p:spPr>
          <p:txBody>
            <a:bodyPr lIns="50800" tIns="50800" rIns="50800" bIns="50800" rtlCol="0" anchor="ctr"/>
            <a:lstStyle/>
            <a:p>
              <a:pPr algn="ctr">
                <a:lnSpc>
                  <a:spcPts val="2659"/>
                </a:lnSpc>
              </a:pPr>
              <a:endParaRPr/>
            </a:p>
          </p:txBody>
        </p:sp>
      </p:grpSp>
      <p:sp>
        <p:nvSpPr>
          <p:cNvPr id="6" name="TextBox 6">
            <a:extLst>
              <a:ext uri="{FF2B5EF4-FFF2-40B4-BE49-F238E27FC236}">
                <a16:creationId xmlns:a16="http://schemas.microsoft.com/office/drawing/2014/main" id="{F9297E4B-59DB-19A4-111E-88E04B31DEB7}"/>
              </a:ext>
            </a:extLst>
          </p:cNvPr>
          <p:cNvSpPr txBox="1"/>
          <p:nvPr/>
        </p:nvSpPr>
        <p:spPr>
          <a:xfrm>
            <a:off x="1600200" y="333400"/>
            <a:ext cx="12268200" cy="861774"/>
          </a:xfrm>
          <a:prstGeom prst="rect">
            <a:avLst/>
          </a:prstGeom>
        </p:spPr>
        <p:txBody>
          <a:bodyPr wrap="square" lIns="0" tIns="0" rIns="0" bIns="0" rtlCol="0" anchor="t">
            <a:spAutoFit/>
          </a:bodyPr>
          <a:lstStyle/>
          <a:p>
            <a:r>
              <a:rPr lang="en-US" sz="2800" dirty="0">
                <a:solidFill>
                  <a:srgbClr val="231816"/>
                </a:solidFill>
                <a:latin typeface="Bugaki"/>
                <a:ea typeface="Bugaki"/>
                <a:cs typeface="Bugaki"/>
                <a:sym typeface="Bugaki"/>
              </a:rPr>
              <a:t>Data Dictionary</a:t>
            </a:r>
          </a:p>
          <a:p>
            <a:pPr marL="457200" indent="-457200">
              <a:buFont typeface="Arial" panose="020B0604020202020204" pitchFamily="34" charset="0"/>
              <a:buChar char="•"/>
            </a:pPr>
            <a:r>
              <a:rPr lang="en-US" sz="2800" b="1" dirty="0"/>
              <a:t>categories </a:t>
            </a:r>
            <a:endParaRPr lang="en-US" sz="2800" dirty="0">
              <a:solidFill>
                <a:srgbClr val="231816"/>
              </a:solidFill>
              <a:latin typeface="Bugaki"/>
              <a:ea typeface="Bugaki"/>
              <a:cs typeface="Bugaki"/>
              <a:sym typeface="Bugaki"/>
            </a:endParaRPr>
          </a:p>
        </p:txBody>
      </p:sp>
      <p:graphicFrame>
        <p:nvGraphicFramePr>
          <p:cNvPr id="10" name="Table 9">
            <a:extLst>
              <a:ext uri="{FF2B5EF4-FFF2-40B4-BE49-F238E27FC236}">
                <a16:creationId xmlns:a16="http://schemas.microsoft.com/office/drawing/2014/main" id="{48604821-AF1B-28A0-2FBC-3DC803229837}"/>
              </a:ext>
            </a:extLst>
          </p:cNvPr>
          <p:cNvGraphicFramePr>
            <a:graphicFrameLocks noGrp="1"/>
          </p:cNvGraphicFramePr>
          <p:nvPr/>
        </p:nvGraphicFramePr>
        <p:xfrm>
          <a:off x="1849554" y="1224111"/>
          <a:ext cx="8970846" cy="7747498"/>
        </p:xfrm>
        <a:graphic>
          <a:graphicData uri="http://schemas.openxmlformats.org/drawingml/2006/table">
            <a:tbl>
              <a:tblPr firstRow="1" firstCol="1" bandRow="1">
                <a:tableStyleId>{912C8C85-51F0-491E-9774-3900AFEF0FD7}</a:tableStyleId>
              </a:tblPr>
              <a:tblGrid>
                <a:gridCol w="1942751">
                  <a:extLst>
                    <a:ext uri="{9D8B030D-6E8A-4147-A177-3AD203B41FA5}">
                      <a16:colId xmlns:a16="http://schemas.microsoft.com/office/drawing/2014/main" val="2959683636"/>
                    </a:ext>
                  </a:extLst>
                </a:gridCol>
                <a:gridCol w="3204762">
                  <a:extLst>
                    <a:ext uri="{9D8B030D-6E8A-4147-A177-3AD203B41FA5}">
                      <a16:colId xmlns:a16="http://schemas.microsoft.com/office/drawing/2014/main" val="817519221"/>
                    </a:ext>
                  </a:extLst>
                </a:gridCol>
                <a:gridCol w="1770752">
                  <a:extLst>
                    <a:ext uri="{9D8B030D-6E8A-4147-A177-3AD203B41FA5}">
                      <a16:colId xmlns:a16="http://schemas.microsoft.com/office/drawing/2014/main" val="803051589"/>
                    </a:ext>
                  </a:extLst>
                </a:gridCol>
                <a:gridCol w="2052581">
                  <a:extLst>
                    <a:ext uri="{9D8B030D-6E8A-4147-A177-3AD203B41FA5}">
                      <a16:colId xmlns:a16="http://schemas.microsoft.com/office/drawing/2014/main" val="1199406051"/>
                    </a:ext>
                  </a:extLst>
                </a:gridCol>
              </a:tblGrid>
              <a:tr h="444286">
                <a:tc>
                  <a:txBody>
                    <a:bodyPr/>
                    <a:lstStyle/>
                    <a:p>
                      <a:pPr>
                        <a:lnSpc>
                          <a:spcPct val="115000"/>
                        </a:lnSpc>
                        <a:spcAft>
                          <a:spcPts val="1000"/>
                        </a:spcAft>
                        <a:buNone/>
                      </a:pPr>
                      <a:r>
                        <a:rPr lang="en-US" sz="1800" dirty="0">
                          <a:effectLst/>
                        </a:rPr>
                        <a:t>Field Name</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88044" marB="88044"/>
                </a:tc>
                <a:tc>
                  <a:txBody>
                    <a:bodyPr/>
                    <a:lstStyle/>
                    <a:p>
                      <a:pPr>
                        <a:lnSpc>
                          <a:spcPct val="115000"/>
                        </a:lnSpc>
                        <a:spcAft>
                          <a:spcPts val="1000"/>
                        </a:spcAft>
                        <a:buNone/>
                      </a:pPr>
                      <a:r>
                        <a:rPr lang="en-US" sz="1800">
                          <a:effectLst/>
                        </a:rPr>
                        <a:t>Data Type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88044" marB="88044"/>
                </a:tc>
                <a:tc>
                  <a:txBody>
                    <a:bodyPr/>
                    <a:lstStyle/>
                    <a:p>
                      <a:pPr>
                        <a:lnSpc>
                          <a:spcPct val="115000"/>
                        </a:lnSpc>
                        <a:spcAft>
                          <a:spcPts val="1000"/>
                        </a:spcAft>
                        <a:buNone/>
                      </a:pPr>
                      <a:r>
                        <a:rPr lang="en-US" sz="1800">
                          <a:effectLst/>
                        </a:rPr>
                        <a:t>Key / Constraints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88044" marB="88044"/>
                </a:tc>
                <a:tc>
                  <a:txBody>
                    <a:bodyPr/>
                    <a:lstStyle/>
                    <a:p>
                      <a:pPr>
                        <a:lnSpc>
                          <a:spcPct val="115000"/>
                        </a:lnSpc>
                        <a:spcAft>
                          <a:spcPts val="1000"/>
                        </a:spcAft>
                        <a:buNone/>
                      </a:pPr>
                      <a:r>
                        <a:rPr lang="en-US" sz="1800">
                          <a:effectLst/>
                        </a:rPr>
                        <a:t>Description &amp; Purpose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88044" marB="88044"/>
                </a:tc>
                <a:extLst>
                  <a:ext uri="{0D108BD9-81ED-4DB2-BD59-A6C34878D82A}">
                    <a16:rowId xmlns:a16="http://schemas.microsoft.com/office/drawing/2014/main" val="2413383225"/>
                  </a:ext>
                </a:extLst>
              </a:tr>
              <a:tr h="386122">
                <a:tc>
                  <a:txBody>
                    <a:bodyPr/>
                    <a:lstStyle/>
                    <a:p>
                      <a:pPr>
                        <a:lnSpc>
                          <a:spcPct val="115000"/>
                        </a:lnSpc>
                        <a:spcAft>
                          <a:spcPts val="1000"/>
                        </a:spcAft>
                        <a:buNone/>
                      </a:pPr>
                      <a:r>
                        <a:rPr lang="en-US" sz="1800">
                          <a:effectLst/>
                        </a:rPr>
                        <a:t>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PRIMARY KEY, AUTO_INC</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Unique user account identifier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689142812"/>
                  </a:ext>
                </a:extLst>
              </a:tr>
              <a:tr h="243328">
                <a:tc>
                  <a:txBody>
                    <a:bodyPr/>
                    <a:lstStyle/>
                    <a:p>
                      <a:pPr>
                        <a:lnSpc>
                          <a:spcPct val="115000"/>
                        </a:lnSpc>
                        <a:spcAft>
                          <a:spcPts val="1000"/>
                        </a:spcAft>
                        <a:buNone/>
                      </a:pPr>
                      <a:r>
                        <a:rPr lang="en-US" sz="1800">
                          <a:effectLst/>
                        </a:rPr>
                        <a:t>name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VARCHAR(255)</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Full name of the user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3416840407"/>
                  </a:ext>
                </a:extLst>
              </a:tr>
              <a:tr h="386122">
                <a:tc>
                  <a:txBody>
                    <a:bodyPr/>
                    <a:lstStyle/>
                    <a:p>
                      <a:pPr>
                        <a:lnSpc>
                          <a:spcPct val="115000"/>
                        </a:lnSpc>
                        <a:spcAft>
                          <a:spcPts val="1000"/>
                        </a:spcAft>
                        <a:buNone/>
                      </a:pPr>
                      <a:r>
                        <a:rPr lang="en-US" sz="1800">
                          <a:effectLst/>
                        </a:rPr>
                        <a:t>email</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VARCHAR(255)</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UNIQUE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User email address for login</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1149704586"/>
                  </a:ext>
                </a:extLst>
              </a:tr>
              <a:tr h="386122">
                <a:tc>
                  <a:txBody>
                    <a:bodyPr/>
                    <a:lstStyle/>
                    <a:p>
                      <a:pPr>
                        <a:lnSpc>
                          <a:spcPct val="115000"/>
                        </a:lnSpc>
                        <a:spcAft>
                          <a:spcPts val="1000"/>
                        </a:spcAft>
                        <a:buNone/>
                      </a:pPr>
                      <a:r>
                        <a:rPr lang="en-US" sz="1800">
                          <a:effectLst/>
                        </a:rPr>
                        <a:t>email_verified_at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TIMESTAMP</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dirty="0">
                          <a:effectLst/>
                        </a:rPr>
                        <a:t>Timestamp when email was verified</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3734185450"/>
                  </a:ext>
                </a:extLst>
              </a:tr>
              <a:tr h="386122">
                <a:tc>
                  <a:txBody>
                    <a:bodyPr/>
                    <a:lstStyle/>
                    <a:p>
                      <a:pPr>
                        <a:lnSpc>
                          <a:spcPct val="115000"/>
                        </a:lnSpc>
                        <a:spcAft>
                          <a:spcPts val="1000"/>
                        </a:spcAft>
                        <a:buNone/>
                      </a:pPr>
                      <a:r>
                        <a:rPr lang="en-US" sz="1800" dirty="0">
                          <a:effectLst/>
                        </a:rPr>
                        <a:t>password</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dirty="0">
                          <a:effectLst/>
                        </a:rPr>
                        <a:t>VARCHAR(255)</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Bcrypt hashed account password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1387390209"/>
                  </a:ext>
                </a:extLst>
              </a:tr>
              <a:tr h="386122">
                <a:tc>
                  <a:txBody>
                    <a:bodyPr/>
                    <a:lstStyle/>
                    <a:p>
                      <a:pPr>
                        <a:lnSpc>
                          <a:spcPct val="115000"/>
                        </a:lnSpc>
                        <a:spcAft>
                          <a:spcPts val="1000"/>
                        </a:spcAft>
                        <a:buNone/>
                      </a:pPr>
                      <a:r>
                        <a:rPr lang="en-US" sz="1800">
                          <a:effectLst/>
                        </a:rPr>
                        <a:t>phone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VARCHAR(20)</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Contact phone number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1790644814"/>
                  </a:ext>
                </a:extLst>
              </a:tr>
              <a:tr h="386122">
                <a:tc>
                  <a:txBody>
                    <a:bodyPr/>
                    <a:lstStyle/>
                    <a:p>
                      <a:pPr>
                        <a:lnSpc>
                          <a:spcPct val="115000"/>
                        </a:lnSpc>
                        <a:spcAft>
                          <a:spcPts val="1000"/>
                        </a:spcAft>
                        <a:buNone/>
                      </a:pPr>
                      <a:r>
                        <a:rPr lang="en-US" sz="1800">
                          <a:effectLst/>
                        </a:rPr>
                        <a:t>role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ENUM('admin','customer','delivery')</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DEFAULT 'customer'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System access role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4256214613"/>
                  </a:ext>
                </a:extLst>
              </a:tr>
              <a:tr h="386122">
                <a:tc>
                  <a:txBody>
                    <a:bodyPr/>
                    <a:lstStyle/>
                    <a:p>
                      <a:pPr>
                        <a:lnSpc>
                          <a:spcPct val="115000"/>
                        </a:lnSpc>
                        <a:spcAft>
                          <a:spcPts val="1000"/>
                        </a:spcAft>
                        <a:buNone/>
                      </a:pPr>
                      <a:r>
                        <a:rPr lang="en-US" sz="1800">
                          <a:effectLst/>
                        </a:rPr>
                        <a:t>remember_token</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dirty="0">
                          <a:effectLst/>
                        </a:rPr>
                        <a:t>VARCHAR(100)</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Session remember token</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3244019331"/>
                  </a:ext>
                </a:extLst>
              </a:tr>
              <a:tr h="528918">
                <a:tc>
                  <a:txBody>
                    <a:bodyPr/>
                    <a:lstStyle/>
                    <a:p>
                      <a:pPr>
                        <a:lnSpc>
                          <a:spcPct val="115000"/>
                        </a:lnSpc>
                        <a:spcAft>
                          <a:spcPts val="1000"/>
                        </a:spcAft>
                        <a:buNone/>
                      </a:pPr>
                      <a:r>
                        <a:rPr lang="en-US" sz="1800" dirty="0" err="1">
                          <a:effectLst/>
                        </a:rPr>
                        <a:t>created_at</a:t>
                      </a:r>
                      <a:r>
                        <a:rPr lang="en-US" sz="1800" dirty="0">
                          <a:effectLst/>
                        </a:rPr>
                        <a:t> / </a:t>
                      </a:r>
                      <a:r>
                        <a:rPr lang="en-US" sz="1800" dirty="0" err="1">
                          <a:effectLst/>
                        </a:rPr>
                        <a:t>updated_at</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TIMESTAMP</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dirty="0">
                          <a:effectLst/>
                        </a:rPr>
                        <a:t>Record creation and modification timestamps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1493877975"/>
                  </a:ext>
                </a:extLst>
              </a:tr>
            </a:tbl>
          </a:graphicData>
        </a:graphic>
      </p:graphicFrame>
    </p:spTree>
    <p:extLst>
      <p:ext uri="{BB962C8B-B14F-4D97-AF65-F5344CB8AC3E}">
        <p14:creationId xmlns:p14="http://schemas.microsoft.com/office/powerpoint/2010/main" val="428277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3CF3A-2156-AC97-BDB4-1EC51C2B56EC}"/>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6CB50014-8381-E835-89BF-2D4E562B990B}"/>
              </a:ext>
            </a:extLst>
          </p:cNvPr>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a:extLst>
              <a:ext uri="{FF2B5EF4-FFF2-40B4-BE49-F238E27FC236}">
                <a16:creationId xmlns:a16="http://schemas.microsoft.com/office/drawing/2014/main" id="{670E1FC6-78A6-B935-C179-10AF29829D5A}"/>
              </a:ext>
            </a:extLst>
          </p:cNvPr>
          <p:cNvGrpSpPr/>
          <p:nvPr/>
        </p:nvGrpSpPr>
        <p:grpSpPr>
          <a:xfrm>
            <a:off x="-720824" y="9258300"/>
            <a:ext cx="19729648" cy="1630997"/>
            <a:chOff x="0" y="0"/>
            <a:chExt cx="5196286" cy="429563"/>
          </a:xfrm>
        </p:grpSpPr>
        <p:sp>
          <p:nvSpPr>
            <p:cNvPr id="4" name="Freeform 4">
              <a:extLst>
                <a:ext uri="{FF2B5EF4-FFF2-40B4-BE49-F238E27FC236}">
                  <a16:creationId xmlns:a16="http://schemas.microsoft.com/office/drawing/2014/main" id="{C3735D9D-DBA5-66A0-D5AE-C6DC7A53914A}"/>
                </a:ext>
              </a:extLst>
            </p:cNvPr>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a:extLst>
                <a:ext uri="{FF2B5EF4-FFF2-40B4-BE49-F238E27FC236}">
                  <a16:creationId xmlns:a16="http://schemas.microsoft.com/office/drawing/2014/main" id="{E7D32969-3514-3297-AE53-0F5F3416ED06}"/>
                </a:ext>
              </a:extLst>
            </p:cNvPr>
            <p:cNvSpPr txBox="1"/>
            <p:nvPr/>
          </p:nvSpPr>
          <p:spPr>
            <a:xfrm>
              <a:off x="0" y="-38100"/>
              <a:ext cx="5196286" cy="467663"/>
            </a:xfrm>
            <a:prstGeom prst="rect">
              <a:avLst/>
            </a:prstGeom>
          </p:spPr>
          <p:txBody>
            <a:bodyPr lIns="50800" tIns="50800" rIns="50800" bIns="50800" rtlCol="0" anchor="ctr"/>
            <a:lstStyle/>
            <a:p>
              <a:pPr algn="ctr">
                <a:lnSpc>
                  <a:spcPts val="2659"/>
                </a:lnSpc>
              </a:pPr>
              <a:endParaRPr/>
            </a:p>
          </p:txBody>
        </p:sp>
      </p:grpSp>
      <p:sp>
        <p:nvSpPr>
          <p:cNvPr id="6" name="TextBox 6">
            <a:extLst>
              <a:ext uri="{FF2B5EF4-FFF2-40B4-BE49-F238E27FC236}">
                <a16:creationId xmlns:a16="http://schemas.microsoft.com/office/drawing/2014/main" id="{45CD6632-7684-0C6C-F985-016A5CD12732}"/>
              </a:ext>
            </a:extLst>
          </p:cNvPr>
          <p:cNvSpPr txBox="1"/>
          <p:nvPr/>
        </p:nvSpPr>
        <p:spPr>
          <a:xfrm>
            <a:off x="1600200" y="333400"/>
            <a:ext cx="12268200" cy="861774"/>
          </a:xfrm>
          <a:prstGeom prst="rect">
            <a:avLst/>
          </a:prstGeom>
        </p:spPr>
        <p:txBody>
          <a:bodyPr wrap="square" lIns="0" tIns="0" rIns="0" bIns="0" rtlCol="0" anchor="t">
            <a:spAutoFit/>
          </a:bodyPr>
          <a:lstStyle/>
          <a:p>
            <a:r>
              <a:rPr lang="en-US" sz="2800" dirty="0">
                <a:solidFill>
                  <a:srgbClr val="231816"/>
                </a:solidFill>
                <a:latin typeface="Bugaki"/>
                <a:ea typeface="Bugaki"/>
                <a:cs typeface="Bugaki"/>
                <a:sym typeface="Bugaki"/>
              </a:rPr>
              <a:t>Data Dictionary</a:t>
            </a:r>
          </a:p>
          <a:p>
            <a:pPr marL="457200" indent="-457200">
              <a:buFont typeface="Arial" panose="020B0604020202020204" pitchFamily="34" charset="0"/>
              <a:buChar char="•"/>
            </a:pPr>
            <a:r>
              <a:rPr lang="en-US" sz="2800" b="1" dirty="0" err="1"/>
              <a:t>menu_items</a:t>
            </a:r>
            <a:endParaRPr lang="en-US" sz="2800" b="1" dirty="0">
              <a:solidFill>
                <a:srgbClr val="231816"/>
              </a:solidFill>
              <a:latin typeface="Bugaki"/>
              <a:ea typeface="Bugaki"/>
              <a:cs typeface="Bugaki"/>
              <a:sym typeface="Bugaki"/>
            </a:endParaRPr>
          </a:p>
        </p:txBody>
      </p:sp>
      <p:graphicFrame>
        <p:nvGraphicFramePr>
          <p:cNvPr id="7" name="Table 6">
            <a:extLst>
              <a:ext uri="{FF2B5EF4-FFF2-40B4-BE49-F238E27FC236}">
                <a16:creationId xmlns:a16="http://schemas.microsoft.com/office/drawing/2014/main" id="{A4476E6F-0964-DAC9-6C16-90073E31FA83}"/>
              </a:ext>
            </a:extLst>
          </p:cNvPr>
          <p:cNvGraphicFramePr>
            <a:graphicFrameLocks noGrp="1"/>
          </p:cNvGraphicFramePr>
          <p:nvPr>
            <p:extLst>
              <p:ext uri="{D42A27DB-BD31-4B8C-83A1-F6EECF244321}">
                <p14:modId xmlns:p14="http://schemas.microsoft.com/office/powerpoint/2010/main" val="4219067692"/>
              </p:ext>
            </p:extLst>
          </p:nvPr>
        </p:nvGraphicFramePr>
        <p:xfrm>
          <a:off x="1295400" y="1413111"/>
          <a:ext cx="9296400" cy="7460777"/>
        </p:xfrm>
        <a:graphic>
          <a:graphicData uri="http://schemas.openxmlformats.org/drawingml/2006/table">
            <a:tbl>
              <a:tblPr firstRow="1" firstCol="1" bandRow="1">
                <a:tableStyleId>{912C8C85-51F0-491E-9774-3900AFEF0FD7}</a:tableStyleId>
              </a:tblPr>
              <a:tblGrid>
                <a:gridCol w="2243958">
                  <a:extLst>
                    <a:ext uri="{9D8B030D-6E8A-4147-A177-3AD203B41FA5}">
                      <a16:colId xmlns:a16="http://schemas.microsoft.com/office/drawing/2014/main" val="3289832290"/>
                    </a:ext>
                  </a:extLst>
                </a:gridCol>
                <a:gridCol w="2083675">
                  <a:extLst>
                    <a:ext uri="{9D8B030D-6E8A-4147-A177-3AD203B41FA5}">
                      <a16:colId xmlns:a16="http://schemas.microsoft.com/office/drawing/2014/main" val="594071779"/>
                    </a:ext>
                  </a:extLst>
                </a:gridCol>
                <a:gridCol w="2243958">
                  <a:extLst>
                    <a:ext uri="{9D8B030D-6E8A-4147-A177-3AD203B41FA5}">
                      <a16:colId xmlns:a16="http://schemas.microsoft.com/office/drawing/2014/main" val="560541299"/>
                    </a:ext>
                  </a:extLst>
                </a:gridCol>
                <a:gridCol w="2724809">
                  <a:extLst>
                    <a:ext uri="{9D8B030D-6E8A-4147-A177-3AD203B41FA5}">
                      <a16:colId xmlns:a16="http://schemas.microsoft.com/office/drawing/2014/main" val="3778201619"/>
                    </a:ext>
                  </a:extLst>
                </a:gridCol>
              </a:tblGrid>
              <a:tr h="582063">
                <a:tc>
                  <a:txBody>
                    <a:bodyPr/>
                    <a:lstStyle/>
                    <a:p>
                      <a:pPr>
                        <a:lnSpc>
                          <a:spcPct val="115000"/>
                        </a:lnSpc>
                        <a:spcAft>
                          <a:spcPts val="1000"/>
                        </a:spcAft>
                        <a:buNone/>
                      </a:pPr>
                      <a:r>
                        <a:rPr lang="en-US" sz="1800">
                          <a:effectLst/>
                        </a:rPr>
                        <a:t>Field Name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a:effectLst/>
                        </a:rPr>
                        <a:t>Data Type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a:effectLst/>
                        </a:rPr>
                        <a:t>Key / Constraints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a:effectLst/>
                        </a:rPr>
                        <a:t>Description &amp; Purpose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extLst>
                  <a:ext uri="{0D108BD9-81ED-4DB2-BD59-A6C34878D82A}">
                    <a16:rowId xmlns:a16="http://schemas.microsoft.com/office/drawing/2014/main" val="703768398"/>
                  </a:ext>
                </a:extLst>
              </a:tr>
              <a:tr h="714676">
                <a:tc>
                  <a:txBody>
                    <a:bodyPr/>
                    <a:lstStyle/>
                    <a:p>
                      <a:pPr>
                        <a:lnSpc>
                          <a:spcPct val="115000"/>
                        </a:lnSpc>
                        <a:spcAft>
                          <a:spcPts val="1000"/>
                        </a:spcAft>
                        <a:buNone/>
                      </a:pPr>
                      <a:r>
                        <a:rPr lang="en-US" sz="1800">
                          <a:effectLst/>
                        </a:rPr>
                        <a:t>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BIGINT UNSIGNED</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PRIMARY KEY, AUTO_INC</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Unique menu item identifier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931983131"/>
                  </a:ext>
                </a:extLst>
              </a:tr>
              <a:tr h="714676">
                <a:tc>
                  <a:txBody>
                    <a:bodyPr/>
                    <a:lstStyle/>
                    <a:p>
                      <a:pPr>
                        <a:lnSpc>
                          <a:spcPct val="115000"/>
                        </a:lnSpc>
                        <a:spcAft>
                          <a:spcPts val="1000"/>
                        </a:spcAft>
                        <a:buNone/>
                      </a:pPr>
                      <a:r>
                        <a:rPr lang="en-US" sz="1800">
                          <a:effectLst/>
                        </a:rPr>
                        <a:t>category_id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FOREIGN KEY (categories.id)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Parent category reference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102860161"/>
                  </a:ext>
                </a:extLst>
              </a:tr>
              <a:tr h="481781">
                <a:tc>
                  <a:txBody>
                    <a:bodyPr/>
                    <a:lstStyle/>
                    <a:p>
                      <a:pPr>
                        <a:lnSpc>
                          <a:spcPct val="115000"/>
                        </a:lnSpc>
                        <a:spcAft>
                          <a:spcPts val="1000"/>
                        </a:spcAft>
                        <a:buNone/>
                      </a:pPr>
                      <a:r>
                        <a:rPr lang="en-US" sz="1800">
                          <a:effectLst/>
                        </a:rPr>
                        <a:t>name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VARCHAR(255)</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Name of the dish or drink</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626285162"/>
                  </a:ext>
                </a:extLst>
              </a:tr>
              <a:tr h="714676">
                <a:tc>
                  <a:txBody>
                    <a:bodyPr/>
                    <a:lstStyle/>
                    <a:p>
                      <a:pPr>
                        <a:lnSpc>
                          <a:spcPct val="115000"/>
                        </a:lnSpc>
                        <a:spcAft>
                          <a:spcPts val="1000"/>
                        </a:spcAft>
                        <a:buNone/>
                      </a:pPr>
                      <a:r>
                        <a:rPr lang="en-US" sz="1800">
                          <a:effectLst/>
                        </a:rPr>
                        <a:t>description</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TEXT</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Ingredients and dish details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985237788"/>
                  </a:ext>
                </a:extLst>
              </a:tr>
              <a:tr h="714676">
                <a:tc>
                  <a:txBody>
                    <a:bodyPr/>
                    <a:lstStyle/>
                    <a:p>
                      <a:pPr>
                        <a:lnSpc>
                          <a:spcPct val="115000"/>
                        </a:lnSpc>
                        <a:spcAft>
                          <a:spcPts val="1000"/>
                        </a:spcAft>
                        <a:buNone/>
                      </a:pPr>
                      <a:r>
                        <a:rPr lang="en-US" sz="1800">
                          <a:effectLst/>
                        </a:rPr>
                        <a:t>price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DECIMAL(10,2)</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Item unit price in local currency</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264680678"/>
                  </a:ext>
                </a:extLst>
              </a:tr>
              <a:tr h="481781">
                <a:tc>
                  <a:txBody>
                    <a:bodyPr/>
                    <a:lstStyle/>
                    <a:p>
                      <a:pPr>
                        <a:lnSpc>
                          <a:spcPct val="115000"/>
                        </a:lnSpc>
                        <a:spcAft>
                          <a:spcPts val="1000"/>
                        </a:spcAft>
                        <a:buNone/>
                      </a:pPr>
                      <a:r>
                        <a:rPr lang="en-US" sz="1800">
                          <a:effectLst/>
                        </a:rPr>
                        <a:t>image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VARCHAR(255)</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Path to item photo asset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915946452"/>
                  </a:ext>
                </a:extLst>
              </a:tr>
              <a:tr h="714676">
                <a:tc>
                  <a:txBody>
                    <a:bodyPr/>
                    <a:lstStyle/>
                    <a:p>
                      <a:pPr>
                        <a:lnSpc>
                          <a:spcPct val="115000"/>
                        </a:lnSpc>
                        <a:spcAft>
                          <a:spcPts val="1000"/>
                        </a:spcAft>
                        <a:buNone/>
                      </a:pPr>
                      <a:r>
                        <a:rPr lang="en-US" sz="1800">
                          <a:effectLst/>
                        </a:rPr>
                        <a:t>is_available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BOOLEAN</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DEFAULT TRUE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Current kitchen availability flag</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600641495"/>
                  </a:ext>
                </a:extLst>
              </a:tr>
              <a:tr h="714676">
                <a:tc>
                  <a:txBody>
                    <a:bodyPr/>
                    <a:lstStyle/>
                    <a:p>
                      <a:pPr>
                        <a:lnSpc>
                          <a:spcPct val="115000"/>
                        </a:lnSpc>
                        <a:spcAft>
                          <a:spcPts val="1000"/>
                        </a:spcAft>
                        <a:buNone/>
                      </a:pPr>
                      <a:r>
                        <a:rPr lang="en-US" sz="1800">
                          <a:effectLst/>
                        </a:rPr>
                        <a:t>is_veg</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BOOLEAN</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DEFAULT TRUE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Vegetarian (True) vs Non-Veg (False)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360105990"/>
                  </a:ext>
                </a:extLst>
              </a:tr>
              <a:tr h="714676">
                <a:tc>
                  <a:txBody>
                    <a:bodyPr/>
                    <a:lstStyle/>
                    <a:p>
                      <a:pPr>
                        <a:lnSpc>
                          <a:spcPct val="115000"/>
                        </a:lnSpc>
                        <a:spcAft>
                          <a:spcPts val="1000"/>
                        </a:spcAft>
                        <a:buNone/>
                      </a:pPr>
                      <a:r>
                        <a:rPr lang="en-US" sz="1800">
                          <a:effectLst/>
                        </a:rPr>
                        <a:t>rating</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DECIMAL(3,2)</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DEFAULT 4.50</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Aggregated star rating score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12249399"/>
                  </a:ext>
                </a:extLst>
              </a:tr>
              <a:tr h="714676">
                <a:tc>
                  <a:txBody>
                    <a:bodyPr/>
                    <a:lstStyle/>
                    <a:p>
                      <a:pPr>
                        <a:lnSpc>
                          <a:spcPct val="115000"/>
                        </a:lnSpc>
                        <a:spcAft>
                          <a:spcPts val="1000"/>
                        </a:spcAft>
                        <a:buNone/>
                      </a:pPr>
                      <a:r>
                        <a:rPr lang="en-US" sz="1800">
                          <a:effectLst/>
                        </a:rPr>
                        <a:t>created_at / updated_at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TIMESTAMP</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Audit timestamps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848344444"/>
                  </a:ext>
                </a:extLst>
              </a:tr>
            </a:tbl>
          </a:graphicData>
        </a:graphic>
      </p:graphicFrame>
    </p:spTree>
    <p:extLst>
      <p:ext uri="{BB962C8B-B14F-4D97-AF65-F5344CB8AC3E}">
        <p14:creationId xmlns:p14="http://schemas.microsoft.com/office/powerpoint/2010/main" val="8867827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23DD1-3655-7F52-6375-4DF9ED74C868}"/>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176F7F14-4963-2751-0EF0-00B9CFB6084C}"/>
              </a:ext>
            </a:extLst>
          </p:cNvPr>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a:extLst>
              <a:ext uri="{FF2B5EF4-FFF2-40B4-BE49-F238E27FC236}">
                <a16:creationId xmlns:a16="http://schemas.microsoft.com/office/drawing/2014/main" id="{0D40E85F-8E2E-DAC4-25F9-EC7252A4318B}"/>
              </a:ext>
            </a:extLst>
          </p:cNvPr>
          <p:cNvGrpSpPr/>
          <p:nvPr/>
        </p:nvGrpSpPr>
        <p:grpSpPr>
          <a:xfrm>
            <a:off x="-720824" y="9258300"/>
            <a:ext cx="19729648" cy="1630997"/>
            <a:chOff x="0" y="0"/>
            <a:chExt cx="5196286" cy="429563"/>
          </a:xfrm>
        </p:grpSpPr>
        <p:sp>
          <p:nvSpPr>
            <p:cNvPr id="4" name="Freeform 4">
              <a:extLst>
                <a:ext uri="{FF2B5EF4-FFF2-40B4-BE49-F238E27FC236}">
                  <a16:creationId xmlns:a16="http://schemas.microsoft.com/office/drawing/2014/main" id="{3D17B7BB-9FAD-9E17-EF8A-23162B6B9855}"/>
                </a:ext>
              </a:extLst>
            </p:cNvPr>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a:extLst>
                <a:ext uri="{FF2B5EF4-FFF2-40B4-BE49-F238E27FC236}">
                  <a16:creationId xmlns:a16="http://schemas.microsoft.com/office/drawing/2014/main" id="{21B7156C-A5E4-70A0-EDFB-39CF77096249}"/>
                </a:ext>
              </a:extLst>
            </p:cNvPr>
            <p:cNvSpPr txBox="1"/>
            <p:nvPr/>
          </p:nvSpPr>
          <p:spPr>
            <a:xfrm>
              <a:off x="0" y="-38100"/>
              <a:ext cx="5196286" cy="467663"/>
            </a:xfrm>
            <a:prstGeom prst="rect">
              <a:avLst/>
            </a:prstGeom>
          </p:spPr>
          <p:txBody>
            <a:bodyPr lIns="50800" tIns="50800" rIns="50800" bIns="50800" rtlCol="0" anchor="ctr"/>
            <a:lstStyle/>
            <a:p>
              <a:pPr algn="ctr">
                <a:lnSpc>
                  <a:spcPts val="2659"/>
                </a:lnSpc>
              </a:pPr>
              <a:endParaRPr/>
            </a:p>
          </p:txBody>
        </p:sp>
      </p:grpSp>
      <p:sp>
        <p:nvSpPr>
          <p:cNvPr id="6" name="TextBox 6">
            <a:extLst>
              <a:ext uri="{FF2B5EF4-FFF2-40B4-BE49-F238E27FC236}">
                <a16:creationId xmlns:a16="http://schemas.microsoft.com/office/drawing/2014/main" id="{417A82AC-2D5F-C73B-88E1-783204289890}"/>
              </a:ext>
            </a:extLst>
          </p:cNvPr>
          <p:cNvSpPr txBox="1"/>
          <p:nvPr/>
        </p:nvSpPr>
        <p:spPr>
          <a:xfrm>
            <a:off x="1600200" y="333400"/>
            <a:ext cx="12268200" cy="861774"/>
          </a:xfrm>
          <a:prstGeom prst="rect">
            <a:avLst/>
          </a:prstGeom>
        </p:spPr>
        <p:txBody>
          <a:bodyPr wrap="square" lIns="0" tIns="0" rIns="0" bIns="0" rtlCol="0" anchor="t">
            <a:spAutoFit/>
          </a:bodyPr>
          <a:lstStyle/>
          <a:p>
            <a:r>
              <a:rPr lang="en-US" sz="2800" dirty="0">
                <a:solidFill>
                  <a:srgbClr val="231816"/>
                </a:solidFill>
                <a:latin typeface="Bugaki"/>
                <a:ea typeface="Bugaki"/>
                <a:cs typeface="Bugaki"/>
                <a:sym typeface="Bugaki"/>
              </a:rPr>
              <a:t>Data Dictionary</a:t>
            </a:r>
          </a:p>
          <a:p>
            <a:pPr marL="457200" indent="-457200">
              <a:buFont typeface="Arial" panose="020B0604020202020204" pitchFamily="34" charset="0"/>
              <a:buChar char="•"/>
            </a:pPr>
            <a:r>
              <a:rPr lang="en-US" sz="2800" b="1" dirty="0"/>
              <a:t>tables </a:t>
            </a:r>
            <a:endParaRPr lang="en-US" sz="2800" b="1" dirty="0">
              <a:solidFill>
                <a:srgbClr val="231816"/>
              </a:solidFill>
              <a:latin typeface="Bugaki"/>
              <a:ea typeface="Bugaki"/>
              <a:cs typeface="Bugaki"/>
              <a:sym typeface="Bugaki"/>
            </a:endParaRPr>
          </a:p>
        </p:txBody>
      </p:sp>
      <p:graphicFrame>
        <p:nvGraphicFramePr>
          <p:cNvPr id="7" name="Table 6">
            <a:extLst>
              <a:ext uri="{FF2B5EF4-FFF2-40B4-BE49-F238E27FC236}">
                <a16:creationId xmlns:a16="http://schemas.microsoft.com/office/drawing/2014/main" id="{C68FC0A6-DA9D-935E-A113-8F0DD8B6B3BD}"/>
              </a:ext>
            </a:extLst>
          </p:cNvPr>
          <p:cNvGraphicFramePr>
            <a:graphicFrameLocks noGrp="1"/>
          </p:cNvGraphicFramePr>
          <p:nvPr>
            <p:extLst>
              <p:ext uri="{D42A27DB-BD31-4B8C-83A1-F6EECF244321}">
                <p14:modId xmlns:p14="http://schemas.microsoft.com/office/powerpoint/2010/main" val="4238757355"/>
              </p:ext>
            </p:extLst>
          </p:nvPr>
        </p:nvGraphicFramePr>
        <p:xfrm>
          <a:off x="1295400" y="1413110"/>
          <a:ext cx="9296400" cy="6854588"/>
        </p:xfrm>
        <a:graphic>
          <a:graphicData uri="http://schemas.openxmlformats.org/drawingml/2006/table">
            <a:tbl>
              <a:tblPr firstRow="1" firstCol="1" bandRow="1">
                <a:tableStyleId>{912C8C85-51F0-491E-9774-3900AFEF0FD7}</a:tableStyleId>
              </a:tblPr>
              <a:tblGrid>
                <a:gridCol w="2243958">
                  <a:extLst>
                    <a:ext uri="{9D8B030D-6E8A-4147-A177-3AD203B41FA5}">
                      <a16:colId xmlns:a16="http://schemas.microsoft.com/office/drawing/2014/main" val="3289832290"/>
                    </a:ext>
                  </a:extLst>
                </a:gridCol>
                <a:gridCol w="2083675">
                  <a:extLst>
                    <a:ext uri="{9D8B030D-6E8A-4147-A177-3AD203B41FA5}">
                      <a16:colId xmlns:a16="http://schemas.microsoft.com/office/drawing/2014/main" val="594071779"/>
                    </a:ext>
                  </a:extLst>
                </a:gridCol>
                <a:gridCol w="2243958">
                  <a:extLst>
                    <a:ext uri="{9D8B030D-6E8A-4147-A177-3AD203B41FA5}">
                      <a16:colId xmlns:a16="http://schemas.microsoft.com/office/drawing/2014/main" val="560541299"/>
                    </a:ext>
                  </a:extLst>
                </a:gridCol>
                <a:gridCol w="2724809">
                  <a:extLst>
                    <a:ext uri="{9D8B030D-6E8A-4147-A177-3AD203B41FA5}">
                      <a16:colId xmlns:a16="http://schemas.microsoft.com/office/drawing/2014/main" val="3778201619"/>
                    </a:ext>
                  </a:extLst>
                </a:gridCol>
              </a:tblGrid>
              <a:tr h="785969">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Field Name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Data Type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Key / Constraints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Description &amp; Purpose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extLst>
                  <a:ext uri="{0D108BD9-81ED-4DB2-BD59-A6C34878D82A}">
                    <a16:rowId xmlns:a16="http://schemas.microsoft.com/office/drawing/2014/main" val="703768398"/>
                  </a:ext>
                </a:extLst>
              </a:tr>
              <a:tr h="99841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PRIMARY KEY, AUTO_INC</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Unique table identifier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931983131"/>
                  </a:ext>
                </a:extLst>
              </a:tr>
              <a:tr h="99841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table_number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VARCHAR(50)</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UNIQUE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Table identifier number or code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102860161"/>
                  </a:ext>
                </a:extLst>
              </a:tr>
              <a:tr h="650557">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capacity</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INT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Maximum seating capacity</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626285162"/>
                  </a:ext>
                </a:extLst>
              </a:tr>
              <a:tr h="99841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location</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VARCHAR(100)</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Table location (Indoor, Terrace, VIP)</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985237788"/>
                  </a:ext>
                </a:extLst>
              </a:tr>
              <a:tr h="1424398">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status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ENUM('available','booked','maintenance')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DEFAULT 'available'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Current operational table status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264680678"/>
                  </a:ext>
                </a:extLst>
              </a:tr>
              <a:tr h="99841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created_at / updated_at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TIMESTAMP</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rPr>
                        <a:t>Audit timestamps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915946452"/>
                  </a:ext>
                </a:extLst>
              </a:tr>
            </a:tbl>
          </a:graphicData>
        </a:graphic>
      </p:graphicFrame>
    </p:spTree>
    <p:extLst>
      <p:ext uri="{BB962C8B-B14F-4D97-AF65-F5344CB8AC3E}">
        <p14:creationId xmlns:p14="http://schemas.microsoft.com/office/powerpoint/2010/main" val="31026335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794C5-64E4-1B54-8A94-96DAF6D6804A}"/>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122AEDDC-2CC0-5640-4309-1B331815F2CA}"/>
              </a:ext>
            </a:extLst>
          </p:cNvPr>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a:extLst>
              <a:ext uri="{FF2B5EF4-FFF2-40B4-BE49-F238E27FC236}">
                <a16:creationId xmlns:a16="http://schemas.microsoft.com/office/drawing/2014/main" id="{9C5734B3-BA1D-82A8-1EAB-5B5251551045}"/>
              </a:ext>
            </a:extLst>
          </p:cNvPr>
          <p:cNvGrpSpPr/>
          <p:nvPr/>
        </p:nvGrpSpPr>
        <p:grpSpPr>
          <a:xfrm>
            <a:off x="-720824" y="9258300"/>
            <a:ext cx="19729648" cy="1630997"/>
            <a:chOff x="0" y="0"/>
            <a:chExt cx="5196286" cy="429563"/>
          </a:xfrm>
        </p:grpSpPr>
        <p:sp>
          <p:nvSpPr>
            <p:cNvPr id="4" name="Freeform 4">
              <a:extLst>
                <a:ext uri="{FF2B5EF4-FFF2-40B4-BE49-F238E27FC236}">
                  <a16:creationId xmlns:a16="http://schemas.microsoft.com/office/drawing/2014/main" id="{617FE604-0AC2-903F-F208-552443B2EEDD}"/>
                </a:ext>
              </a:extLst>
            </p:cNvPr>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a:extLst>
                <a:ext uri="{FF2B5EF4-FFF2-40B4-BE49-F238E27FC236}">
                  <a16:creationId xmlns:a16="http://schemas.microsoft.com/office/drawing/2014/main" id="{C0D25383-A1BC-29B2-2469-C7C85577EFC9}"/>
                </a:ext>
              </a:extLst>
            </p:cNvPr>
            <p:cNvSpPr txBox="1"/>
            <p:nvPr/>
          </p:nvSpPr>
          <p:spPr>
            <a:xfrm>
              <a:off x="0" y="-38100"/>
              <a:ext cx="5196286" cy="467663"/>
            </a:xfrm>
            <a:prstGeom prst="rect">
              <a:avLst/>
            </a:prstGeom>
          </p:spPr>
          <p:txBody>
            <a:bodyPr lIns="50800" tIns="50800" rIns="50800" bIns="50800" rtlCol="0" anchor="ctr"/>
            <a:lstStyle/>
            <a:p>
              <a:pPr algn="ctr">
                <a:lnSpc>
                  <a:spcPts val="2659"/>
                </a:lnSpc>
              </a:pPr>
              <a:endParaRPr/>
            </a:p>
          </p:txBody>
        </p:sp>
      </p:grpSp>
      <p:sp>
        <p:nvSpPr>
          <p:cNvPr id="6" name="TextBox 6">
            <a:extLst>
              <a:ext uri="{FF2B5EF4-FFF2-40B4-BE49-F238E27FC236}">
                <a16:creationId xmlns:a16="http://schemas.microsoft.com/office/drawing/2014/main" id="{D31AE29E-236C-36D4-510A-98004EB5BE22}"/>
              </a:ext>
            </a:extLst>
          </p:cNvPr>
          <p:cNvSpPr txBox="1"/>
          <p:nvPr/>
        </p:nvSpPr>
        <p:spPr>
          <a:xfrm>
            <a:off x="1600200" y="333400"/>
            <a:ext cx="12268200" cy="861774"/>
          </a:xfrm>
          <a:prstGeom prst="rect">
            <a:avLst/>
          </a:prstGeom>
        </p:spPr>
        <p:txBody>
          <a:bodyPr wrap="square" lIns="0" tIns="0" rIns="0" bIns="0" rtlCol="0" anchor="t">
            <a:spAutoFit/>
          </a:bodyPr>
          <a:lstStyle/>
          <a:p>
            <a:r>
              <a:rPr lang="en-US" sz="2800" dirty="0">
                <a:solidFill>
                  <a:srgbClr val="231816"/>
                </a:solidFill>
                <a:latin typeface="Bugaki"/>
                <a:ea typeface="Bugaki"/>
                <a:cs typeface="Bugaki"/>
                <a:sym typeface="Bugaki"/>
              </a:rPr>
              <a:t>Data Dictionary</a:t>
            </a:r>
          </a:p>
          <a:p>
            <a:pPr marL="457200" indent="-457200">
              <a:buFont typeface="Arial" panose="020B0604020202020204" pitchFamily="34" charset="0"/>
              <a:buChar char="•"/>
            </a:pPr>
            <a:r>
              <a:rPr lang="en-US" sz="2800" b="1" dirty="0" err="1"/>
              <a:t>table_bookings</a:t>
            </a:r>
            <a:endParaRPr lang="en-US" sz="2800" b="1" dirty="0">
              <a:solidFill>
                <a:srgbClr val="231816"/>
              </a:solidFill>
              <a:latin typeface="Bugaki"/>
              <a:ea typeface="Bugaki"/>
              <a:cs typeface="Bugaki"/>
              <a:sym typeface="Bugaki"/>
            </a:endParaRPr>
          </a:p>
        </p:txBody>
      </p:sp>
      <p:graphicFrame>
        <p:nvGraphicFramePr>
          <p:cNvPr id="7" name="Table 6">
            <a:extLst>
              <a:ext uri="{FF2B5EF4-FFF2-40B4-BE49-F238E27FC236}">
                <a16:creationId xmlns:a16="http://schemas.microsoft.com/office/drawing/2014/main" id="{56C69D12-8222-4C6D-775A-3FBDAECCEE9F}"/>
              </a:ext>
            </a:extLst>
          </p:cNvPr>
          <p:cNvGraphicFramePr>
            <a:graphicFrameLocks noGrp="1"/>
          </p:cNvGraphicFramePr>
          <p:nvPr>
            <p:extLst>
              <p:ext uri="{D42A27DB-BD31-4B8C-83A1-F6EECF244321}">
                <p14:modId xmlns:p14="http://schemas.microsoft.com/office/powerpoint/2010/main" val="1734658028"/>
              </p:ext>
            </p:extLst>
          </p:nvPr>
        </p:nvGraphicFramePr>
        <p:xfrm>
          <a:off x="1295400" y="1413111"/>
          <a:ext cx="9296400" cy="7502641"/>
        </p:xfrm>
        <a:graphic>
          <a:graphicData uri="http://schemas.openxmlformats.org/drawingml/2006/table">
            <a:tbl>
              <a:tblPr firstRow="1" firstCol="1" bandRow="1">
                <a:tableStyleId>{912C8C85-51F0-491E-9774-3900AFEF0FD7}</a:tableStyleId>
              </a:tblPr>
              <a:tblGrid>
                <a:gridCol w="2243958">
                  <a:extLst>
                    <a:ext uri="{9D8B030D-6E8A-4147-A177-3AD203B41FA5}">
                      <a16:colId xmlns:a16="http://schemas.microsoft.com/office/drawing/2014/main" val="3289832290"/>
                    </a:ext>
                  </a:extLst>
                </a:gridCol>
                <a:gridCol w="2083675">
                  <a:extLst>
                    <a:ext uri="{9D8B030D-6E8A-4147-A177-3AD203B41FA5}">
                      <a16:colId xmlns:a16="http://schemas.microsoft.com/office/drawing/2014/main" val="594071779"/>
                    </a:ext>
                  </a:extLst>
                </a:gridCol>
                <a:gridCol w="2243958">
                  <a:extLst>
                    <a:ext uri="{9D8B030D-6E8A-4147-A177-3AD203B41FA5}">
                      <a16:colId xmlns:a16="http://schemas.microsoft.com/office/drawing/2014/main" val="560541299"/>
                    </a:ext>
                  </a:extLst>
                </a:gridCol>
                <a:gridCol w="2724809">
                  <a:extLst>
                    <a:ext uri="{9D8B030D-6E8A-4147-A177-3AD203B41FA5}">
                      <a16:colId xmlns:a16="http://schemas.microsoft.com/office/drawing/2014/main" val="3778201619"/>
                    </a:ext>
                  </a:extLst>
                </a:gridCol>
              </a:tblGrid>
              <a:tr h="582063">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Field Name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Data Type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Key / Constraints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Description &amp; Purpose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extLst>
                  <a:ext uri="{0D108BD9-81ED-4DB2-BD59-A6C34878D82A}">
                    <a16:rowId xmlns:a16="http://schemas.microsoft.com/office/drawing/2014/main" val="703768398"/>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PRIMARY KEY, AUTO_INC</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Unique booking reservation 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931983131"/>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user_id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FOREIGN KEY (users.id)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Customer who made reservation</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102860161"/>
                  </a:ext>
                </a:extLst>
              </a:tr>
              <a:tr h="481781">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table_id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FOREIGN KEY (tables.id)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Assigned physical table reference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626285162"/>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booking_date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DATE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Reserved dining date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985237788"/>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booking_time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VARCHAR(50)</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Reserved dining time slot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264680678"/>
                  </a:ext>
                </a:extLst>
              </a:tr>
              <a:tr h="481781">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guests_count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INT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Number of guests attending</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915946452"/>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special_request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TEXT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Dietary/seating preferences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600641495"/>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status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ENUM('pending','confirmed','completed','cancelled')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DEFAULT 'pending'</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Booking fulfillment status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360105990"/>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created_at / updated_at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TIMESTAMP</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rPr>
                        <a:t>Audit timestamps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12249399"/>
                  </a:ext>
                </a:extLst>
              </a:tr>
            </a:tbl>
          </a:graphicData>
        </a:graphic>
      </p:graphicFrame>
    </p:spTree>
    <p:extLst>
      <p:ext uri="{BB962C8B-B14F-4D97-AF65-F5344CB8AC3E}">
        <p14:creationId xmlns:p14="http://schemas.microsoft.com/office/powerpoint/2010/main" val="18568426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89034-C49A-C8CB-BF40-7C461133F30E}"/>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4811FE2F-F05E-055C-B9D4-B89D0C4B4516}"/>
              </a:ext>
            </a:extLst>
          </p:cNvPr>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a:extLst>
              <a:ext uri="{FF2B5EF4-FFF2-40B4-BE49-F238E27FC236}">
                <a16:creationId xmlns:a16="http://schemas.microsoft.com/office/drawing/2014/main" id="{130895D8-35AA-4490-0EBE-034D2BB66674}"/>
              </a:ext>
            </a:extLst>
          </p:cNvPr>
          <p:cNvGrpSpPr/>
          <p:nvPr/>
        </p:nvGrpSpPr>
        <p:grpSpPr>
          <a:xfrm>
            <a:off x="-720824" y="9258300"/>
            <a:ext cx="19729648" cy="1630997"/>
            <a:chOff x="0" y="0"/>
            <a:chExt cx="5196286" cy="429563"/>
          </a:xfrm>
        </p:grpSpPr>
        <p:sp>
          <p:nvSpPr>
            <p:cNvPr id="4" name="Freeform 4">
              <a:extLst>
                <a:ext uri="{FF2B5EF4-FFF2-40B4-BE49-F238E27FC236}">
                  <a16:creationId xmlns:a16="http://schemas.microsoft.com/office/drawing/2014/main" id="{62C1EC14-6076-76FB-9168-211744FAFEDB}"/>
                </a:ext>
              </a:extLst>
            </p:cNvPr>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a:extLst>
                <a:ext uri="{FF2B5EF4-FFF2-40B4-BE49-F238E27FC236}">
                  <a16:creationId xmlns:a16="http://schemas.microsoft.com/office/drawing/2014/main" id="{64E99549-0EEE-4AA4-2459-22D2E15F1D41}"/>
                </a:ext>
              </a:extLst>
            </p:cNvPr>
            <p:cNvSpPr txBox="1"/>
            <p:nvPr/>
          </p:nvSpPr>
          <p:spPr>
            <a:xfrm>
              <a:off x="0" y="-38100"/>
              <a:ext cx="5196286" cy="467663"/>
            </a:xfrm>
            <a:prstGeom prst="rect">
              <a:avLst/>
            </a:prstGeom>
          </p:spPr>
          <p:txBody>
            <a:bodyPr lIns="50800" tIns="50800" rIns="50800" bIns="50800" rtlCol="0" anchor="ctr"/>
            <a:lstStyle/>
            <a:p>
              <a:pPr algn="ctr">
                <a:lnSpc>
                  <a:spcPts val="2659"/>
                </a:lnSpc>
              </a:pPr>
              <a:endParaRPr/>
            </a:p>
          </p:txBody>
        </p:sp>
      </p:grpSp>
      <p:sp>
        <p:nvSpPr>
          <p:cNvPr id="6" name="TextBox 6">
            <a:extLst>
              <a:ext uri="{FF2B5EF4-FFF2-40B4-BE49-F238E27FC236}">
                <a16:creationId xmlns:a16="http://schemas.microsoft.com/office/drawing/2014/main" id="{D6F99C4D-1EFE-FF41-DA3C-D04BD57569EF}"/>
              </a:ext>
            </a:extLst>
          </p:cNvPr>
          <p:cNvSpPr txBox="1"/>
          <p:nvPr/>
        </p:nvSpPr>
        <p:spPr>
          <a:xfrm>
            <a:off x="1600200" y="333400"/>
            <a:ext cx="12268200" cy="861774"/>
          </a:xfrm>
          <a:prstGeom prst="rect">
            <a:avLst/>
          </a:prstGeom>
        </p:spPr>
        <p:txBody>
          <a:bodyPr wrap="square" lIns="0" tIns="0" rIns="0" bIns="0" rtlCol="0" anchor="t">
            <a:spAutoFit/>
          </a:bodyPr>
          <a:lstStyle/>
          <a:p>
            <a:r>
              <a:rPr lang="en-US" sz="2800" dirty="0">
                <a:solidFill>
                  <a:srgbClr val="231816"/>
                </a:solidFill>
                <a:latin typeface="Bugaki"/>
                <a:ea typeface="Bugaki"/>
                <a:cs typeface="Bugaki"/>
                <a:sym typeface="Bugaki"/>
              </a:rPr>
              <a:t>Data Dictionary</a:t>
            </a:r>
          </a:p>
          <a:p>
            <a:pPr marL="457200" indent="-457200">
              <a:buFont typeface="Arial" panose="020B0604020202020204" pitchFamily="34" charset="0"/>
              <a:buChar char="•"/>
            </a:pPr>
            <a:r>
              <a:rPr lang="en-US" sz="2800" b="1" dirty="0" err="1"/>
              <a:t>delivery_persons</a:t>
            </a:r>
            <a:r>
              <a:rPr lang="en-US" sz="2800" b="1" dirty="0"/>
              <a:t> </a:t>
            </a:r>
            <a:endParaRPr lang="en-US" sz="2800" b="1" dirty="0">
              <a:solidFill>
                <a:srgbClr val="231816"/>
              </a:solidFill>
              <a:latin typeface="Bugaki"/>
              <a:ea typeface="Bugaki"/>
              <a:cs typeface="Bugaki"/>
              <a:sym typeface="Bugaki"/>
            </a:endParaRPr>
          </a:p>
        </p:txBody>
      </p:sp>
      <p:graphicFrame>
        <p:nvGraphicFramePr>
          <p:cNvPr id="7" name="Table 6">
            <a:extLst>
              <a:ext uri="{FF2B5EF4-FFF2-40B4-BE49-F238E27FC236}">
                <a16:creationId xmlns:a16="http://schemas.microsoft.com/office/drawing/2014/main" id="{7ADC9D96-8EAA-63DE-FAF3-0790E9ED305D}"/>
              </a:ext>
            </a:extLst>
          </p:cNvPr>
          <p:cNvGraphicFramePr>
            <a:graphicFrameLocks noGrp="1"/>
          </p:cNvGraphicFramePr>
          <p:nvPr>
            <p:extLst>
              <p:ext uri="{D42A27DB-BD31-4B8C-83A1-F6EECF244321}">
                <p14:modId xmlns:p14="http://schemas.microsoft.com/office/powerpoint/2010/main" val="1358906134"/>
              </p:ext>
            </p:extLst>
          </p:nvPr>
        </p:nvGraphicFramePr>
        <p:xfrm>
          <a:off x="1295400" y="1413111"/>
          <a:ext cx="9296400" cy="6472497"/>
        </p:xfrm>
        <a:graphic>
          <a:graphicData uri="http://schemas.openxmlformats.org/drawingml/2006/table">
            <a:tbl>
              <a:tblPr firstRow="1" firstCol="1" bandRow="1">
                <a:tableStyleId>{912C8C85-51F0-491E-9774-3900AFEF0FD7}</a:tableStyleId>
              </a:tblPr>
              <a:tblGrid>
                <a:gridCol w="2243958">
                  <a:extLst>
                    <a:ext uri="{9D8B030D-6E8A-4147-A177-3AD203B41FA5}">
                      <a16:colId xmlns:a16="http://schemas.microsoft.com/office/drawing/2014/main" val="3289832290"/>
                    </a:ext>
                  </a:extLst>
                </a:gridCol>
                <a:gridCol w="2083675">
                  <a:extLst>
                    <a:ext uri="{9D8B030D-6E8A-4147-A177-3AD203B41FA5}">
                      <a16:colId xmlns:a16="http://schemas.microsoft.com/office/drawing/2014/main" val="594071779"/>
                    </a:ext>
                  </a:extLst>
                </a:gridCol>
                <a:gridCol w="2243958">
                  <a:extLst>
                    <a:ext uri="{9D8B030D-6E8A-4147-A177-3AD203B41FA5}">
                      <a16:colId xmlns:a16="http://schemas.microsoft.com/office/drawing/2014/main" val="560541299"/>
                    </a:ext>
                  </a:extLst>
                </a:gridCol>
                <a:gridCol w="2724809">
                  <a:extLst>
                    <a:ext uri="{9D8B030D-6E8A-4147-A177-3AD203B41FA5}">
                      <a16:colId xmlns:a16="http://schemas.microsoft.com/office/drawing/2014/main" val="3778201619"/>
                    </a:ext>
                  </a:extLst>
                </a:gridCol>
              </a:tblGrid>
              <a:tr h="582063">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Field Name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Data Type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Key / Constraints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Description &amp; Purpose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extLst>
                  <a:ext uri="{0D108BD9-81ED-4DB2-BD59-A6C34878D82A}">
                    <a16:rowId xmlns:a16="http://schemas.microsoft.com/office/drawing/2014/main" val="703768398"/>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PRIMARY KEY, AUTO_INC</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Unique delivery staff profile 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931983131"/>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user_id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FOREIGN KEY (users.id)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Linked user account 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102860161"/>
                  </a:ext>
                </a:extLst>
              </a:tr>
              <a:tr h="481781">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vehicle_type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VARCHAR(50)</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Type of vehicle (Bike, Scooter)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626285162"/>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vehicle_number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VARCHAR(50)</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Vehicle license plate number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985237788"/>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current_lat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DECIMAL(10,8)</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Live GPS latitude coordinate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264680678"/>
                  </a:ext>
                </a:extLst>
              </a:tr>
              <a:tr h="481781">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current_lng</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DECIMAL(11,8)</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Live GPS longitude coordinate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915946452"/>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is_available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BOOLEAN</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DEFAULT TRUE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Staff active duty status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600641495"/>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created_at / updated_at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TIMESTAMP</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rPr>
                        <a:t>Audit timestamps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360105990"/>
                  </a:ext>
                </a:extLst>
              </a:tr>
            </a:tbl>
          </a:graphicData>
        </a:graphic>
      </p:graphicFrame>
    </p:spTree>
    <p:extLst>
      <p:ext uri="{BB962C8B-B14F-4D97-AF65-F5344CB8AC3E}">
        <p14:creationId xmlns:p14="http://schemas.microsoft.com/office/powerpoint/2010/main" val="33088520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728F4-498F-EACE-527B-53F81C993217}"/>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531F5207-1C57-5181-BEEA-40051A42CA78}"/>
              </a:ext>
            </a:extLst>
          </p:cNvPr>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a:extLst>
              <a:ext uri="{FF2B5EF4-FFF2-40B4-BE49-F238E27FC236}">
                <a16:creationId xmlns:a16="http://schemas.microsoft.com/office/drawing/2014/main" id="{43838B7A-F3AB-16A7-CC84-C5DA3D10DF70}"/>
              </a:ext>
            </a:extLst>
          </p:cNvPr>
          <p:cNvGrpSpPr/>
          <p:nvPr/>
        </p:nvGrpSpPr>
        <p:grpSpPr>
          <a:xfrm>
            <a:off x="-720824" y="9258300"/>
            <a:ext cx="19729648" cy="1630997"/>
            <a:chOff x="0" y="0"/>
            <a:chExt cx="5196286" cy="429563"/>
          </a:xfrm>
        </p:grpSpPr>
        <p:sp>
          <p:nvSpPr>
            <p:cNvPr id="4" name="Freeform 4">
              <a:extLst>
                <a:ext uri="{FF2B5EF4-FFF2-40B4-BE49-F238E27FC236}">
                  <a16:creationId xmlns:a16="http://schemas.microsoft.com/office/drawing/2014/main" id="{1889FFDA-8128-5148-5BD6-DB5FCFA9AB55}"/>
                </a:ext>
              </a:extLst>
            </p:cNvPr>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a:extLst>
                <a:ext uri="{FF2B5EF4-FFF2-40B4-BE49-F238E27FC236}">
                  <a16:creationId xmlns:a16="http://schemas.microsoft.com/office/drawing/2014/main" id="{ED785167-442E-F093-A8BC-9D05312FB81B}"/>
                </a:ext>
              </a:extLst>
            </p:cNvPr>
            <p:cNvSpPr txBox="1"/>
            <p:nvPr/>
          </p:nvSpPr>
          <p:spPr>
            <a:xfrm>
              <a:off x="0" y="-38100"/>
              <a:ext cx="5196286" cy="467663"/>
            </a:xfrm>
            <a:prstGeom prst="rect">
              <a:avLst/>
            </a:prstGeom>
          </p:spPr>
          <p:txBody>
            <a:bodyPr lIns="50800" tIns="50800" rIns="50800" bIns="50800" rtlCol="0" anchor="ctr"/>
            <a:lstStyle/>
            <a:p>
              <a:pPr algn="ctr">
                <a:lnSpc>
                  <a:spcPts val="2659"/>
                </a:lnSpc>
              </a:pPr>
              <a:endParaRPr/>
            </a:p>
          </p:txBody>
        </p:sp>
      </p:grpSp>
      <p:sp>
        <p:nvSpPr>
          <p:cNvPr id="6" name="TextBox 6">
            <a:extLst>
              <a:ext uri="{FF2B5EF4-FFF2-40B4-BE49-F238E27FC236}">
                <a16:creationId xmlns:a16="http://schemas.microsoft.com/office/drawing/2014/main" id="{82CFF713-D954-4C34-41C2-A6AC52181B77}"/>
              </a:ext>
            </a:extLst>
          </p:cNvPr>
          <p:cNvSpPr txBox="1"/>
          <p:nvPr/>
        </p:nvSpPr>
        <p:spPr>
          <a:xfrm>
            <a:off x="1600200" y="333400"/>
            <a:ext cx="12268200" cy="861774"/>
          </a:xfrm>
          <a:prstGeom prst="rect">
            <a:avLst/>
          </a:prstGeom>
        </p:spPr>
        <p:txBody>
          <a:bodyPr wrap="square" lIns="0" tIns="0" rIns="0" bIns="0" rtlCol="0" anchor="t">
            <a:spAutoFit/>
          </a:bodyPr>
          <a:lstStyle/>
          <a:p>
            <a:r>
              <a:rPr lang="en-US" sz="2800" dirty="0">
                <a:solidFill>
                  <a:srgbClr val="231816"/>
                </a:solidFill>
                <a:latin typeface="Bugaki"/>
                <a:ea typeface="Bugaki"/>
                <a:cs typeface="Bugaki"/>
                <a:sym typeface="Bugaki"/>
              </a:rPr>
              <a:t>Data Dictionary</a:t>
            </a:r>
          </a:p>
          <a:p>
            <a:pPr marL="457200" indent="-457200">
              <a:buFont typeface="Arial" panose="020B0604020202020204" pitchFamily="34" charset="0"/>
              <a:buChar char="•"/>
            </a:pPr>
            <a:r>
              <a:rPr lang="en-US" sz="2800" b="1" dirty="0"/>
              <a:t>addresses</a:t>
            </a:r>
            <a:endParaRPr lang="en-US" sz="2800" b="1" dirty="0">
              <a:solidFill>
                <a:srgbClr val="231816"/>
              </a:solidFill>
              <a:latin typeface="Bugaki"/>
              <a:ea typeface="Bugaki"/>
              <a:cs typeface="Bugaki"/>
              <a:sym typeface="Bugaki"/>
            </a:endParaRPr>
          </a:p>
        </p:txBody>
      </p:sp>
      <p:graphicFrame>
        <p:nvGraphicFramePr>
          <p:cNvPr id="7" name="Table 6">
            <a:extLst>
              <a:ext uri="{FF2B5EF4-FFF2-40B4-BE49-F238E27FC236}">
                <a16:creationId xmlns:a16="http://schemas.microsoft.com/office/drawing/2014/main" id="{17BE3B11-AE36-D77D-B806-2652F819EB11}"/>
              </a:ext>
            </a:extLst>
          </p:cNvPr>
          <p:cNvGraphicFramePr>
            <a:graphicFrameLocks noGrp="1"/>
          </p:cNvGraphicFramePr>
          <p:nvPr>
            <p:extLst>
              <p:ext uri="{D42A27DB-BD31-4B8C-83A1-F6EECF244321}">
                <p14:modId xmlns:p14="http://schemas.microsoft.com/office/powerpoint/2010/main" val="2112464698"/>
              </p:ext>
            </p:extLst>
          </p:nvPr>
        </p:nvGraphicFramePr>
        <p:xfrm>
          <a:off x="1295400" y="1413111"/>
          <a:ext cx="9296400" cy="7644236"/>
        </p:xfrm>
        <a:graphic>
          <a:graphicData uri="http://schemas.openxmlformats.org/drawingml/2006/table">
            <a:tbl>
              <a:tblPr firstRow="1" firstCol="1" bandRow="1">
                <a:tableStyleId>{912C8C85-51F0-491E-9774-3900AFEF0FD7}</a:tableStyleId>
              </a:tblPr>
              <a:tblGrid>
                <a:gridCol w="2243958">
                  <a:extLst>
                    <a:ext uri="{9D8B030D-6E8A-4147-A177-3AD203B41FA5}">
                      <a16:colId xmlns:a16="http://schemas.microsoft.com/office/drawing/2014/main" val="3289832290"/>
                    </a:ext>
                  </a:extLst>
                </a:gridCol>
                <a:gridCol w="2083675">
                  <a:extLst>
                    <a:ext uri="{9D8B030D-6E8A-4147-A177-3AD203B41FA5}">
                      <a16:colId xmlns:a16="http://schemas.microsoft.com/office/drawing/2014/main" val="594071779"/>
                    </a:ext>
                  </a:extLst>
                </a:gridCol>
                <a:gridCol w="2243958">
                  <a:extLst>
                    <a:ext uri="{9D8B030D-6E8A-4147-A177-3AD203B41FA5}">
                      <a16:colId xmlns:a16="http://schemas.microsoft.com/office/drawing/2014/main" val="560541299"/>
                    </a:ext>
                  </a:extLst>
                </a:gridCol>
                <a:gridCol w="2724809">
                  <a:extLst>
                    <a:ext uri="{9D8B030D-6E8A-4147-A177-3AD203B41FA5}">
                      <a16:colId xmlns:a16="http://schemas.microsoft.com/office/drawing/2014/main" val="3778201619"/>
                    </a:ext>
                  </a:extLst>
                </a:gridCol>
              </a:tblGrid>
              <a:tr h="582063">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Field Name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Data Type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Key / Constraints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Description &amp; Purpose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extLst>
                  <a:ext uri="{0D108BD9-81ED-4DB2-BD59-A6C34878D82A}">
                    <a16:rowId xmlns:a16="http://schemas.microsoft.com/office/drawing/2014/main" val="703768398"/>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PRIMARY KEY, AUTO_INC</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Unique address identifier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931983131"/>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user_id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FOREIGN KEY (users.id)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Customer owning address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102860161"/>
                  </a:ext>
                </a:extLst>
              </a:tr>
              <a:tr h="481781">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address_line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TEXT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Street address and landmark</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626285162"/>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city</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VARCHAR(100)</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City name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985237788"/>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state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VARCHAR(100)</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State / Province name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264680678"/>
                  </a:ext>
                </a:extLst>
              </a:tr>
              <a:tr h="481781">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pincode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VARCHAR(20)</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Postal code / Zip code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915946452"/>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lat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DECIMAL(10,8)</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Geocoded latitude coordinate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600641495"/>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lng</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DECIMAL(11,8)</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Geocoded longitude coordinate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360105990"/>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is_default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BOOLEAN</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DEFAULT FALSE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Primary address indicator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12249399"/>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created_at / updated_at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TIMESTAMP</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rPr>
                        <a:t>Audit timestamps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848344444"/>
                  </a:ext>
                </a:extLst>
              </a:tr>
            </a:tbl>
          </a:graphicData>
        </a:graphic>
      </p:graphicFrame>
    </p:spTree>
    <p:extLst>
      <p:ext uri="{BB962C8B-B14F-4D97-AF65-F5344CB8AC3E}">
        <p14:creationId xmlns:p14="http://schemas.microsoft.com/office/powerpoint/2010/main" val="21096291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8300B-4B26-CC4B-3384-CC4363A8EB9D}"/>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E8E87F95-E0F8-C4C9-3A31-145FB8DBFD96}"/>
              </a:ext>
            </a:extLst>
          </p:cNvPr>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a:extLst>
              <a:ext uri="{FF2B5EF4-FFF2-40B4-BE49-F238E27FC236}">
                <a16:creationId xmlns:a16="http://schemas.microsoft.com/office/drawing/2014/main" id="{4FB28827-B4E9-B66C-3EB3-8B52884953AE}"/>
              </a:ext>
            </a:extLst>
          </p:cNvPr>
          <p:cNvGrpSpPr/>
          <p:nvPr/>
        </p:nvGrpSpPr>
        <p:grpSpPr>
          <a:xfrm>
            <a:off x="-720824" y="9258300"/>
            <a:ext cx="19729648" cy="1630997"/>
            <a:chOff x="0" y="0"/>
            <a:chExt cx="5196286" cy="429563"/>
          </a:xfrm>
        </p:grpSpPr>
        <p:sp>
          <p:nvSpPr>
            <p:cNvPr id="4" name="Freeform 4">
              <a:extLst>
                <a:ext uri="{FF2B5EF4-FFF2-40B4-BE49-F238E27FC236}">
                  <a16:creationId xmlns:a16="http://schemas.microsoft.com/office/drawing/2014/main" id="{DF453722-A86F-82A7-F184-ACA71B6DBBF8}"/>
                </a:ext>
              </a:extLst>
            </p:cNvPr>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a:extLst>
                <a:ext uri="{FF2B5EF4-FFF2-40B4-BE49-F238E27FC236}">
                  <a16:creationId xmlns:a16="http://schemas.microsoft.com/office/drawing/2014/main" id="{C40B8D69-E106-832E-B7A0-E32F34B305C9}"/>
                </a:ext>
              </a:extLst>
            </p:cNvPr>
            <p:cNvSpPr txBox="1"/>
            <p:nvPr/>
          </p:nvSpPr>
          <p:spPr>
            <a:xfrm>
              <a:off x="0" y="-38100"/>
              <a:ext cx="5196286" cy="467663"/>
            </a:xfrm>
            <a:prstGeom prst="rect">
              <a:avLst/>
            </a:prstGeom>
          </p:spPr>
          <p:txBody>
            <a:bodyPr lIns="50800" tIns="50800" rIns="50800" bIns="50800" rtlCol="0" anchor="ctr"/>
            <a:lstStyle/>
            <a:p>
              <a:pPr algn="ctr">
                <a:lnSpc>
                  <a:spcPts val="2659"/>
                </a:lnSpc>
              </a:pPr>
              <a:endParaRPr/>
            </a:p>
          </p:txBody>
        </p:sp>
      </p:grpSp>
      <p:sp>
        <p:nvSpPr>
          <p:cNvPr id="6" name="TextBox 6">
            <a:extLst>
              <a:ext uri="{FF2B5EF4-FFF2-40B4-BE49-F238E27FC236}">
                <a16:creationId xmlns:a16="http://schemas.microsoft.com/office/drawing/2014/main" id="{2150CBBC-1D02-2E33-AD85-938BCBAC50A0}"/>
              </a:ext>
            </a:extLst>
          </p:cNvPr>
          <p:cNvSpPr txBox="1"/>
          <p:nvPr/>
        </p:nvSpPr>
        <p:spPr>
          <a:xfrm>
            <a:off x="1600200" y="333400"/>
            <a:ext cx="12268200" cy="861774"/>
          </a:xfrm>
          <a:prstGeom prst="rect">
            <a:avLst/>
          </a:prstGeom>
        </p:spPr>
        <p:txBody>
          <a:bodyPr wrap="square" lIns="0" tIns="0" rIns="0" bIns="0" rtlCol="0" anchor="t">
            <a:spAutoFit/>
          </a:bodyPr>
          <a:lstStyle/>
          <a:p>
            <a:r>
              <a:rPr lang="en-US" sz="2800" dirty="0">
                <a:solidFill>
                  <a:srgbClr val="231816"/>
                </a:solidFill>
                <a:latin typeface="Bugaki"/>
                <a:ea typeface="Bugaki"/>
                <a:cs typeface="Bugaki"/>
                <a:sym typeface="Bugaki"/>
              </a:rPr>
              <a:t>Data Dictionary</a:t>
            </a:r>
          </a:p>
          <a:p>
            <a:pPr marL="457200" indent="-457200">
              <a:buFont typeface="Arial" panose="020B0604020202020204" pitchFamily="34" charset="0"/>
              <a:buChar char="•"/>
            </a:pPr>
            <a:r>
              <a:rPr lang="en-US" sz="2800" b="1" dirty="0"/>
              <a:t>orders</a:t>
            </a:r>
            <a:endParaRPr lang="en-US" sz="2800" b="1" dirty="0">
              <a:solidFill>
                <a:srgbClr val="231816"/>
              </a:solidFill>
              <a:latin typeface="Bugaki"/>
              <a:ea typeface="Bugaki"/>
              <a:cs typeface="Bugaki"/>
              <a:sym typeface="Bugaki"/>
            </a:endParaRPr>
          </a:p>
        </p:txBody>
      </p:sp>
      <p:graphicFrame>
        <p:nvGraphicFramePr>
          <p:cNvPr id="8" name="Table 7">
            <a:extLst>
              <a:ext uri="{FF2B5EF4-FFF2-40B4-BE49-F238E27FC236}">
                <a16:creationId xmlns:a16="http://schemas.microsoft.com/office/drawing/2014/main" id="{0D52F42D-C442-1809-9509-180732C2C2AA}"/>
              </a:ext>
            </a:extLst>
          </p:cNvPr>
          <p:cNvGraphicFramePr>
            <a:graphicFrameLocks noGrp="1"/>
          </p:cNvGraphicFramePr>
          <p:nvPr>
            <p:extLst>
              <p:ext uri="{D42A27DB-BD31-4B8C-83A1-F6EECF244321}">
                <p14:modId xmlns:p14="http://schemas.microsoft.com/office/powerpoint/2010/main" val="3657691673"/>
              </p:ext>
            </p:extLst>
          </p:nvPr>
        </p:nvGraphicFramePr>
        <p:xfrm>
          <a:off x="1273630" y="1328948"/>
          <a:ext cx="9048945" cy="7472148"/>
        </p:xfrm>
        <a:graphic>
          <a:graphicData uri="http://schemas.openxmlformats.org/drawingml/2006/table">
            <a:tbl>
              <a:tblPr firstRow="1" firstCol="1" bandRow="1">
                <a:tableStyleId>{912C8C85-51F0-491E-9774-3900AFEF0FD7}</a:tableStyleId>
              </a:tblPr>
              <a:tblGrid>
                <a:gridCol w="2090628">
                  <a:extLst>
                    <a:ext uri="{9D8B030D-6E8A-4147-A177-3AD203B41FA5}">
                      <a16:colId xmlns:a16="http://schemas.microsoft.com/office/drawing/2014/main" val="2222563771"/>
                    </a:ext>
                  </a:extLst>
                </a:gridCol>
                <a:gridCol w="2952584">
                  <a:extLst>
                    <a:ext uri="{9D8B030D-6E8A-4147-A177-3AD203B41FA5}">
                      <a16:colId xmlns:a16="http://schemas.microsoft.com/office/drawing/2014/main" val="2087492948"/>
                    </a:ext>
                  </a:extLst>
                </a:gridCol>
                <a:gridCol w="2043615">
                  <a:extLst>
                    <a:ext uri="{9D8B030D-6E8A-4147-A177-3AD203B41FA5}">
                      <a16:colId xmlns:a16="http://schemas.microsoft.com/office/drawing/2014/main" val="2450471187"/>
                    </a:ext>
                  </a:extLst>
                </a:gridCol>
                <a:gridCol w="1962118">
                  <a:extLst>
                    <a:ext uri="{9D8B030D-6E8A-4147-A177-3AD203B41FA5}">
                      <a16:colId xmlns:a16="http://schemas.microsoft.com/office/drawing/2014/main" val="4028601556"/>
                    </a:ext>
                  </a:extLst>
                </a:gridCol>
              </a:tblGrid>
              <a:tr h="426040">
                <a:tc>
                  <a:txBody>
                    <a:bodyPr/>
                    <a:lstStyle/>
                    <a:p>
                      <a:pPr>
                        <a:lnSpc>
                          <a:spcPct val="115000"/>
                        </a:lnSpc>
                        <a:spcAft>
                          <a:spcPts val="1000"/>
                        </a:spcAft>
                        <a:buNone/>
                      </a:pPr>
                      <a:r>
                        <a:rPr lang="en-US" sz="1200">
                          <a:effectLst/>
                        </a:rPr>
                        <a:t>Field Name</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48943" marB="48943"/>
                </a:tc>
                <a:tc>
                  <a:txBody>
                    <a:bodyPr/>
                    <a:lstStyle/>
                    <a:p>
                      <a:pPr>
                        <a:lnSpc>
                          <a:spcPct val="115000"/>
                        </a:lnSpc>
                        <a:spcAft>
                          <a:spcPts val="1000"/>
                        </a:spcAft>
                        <a:buNone/>
                      </a:pPr>
                      <a:r>
                        <a:rPr lang="en-US" sz="1200">
                          <a:effectLst/>
                        </a:rPr>
                        <a:t>Data Type</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48943" marB="48943"/>
                </a:tc>
                <a:tc>
                  <a:txBody>
                    <a:bodyPr/>
                    <a:lstStyle/>
                    <a:p>
                      <a:pPr>
                        <a:lnSpc>
                          <a:spcPct val="115000"/>
                        </a:lnSpc>
                        <a:spcAft>
                          <a:spcPts val="1000"/>
                        </a:spcAft>
                        <a:buNone/>
                      </a:pPr>
                      <a:r>
                        <a:rPr lang="en-US" sz="1200">
                          <a:effectLst/>
                        </a:rPr>
                        <a:t>Key / Constraints</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48943" marB="48943"/>
                </a:tc>
                <a:tc>
                  <a:txBody>
                    <a:bodyPr/>
                    <a:lstStyle/>
                    <a:p>
                      <a:pPr>
                        <a:lnSpc>
                          <a:spcPct val="115000"/>
                        </a:lnSpc>
                        <a:spcAft>
                          <a:spcPts val="1000"/>
                        </a:spcAft>
                        <a:buNone/>
                      </a:pPr>
                      <a:r>
                        <a:rPr lang="en-US" sz="1200">
                          <a:effectLst/>
                        </a:rPr>
                        <a:t>Description &amp; Purpose</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48943" marB="48943"/>
                </a:tc>
                <a:extLst>
                  <a:ext uri="{0D108BD9-81ED-4DB2-BD59-A6C34878D82A}">
                    <a16:rowId xmlns:a16="http://schemas.microsoft.com/office/drawing/2014/main" val="2841954904"/>
                  </a:ext>
                </a:extLst>
              </a:tr>
              <a:tr h="540193">
                <a:tc>
                  <a:txBody>
                    <a:bodyPr/>
                    <a:lstStyle/>
                    <a:p>
                      <a:pPr>
                        <a:lnSpc>
                          <a:spcPct val="115000"/>
                        </a:lnSpc>
                        <a:spcAft>
                          <a:spcPts val="1000"/>
                        </a:spcAft>
                        <a:buNone/>
                      </a:pPr>
                      <a:r>
                        <a:rPr lang="en-US" sz="1200">
                          <a:effectLst/>
                        </a:rPr>
                        <a:t>id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BIGINT UNSIGNED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PRIMARY KEY, AUTO_INC</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Unique order record identifier</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1084961145"/>
                  </a:ext>
                </a:extLst>
              </a:tr>
              <a:tr h="540193">
                <a:tc>
                  <a:txBody>
                    <a:bodyPr/>
                    <a:lstStyle/>
                    <a:p>
                      <a:pPr>
                        <a:lnSpc>
                          <a:spcPct val="115000"/>
                        </a:lnSpc>
                        <a:spcAft>
                          <a:spcPts val="1000"/>
                        </a:spcAft>
                        <a:buNone/>
                      </a:pPr>
                      <a:r>
                        <a:rPr lang="en-US" sz="1200">
                          <a:effectLst/>
                        </a:rPr>
                        <a:t>order_number</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VARCHAR(255)</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UNIQUE</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Human readable order number (e.g., ORD1001)</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3661239210"/>
                  </a:ext>
                </a:extLst>
              </a:tr>
              <a:tr h="370266">
                <a:tc>
                  <a:txBody>
                    <a:bodyPr/>
                    <a:lstStyle/>
                    <a:p>
                      <a:pPr>
                        <a:lnSpc>
                          <a:spcPct val="115000"/>
                        </a:lnSpc>
                        <a:spcAft>
                          <a:spcPts val="1000"/>
                        </a:spcAft>
                        <a:buNone/>
                      </a:pPr>
                      <a:r>
                        <a:rPr lang="en-US" sz="1200">
                          <a:effectLst/>
                        </a:rPr>
                        <a:t>user_id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BIGINT UNSIGNED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FOREIGN KEY (users.id)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Customer placing order</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632634182"/>
                  </a:ext>
                </a:extLst>
              </a:tr>
              <a:tr h="540193">
                <a:tc>
                  <a:txBody>
                    <a:bodyPr/>
                    <a:lstStyle/>
                    <a:p>
                      <a:pPr>
                        <a:lnSpc>
                          <a:spcPct val="115000"/>
                        </a:lnSpc>
                        <a:spcAft>
                          <a:spcPts val="1000"/>
                        </a:spcAft>
                        <a:buNone/>
                      </a:pPr>
                      <a:r>
                        <a:rPr lang="en-US" sz="1200">
                          <a:effectLst/>
                        </a:rPr>
                        <a:t>delivery_person_id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BIGINT UNSIGNED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FOREIGN KEY (delivery_persons.id)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Assigned delivery agent ID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2240081270"/>
                  </a:ext>
                </a:extLst>
              </a:tr>
              <a:tr h="370266">
                <a:tc>
                  <a:txBody>
                    <a:bodyPr/>
                    <a:lstStyle/>
                    <a:p>
                      <a:pPr>
                        <a:lnSpc>
                          <a:spcPct val="115000"/>
                        </a:lnSpc>
                        <a:spcAft>
                          <a:spcPts val="1000"/>
                        </a:spcAft>
                        <a:buNone/>
                      </a:pPr>
                      <a:r>
                        <a:rPr lang="en-US" sz="1200">
                          <a:effectLst/>
                        </a:rPr>
                        <a:t>address_id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dirty="0">
                          <a:effectLst/>
                        </a:rPr>
                        <a:t>BIGINT UNSIGNED</a:t>
                      </a:r>
                      <a:endParaRPr lang="en-IN" sz="12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FOREIGN KEY (addresses.id)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Target delivery destination</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1346286352"/>
                  </a:ext>
                </a:extLst>
              </a:tr>
              <a:tr h="370266">
                <a:tc>
                  <a:txBody>
                    <a:bodyPr/>
                    <a:lstStyle/>
                    <a:p>
                      <a:pPr>
                        <a:lnSpc>
                          <a:spcPct val="115000"/>
                        </a:lnSpc>
                        <a:spcAft>
                          <a:spcPts val="1000"/>
                        </a:spcAft>
                        <a:buNone/>
                      </a:pPr>
                      <a:r>
                        <a:rPr lang="en-US" sz="1200">
                          <a:effectLst/>
                        </a:rPr>
                        <a:t>subtotal</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DECIMAL(10,2)</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None</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dirty="0">
                          <a:effectLst/>
                        </a:rPr>
                        <a:t>Sum of menu item prices</a:t>
                      </a:r>
                      <a:endParaRPr lang="en-IN" sz="12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2217018499"/>
                  </a:ext>
                </a:extLst>
              </a:tr>
              <a:tr h="302629">
                <a:tc>
                  <a:txBody>
                    <a:bodyPr/>
                    <a:lstStyle/>
                    <a:p>
                      <a:pPr>
                        <a:lnSpc>
                          <a:spcPct val="115000"/>
                        </a:lnSpc>
                        <a:spcAft>
                          <a:spcPts val="1000"/>
                        </a:spcAft>
                        <a:buNone/>
                      </a:pPr>
                      <a:r>
                        <a:rPr lang="en-US" sz="1200">
                          <a:effectLst/>
                        </a:rPr>
                        <a:t>tax</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DECIMAL(10,2)</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DEFAULT 0.00</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Applied tax amount</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1680948751"/>
                  </a:ext>
                </a:extLst>
              </a:tr>
              <a:tr h="540193">
                <a:tc>
                  <a:txBody>
                    <a:bodyPr/>
                    <a:lstStyle/>
                    <a:p>
                      <a:pPr>
                        <a:lnSpc>
                          <a:spcPct val="115000"/>
                        </a:lnSpc>
                        <a:spcAft>
                          <a:spcPts val="1000"/>
                        </a:spcAft>
                        <a:buNone/>
                      </a:pPr>
                      <a:r>
                        <a:rPr lang="en-US" sz="1200">
                          <a:effectLst/>
                        </a:rPr>
                        <a:t>delivery_fee</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DECIMAL(10,2)</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DEFAULT 0.00</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Distance computed delivery fee</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3435222385"/>
                  </a:ext>
                </a:extLst>
              </a:tr>
              <a:tr h="370266">
                <a:tc>
                  <a:txBody>
                    <a:bodyPr/>
                    <a:lstStyle/>
                    <a:p>
                      <a:pPr>
                        <a:lnSpc>
                          <a:spcPct val="115000"/>
                        </a:lnSpc>
                        <a:spcAft>
                          <a:spcPts val="1000"/>
                        </a:spcAft>
                        <a:buNone/>
                      </a:pPr>
                      <a:r>
                        <a:rPr lang="en-US" sz="1200">
                          <a:effectLst/>
                        </a:rPr>
                        <a:t>total_amount</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DECIMAL(10,2)</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None</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Final order grand total</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144128110"/>
                  </a:ext>
                </a:extLst>
              </a:tr>
              <a:tr h="370266">
                <a:tc>
                  <a:txBody>
                    <a:bodyPr/>
                    <a:lstStyle/>
                    <a:p>
                      <a:pPr>
                        <a:lnSpc>
                          <a:spcPct val="115000"/>
                        </a:lnSpc>
                        <a:spcAft>
                          <a:spcPts val="1000"/>
                        </a:spcAft>
                        <a:buNone/>
                      </a:pPr>
                      <a:r>
                        <a:rPr lang="en-US" sz="1200">
                          <a:effectLst/>
                        </a:rPr>
                        <a:t>payment_method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ENUM('COD','Razorpay')</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DEFAULT 'COD'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Selected payment channel</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3564212823"/>
                  </a:ext>
                </a:extLst>
              </a:tr>
              <a:tr h="370266">
                <a:tc>
                  <a:txBody>
                    <a:bodyPr/>
                    <a:lstStyle/>
                    <a:p>
                      <a:pPr>
                        <a:lnSpc>
                          <a:spcPct val="115000"/>
                        </a:lnSpc>
                        <a:spcAft>
                          <a:spcPts val="1000"/>
                        </a:spcAft>
                        <a:buNone/>
                      </a:pPr>
                      <a:r>
                        <a:rPr lang="en-US" sz="1200">
                          <a:effectLst/>
                        </a:rPr>
                        <a:t>payment_status</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ENUM('pending','paid','failed')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DEFAULT 'pending'</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Payment settlement status</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878946693"/>
                  </a:ext>
                </a:extLst>
              </a:tr>
              <a:tr h="370266">
                <a:tc>
                  <a:txBody>
                    <a:bodyPr/>
                    <a:lstStyle/>
                    <a:p>
                      <a:pPr>
                        <a:lnSpc>
                          <a:spcPct val="115000"/>
                        </a:lnSpc>
                        <a:spcAft>
                          <a:spcPts val="1000"/>
                        </a:spcAft>
                        <a:buNone/>
                      </a:pPr>
                      <a:r>
                        <a:rPr lang="en-US" sz="1200">
                          <a:effectLst/>
                        </a:rPr>
                        <a:t>razorpay_order_id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VARCHAR(255)</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None</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External Razorpay order ID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1035094795"/>
                  </a:ext>
                </a:extLst>
              </a:tr>
              <a:tr h="540193">
                <a:tc>
                  <a:txBody>
                    <a:bodyPr/>
                    <a:lstStyle/>
                    <a:p>
                      <a:pPr>
                        <a:lnSpc>
                          <a:spcPct val="115000"/>
                        </a:lnSpc>
                        <a:spcAft>
                          <a:spcPts val="1000"/>
                        </a:spcAft>
                        <a:buNone/>
                      </a:pPr>
                      <a:r>
                        <a:rPr lang="en-US" sz="1200">
                          <a:effectLst/>
                        </a:rPr>
                        <a:t>razorpay_payment_id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VARCHAR(255)</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None</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External Razorpay transaction reference</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4120431794"/>
                  </a:ext>
                </a:extLst>
              </a:tr>
              <a:tr h="540193">
                <a:tc>
                  <a:txBody>
                    <a:bodyPr/>
                    <a:lstStyle/>
                    <a:p>
                      <a:pPr>
                        <a:lnSpc>
                          <a:spcPct val="115000"/>
                        </a:lnSpc>
                        <a:spcAft>
                          <a:spcPts val="1000"/>
                        </a:spcAft>
                        <a:buNone/>
                      </a:pPr>
                      <a:r>
                        <a:rPr lang="en-US" sz="1200">
                          <a:effectLst/>
                        </a:rPr>
                        <a:t>order_status</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ENUM('Pending','Preparing','Out for Delivery','Delivered','Cancelled')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dirty="0">
                          <a:effectLst/>
                        </a:rPr>
                        <a:t>DEFAULT 'Pending'</a:t>
                      </a:r>
                      <a:endParaRPr lang="en-IN" sz="12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Current fulfillment stage</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3757110364"/>
                  </a:ext>
                </a:extLst>
              </a:tr>
              <a:tr h="540193">
                <a:tc>
                  <a:txBody>
                    <a:bodyPr/>
                    <a:lstStyle/>
                    <a:p>
                      <a:pPr>
                        <a:lnSpc>
                          <a:spcPct val="115000"/>
                        </a:lnSpc>
                        <a:spcAft>
                          <a:spcPts val="1000"/>
                        </a:spcAft>
                        <a:buNone/>
                      </a:pPr>
                      <a:r>
                        <a:rPr lang="en-US" sz="1200">
                          <a:effectLst/>
                        </a:rPr>
                        <a:t>notes</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TEXT</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None</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Customer cooking/delivery instructions</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248661829"/>
                  </a:ext>
                </a:extLst>
              </a:tr>
              <a:tr h="370266">
                <a:tc>
                  <a:txBody>
                    <a:bodyPr/>
                    <a:lstStyle/>
                    <a:p>
                      <a:pPr>
                        <a:lnSpc>
                          <a:spcPct val="115000"/>
                        </a:lnSpc>
                        <a:spcAft>
                          <a:spcPts val="1000"/>
                        </a:spcAft>
                        <a:buNone/>
                      </a:pPr>
                      <a:r>
                        <a:rPr lang="en-US" sz="1200">
                          <a:effectLst/>
                        </a:rPr>
                        <a:t>created_at / updated_at</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TIMESTAMP</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None</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dirty="0">
                          <a:effectLst/>
                        </a:rPr>
                        <a:t>Audit timestamps</a:t>
                      </a:r>
                      <a:endParaRPr lang="en-IN" sz="12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1937749034"/>
                  </a:ext>
                </a:extLst>
              </a:tr>
            </a:tbl>
          </a:graphicData>
        </a:graphic>
      </p:graphicFrame>
    </p:spTree>
    <p:extLst>
      <p:ext uri="{BB962C8B-B14F-4D97-AF65-F5344CB8AC3E}">
        <p14:creationId xmlns:p14="http://schemas.microsoft.com/office/powerpoint/2010/main" val="37046534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0774F-642A-5D09-8CD7-BFBC3A1317FC}"/>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AAB58C3A-BFE8-52A3-A77F-5BF649BC556C}"/>
              </a:ext>
            </a:extLst>
          </p:cNvPr>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a:extLst>
              <a:ext uri="{FF2B5EF4-FFF2-40B4-BE49-F238E27FC236}">
                <a16:creationId xmlns:a16="http://schemas.microsoft.com/office/drawing/2014/main" id="{5C5CEEC4-D2C2-BB38-36A9-7AB4AB9C0969}"/>
              </a:ext>
            </a:extLst>
          </p:cNvPr>
          <p:cNvGrpSpPr/>
          <p:nvPr/>
        </p:nvGrpSpPr>
        <p:grpSpPr>
          <a:xfrm>
            <a:off x="-720824" y="9258300"/>
            <a:ext cx="19729648" cy="1630997"/>
            <a:chOff x="0" y="0"/>
            <a:chExt cx="5196286" cy="429563"/>
          </a:xfrm>
        </p:grpSpPr>
        <p:sp>
          <p:nvSpPr>
            <p:cNvPr id="4" name="Freeform 4">
              <a:extLst>
                <a:ext uri="{FF2B5EF4-FFF2-40B4-BE49-F238E27FC236}">
                  <a16:creationId xmlns:a16="http://schemas.microsoft.com/office/drawing/2014/main" id="{E1FE106D-C93D-CD32-A632-BDD2FE6309BB}"/>
                </a:ext>
              </a:extLst>
            </p:cNvPr>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a:extLst>
                <a:ext uri="{FF2B5EF4-FFF2-40B4-BE49-F238E27FC236}">
                  <a16:creationId xmlns:a16="http://schemas.microsoft.com/office/drawing/2014/main" id="{DD51A2D2-ECDE-F0F3-6FF2-E28FECF0FA3C}"/>
                </a:ext>
              </a:extLst>
            </p:cNvPr>
            <p:cNvSpPr txBox="1"/>
            <p:nvPr/>
          </p:nvSpPr>
          <p:spPr>
            <a:xfrm>
              <a:off x="0" y="-38100"/>
              <a:ext cx="5196286" cy="467663"/>
            </a:xfrm>
            <a:prstGeom prst="rect">
              <a:avLst/>
            </a:prstGeom>
          </p:spPr>
          <p:txBody>
            <a:bodyPr lIns="50800" tIns="50800" rIns="50800" bIns="50800" rtlCol="0" anchor="ctr"/>
            <a:lstStyle/>
            <a:p>
              <a:pPr algn="ctr">
                <a:lnSpc>
                  <a:spcPts val="2659"/>
                </a:lnSpc>
              </a:pPr>
              <a:endParaRPr/>
            </a:p>
          </p:txBody>
        </p:sp>
      </p:grpSp>
      <p:sp>
        <p:nvSpPr>
          <p:cNvPr id="6" name="TextBox 6">
            <a:extLst>
              <a:ext uri="{FF2B5EF4-FFF2-40B4-BE49-F238E27FC236}">
                <a16:creationId xmlns:a16="http://schemas.microsoft.com/office/drawing/2014/main" id="{9A113258-BDD0-8942-5BAA-0FD06B4E3601}"/>
              </a:ext>
            </a:extLst>
          </p:cNvPr>
          <p:cNvSpPr txBox="1"/>
          <p:nvPr/>
        </p:nvSpPr>
        <p:spPr>
          <a:xfrm>
            <a:off x="1600200" y="333400"/>
            <a:ext cx="12268200" cy="861774"/>
          </a:xfrm>
          <a:prstGeom prst="rect">
            <a:avLst/>
          </a:prstGeom>
        </p:spPr>
        <p:txBody>
          <a:bodyPr wrap="square" lIns="0" tIns="0" rIns="0" bIns="0" rtlCol="0" anchor="t">
            <a:spAutoFit/>
          </a:bodyPr>
          <a:lstStyle/>
          <a:p>
            <a:r>
              <a:rPr lang="en-US" sz="2800" dirty="0">
                <a:solidFill>
                  <a:srgbClr val="231816"/>
                </a:solidFill>
                <a:latin typeface="Bugaki"/>
                <a:ea typeface="Bugaki"/>
                <a:cs typeface="Bugaki"/>
                <a:sym typeface="Bugaki"/>
              </a:rPr>
              <a:t>Data Dictionary</a:t>
            </a:r>
          </a:p>
          <a:p>
            <a:pPr marL="457200" indent="-457200">
              <a:buFont typeface="Arial" panose="020B0604020202020204" pitchFamily="34" charset="0"/>
              <a:buChar char="•"/>
            </a:pPr>
            <a:r>
              <a:rPr lang="en-US" sz="2800" b="1" dirty="0" err="1"/>
              <a:t>order_items</a:t>
            </a:r>
            <a:endParaRPr lang="en-US" sz="2800" b="1" dirty="0">
              <a:solidFill>
                <a:srgbClr val="231816"/>
              </a:solidFill>
              <a:latin typeface="Bugaki"/>
              <a:ea typeface="Bugaki"/>
              <a:cs typeface="Bugaki"/>
              <a:sym typeface="Bugaki"/>
            </a:endParaRPr>
          </a:p>
        </p:txBody>
      </p:sp>
      <p:graphicFrame>
        <p:nvGraphicFramePr>
          <p:cNvPr id="8" name="Table 7">
            <a:extLst>
              <a:ext uri="{FF2B5EF4-FFF2-40B4-BE49-F238E27FC236}">
                <a16:creationId xmlns:a16="http://schemas.microsoft.com/office/drawing/2014/main" id="{D7406E9B-A4D1-37E7-1011-D4718665B091}"/>
              </a:ext>
            </a:extLst>
          </p:cNvPr>
          <p:cNvGraphicFramePr>
            <a:graphicFrameLocks noGrp="1"/>
          </p:cNvGraphicFramePr>
          <p:nvPr>
            <p:extLst>
              <p:ext uri="{D42A27DB-BD31-4B8C-83A1-F6EECF244321}">
                <p14:modId xmlns:p14="http://schemas.microsoft.com/office/powerpoint/2010/main" val="2750921771"/>
              </p:ext>
            </p:extLst>
          </p:nvPr>
        </p:nvGraphicFramePr>
        <p:xfrm>
          <a:off x="1905000" y="1565214"/>
          <a:ext cx="8595361" cy="6909708"/>
        </p:xfrm>
        <a:graphic>
          <a:graphicData uri="http://schemas.openxmlformats.org/drawingml/2006/table">
            <a:tbl>
              <a:tblPr firstRow="1" firstCol="1" bandRow="1">
                <a:tableStyleId>{912C8C85-51F0-491E-9774-3900AFEF0FD7}</a:tableStyleId>
              </a:tblPr>
              <a:tblGrid>
                <a:gridCol w="2074742">
                  <a:extLst>
                    <a:ext uri="{9D8B030D-6E8A-4147-A177-3AD203B41FA5}">
                      <a16:colId xmlns:a16="http://schemas.microsoft.com/office/drawing/2014/main" val="4136368792"/>
                    </a:ext>
                  </a:extLst>
                </a:gridCol>
                <a:gridCol w="1926547">
                  <a:extLst>
                    <a:ext uri="{9D8B030D-6E8A-4147-A177-3AD203B41FA5}">
                      <a16:colId xmlns:a16="http://schemas.microsoft.com/office/drawing/2014/main" val="520668953"/>
                    </a:ext>
                  </a:extLst>
                </a:gridCol>
                <a:gridCol w="2074742">
                  <a:extLst>
                    <a:ext uri="{9D8B030D-6E8A-4147-A177-3AD203B41FA5}">
                      <a16:colId xmlns:a16="http://schemas.microsoft.com/office/drawing/2014/main" val="434741022"/>
                    </a:ext>
                  </a:extLst>
                </a:gridCol>
                <a:gridCol w="2519330">
                  <a:extLst>
                    <a:ext uri="{9D8B030D-6E8A-4147-A177-3AD203B41FA5}">
                      <a16:colId xmlns:a16="http://schemas.microsoft.com/office/drawing/2014/main" val="2812735460"/>
                    </a:ext>
                  </a:extLst>
                </a:gridCol>
              </a:tblGrid>
              <a:tr h="735002">
                <a:tc>
                  <a:txBody>
                    <a:bodyPr/>
                    <a:lstStyle/>
                    <a:p>
                      <a:pPr>
                        <a:lnSpc>
                          <a:spcPct val="115000"/>
                        </a:lnSpc>
                        <a:spcAft>
                          <a:spcPts val="1000"/>
                        </a:spcAft>
                        <a:buNone/>
                      </a:pPr>
                      <a:r>
                        <a:rPr lang="en-US" sz="1800">
                          <a:effectLst/>
                        </a:rPr>
                        <a:t>Field Name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a:effectLst/>
                        </a:rPr>
                        <a:t>Data Type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a:effectLst/>
                        </a:rPr>
                        <a:t>Key / Constraints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a:effectLst/>
                        </a:rPr>
                        <a:t>Description &amp; Purpose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extLst>
                  <a:ext uri="{0D108BD9-81ED-4DB2-BD59-A6C34878D82A}">
                    <a16:rowId xmlns:a16="http://schemas.microsoft.com/office/drawing/2014/main" val="245987025"/>
                  </a:ext>
                </a:extLst>
              </a:tr>
              <a:tr h="965388">
                <a:tc>
                  <a:txBody>
                    <a:bodyPr/>
                    <a:lstStyle/>
                    <a:p>
                      <a:pPr>
                        <a:lnSpc>
                          <a:spcPct val="115000"/>
                        </a:lnSpc>
                        <a:spcAft>
                          <a:spcPts val="1000"/>
                        </a:spcAft>
                        <a:buNone/>
                      </a:pPr>
                      <a:r>
                        <a:rPr lang="en-US" sz="1800">
                          <a:effectLst/>
                        </a:rPr>
                        <a:t>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PRIMARY KEY, AUTO_INC</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Unique order item line 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903193121"/>
                  </a:ext>
                </a:extLst>
              </a:tr>
              <a:tr h="965388">
                <a:tc>
                  <a:txBody>
                    <a:bodyPr/>
                    <a:lstStyle/>
                    <a:p>
                      <a:pPr>
                        <a:lnSpc>
                          <a:spcPct val="115000"/>
                        </a:lnSpc>
                        <a:spcAft>
                          <a:spcPts val="1000"/>
                        </a:spcAft>
                        <a:buNone/>
                      </a:pPr>
                      <a:r>
                        <a:rPr lang="en-US" sz="1800">
                          <a:effectLst/>
                        </a:rPr>
                        <a:t>order_id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FOREIGN KEY (orders.id)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Parent order reference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742394674"/>
                  </a:ext>
                </a:extLst>
              </a:tr>
              <a:tr h="965388">
                <a:tc>
                  <a:txBody>
                    <a:bodyPr/>
                    <a:lstStyle/>
                    <a:p>
                      <a:pPr>
                        <a:lnSpc>
                          <a:spcPct val="115000"/>
                        </a:lnSpc>
                        <a:spcAft>
                          <a:spcPts val="1000"/>
                        </a:spcAft>
                        <a:buNone/>
                      </a:pPr>
                      <a:r>
                        <a:rPr lang="en-US" sz="1800">
                          <a:effectLst/>
                        </a:rPr>
                        <a:t>menu_item_id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FOREIGN KEY (menu_items.id)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Ordered menu item reference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339794003"/>
                  </a:ext>
                </a:extLst>
              </a:tr>
              <a:tr h="608372">
                <a:tc>
                  <a:txBody>
                    <a:bodyPr/>
                    <a:lstStyle/>
                    <a:p>
                      <a:pPr>
                        <a:lnSpc>
                          <a:spcPct val="115000"/>
                        </a:lnSpc>
                        <a:spcAft>
                          <a:spcPts val="1000"/>
                        </a:spcAft>
                        <a:buNone/>
                      </a:pPr>
                      <a:r>
                        <a:rPr lang="en-US" sz="1800">
                          <a:effectLst/>
                        </a:rPr>
                        <a:t>quantity</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INT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Quantity of dish ordered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833333311"/>
                  </a:ext>
                </a:extLst>
              </a:tr>
              <a:tr h="608372">
                <a:tc>
                  <a:txBody>
                    <a:bodyPr/>
                    <a:lstStyle/>
                    <a:p>
                      <a:pPr>
                        <a:lnSpc>
                          <a:spcPct val="115000"/>
                        </a:lnSpc>
                        <a:spcAft>
                          <a:spcPts val="1000"/>
                        </a:spcAft>
                        <a:buNone/>
                      </a:pPr>
                      <a:r>
                        <a:rPr lang="en-US" sz="1800">
                          <a:effectLst/>
                        </a:rPr>
                        <a:t>unit_price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DECIMAL(10,2)</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Price per unit at order time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882188943"/>
                  </a:ext>
                </a:extLst>
              </a:tr>
              <a:tr h="965388">
                <a:tc>
                  <a:txBody>
                    <a:bodyPr/>
                    <a:lstStyle/>
                    <a:p>
                      <a:pPr>
                        <a:lnSpc>
                          <a:spcPct val="115000"/>
                        </a:lnSpc>
                        <a:spcAft>
                          <a:spcPts val="1000"/>
                        </a:spcAft>
                        <a:buNone/>
                      </a:pPr>
                      <a:r>
                        <a:rPr lang="en-US" sz="1800">
                          <a:effectLst/>
                        </a:rPr>
                        <a:t>total_price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DECIMAL(10,2)</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Total line cost (quantity * unit_price)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4207404766"/>
                  </a:ext>
                </a:extLst>
              </a:tr>
              <a:tr h="965388">
                <a:tc>
                  <a:txBody>
                    <a:bodyPr/>
                    <a:lstStyle/>
                    <a:p>
                      <a:pPr>
                        <a:lnSpc>
                          <a:spcPct val="115000"/>
                        </a:lnSpc>
                        <a:spcAft>
                          <a:spcPts val="1000"/>
                        </a:spcAft>
                        <a:buNone/>
                      </a:pPr>
                      <a:r>
                        <a:rPr lang="en-US" sz="1800">
                          <a:effectLst/>
                        </a:rPr>
                        <a:t>created_at / updated_at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TIMESTAMP</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None</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Audit timestamps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821202096"/>
                  </a:ext>
                </a:extLst>
              </a:tr>
            </a:tbl>
          </a:graphicData>
        </a:graphic>
      </p:graphicFrame>
    </p:spTree>
    <p:extLst>
      <p:ext uri="{BB962C8B-B14F-4D97-AF65-F5344CB8AC3E}">
        <p14:creationId xmlns:p14="http://schemas.microsoft.com/office/powerpoint/2010/main" val="41252682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9FDAA-B8EC-551D-EB7E-DF4104E11B62}"/>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DA8F6B30-074C-2BC0-9BE7-16AA1D1C4A4E}"/>
              </a:ext>
            </a:extLst>
          </p:cNvPr>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a:extLst>
              <a:ext uri="{FF2B5EF4-FFF2-40B4-BE49-F238E27FC236}">
                <a16:creationId xmlns:a16="http://schemas.microsoft.com/office/drawing/2014/main" id="{76965D59-4026-17DE-661E-0F2B7AB8102E}"/>
              </a:ext>
            </a:extLst>
          </p:cNvPr>
          <p:cNvGrpSpPr/>
          <p:nvPr/>
        </p:nvGrpSpPr>
        <p:grpSpPr>
          <a:xfrm>
            <a:off x="-720824" y="9258300"/>
            <a:ext cx="19729648" cy="1630997"/>
            <a:chOff x="0" y="0"/>
            <a:chExt cx="5196286" cy="429563"/>
          </a:xfrm>
        </p:grpSpPr>
        <p:sp>
          <p:nvSpPr>
            <p:cNvPr id="4" name="Freeform 4">
              <a:extLst>
                <a:ext uri="{FF2B5EF4-FFF2-40B4-BE49-F238E27FC236}">
                  <a16:creationId xmlns:a16="http://schemas.microsoft.com/office/drawing/2014/main" id="{725CAD3B-C126-FCE9-7537-81305721A530}"/>
                </a:ext>
              </a:extLst>
            </p:cNvPr>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a:extLst>
                <a:ext uri="{FF2B5EF4-FFF2-40B4-BE49-F238E27FC236}">
                  <a16:creationId xmlns:a16="http://schemas.microsoft.com/office/drawing/2014/main" id="{318C8A8C-293B-9F5B-8D1D-C552924D366D}"/>
                </a:ext>
              </a:extLst>
            </p:cNvPr>
            <p:cNvSpPr txBox="1"/>
            <p:nvPr/>
          </p:nvSpPr>
          <p:spPr>
            <a:xfrm>
              <a:off x="0" y="-38100"/>
              <a:ext cx="5196286" cy="467663"/>
            </a:xfrm>
            <a:prstGeom prst="rect">
              <a:avLst/>
            </a:prstGeom>
          </p:spPr>
          <p:txBody>
            <a:bodyPr lIns="50800" tIns="50800" rIns="50800" bIns="50800" rtlCol="0" anchor="ctr"/>
            <a:lstStyle/>
            <a:p>
              <a:pPr algn="ctr">
                <a:lnSpc>
                  <a:spcPts val="2659"/>
                </a:lnSpc>
              </a:pPr>
              <a:endParaRPr/>
            </a:p>
          </p:txBody>
        </p:sp>
      </p:grpSp>
      <p:sp>
        <p:nvSpPr>
          <p:cNvPr id="6" name="TextBox 6">
            <a:extLst>
              <a:ext uri="{FF2B5EF4-FFF2-40B4-BE49-F238E27FC236}">
                <a16:creationId xmlns:a16="http://schemas.microsoft.com/office/drawing/2014/main" id="{71C6BDB0-3BAD-F1E8-3B61-CF6389CC7D6F}"/>
              </a:ext>
            </a:extLst>
          </p:cNvPr>
          <p:cNvSpPr txBox="1"/>
          <p:nvPr/>
        </p:nvSpPr>
        <p:spPr>
          <a:xfrm>
            <a:off x="1600200" y="333400"/>
            <a:ext cx="12268200" cy="861774"/>
          </a:xfrm>
          <a:prstGeom prst="rect">
            <a:avLst/>
          </a:prstGeom>
        </p:spPr>
        <p:txBody>
          <a:bodyPr wrap="square" lIns="0" tIns="0" rIns="0" bIns="0" rtlCol="0" anchor="t">
            <a:spAutoFit/>
          </a:bodyPr>
          <a:lstStyle/>
          <a:p>
            <a:r>
              <a:rPr lang="en-US" sz="2800" dirty="0">
                <a:solidFill>
                  <a:srgbClr val="231816"/>
                </a:solidFill>
                <a:latin typeface="Bugaki"/>
                <a:ea typeface="Bugaki"/>
                <a:cs typeface="Bugaki"/>
                <a:sym typeface="Bugaki"/>
              </a:rPr>
              <a:t>Data Dictionary</a:t>
            </a:r>
          </a:p>
          <a:p>
            <a:pPr marL="457200" indent="-457200">
              <a:buFont typeface="Arial" panose="020B0604020202020204" pitchFamily="34" charset="0"/>
              <a:buChar char="•"/>
            </a:pPr>
            <a:r>
              <a:rPr lang="en-US" sz="2800" b="1" dirty="0"/>
              <a:t>payments </a:t>
            </a:r>
            <a:endParaRPr lang="en-US" sz="2800" b="1" dirty="0">
              <a:solidFill>
                <a:srgbClr val="231816"/>
              </a:solidFill>
              <a:latin typeface="Bugaki"/>
              <a:ea typeface="Bugaki"/>
              <a:cs typeface="Bugaki"/>
              <a:sym typeface="Bugaki"/>
            </a:endParaRPr>
          </a:p>
        </p:txBody>
      </p:sp>
      <p:graphicFrame>
        <p:nvGraphicFramePr>
          <p:cNvPr id="8" name="Table 7">
            <a:extLst>
              <a:ext uri="{FF2B5EF4-FFF2-40B4-BE49-F238E27FC236}">
                <a16:creationId xmlns:a16="http://schemas.microsoft.com/office/drawing/2014/main" id="{60AFD2A8-8760-E10D-62A4-3C1F7B2215CE}"/>
              </a:ext>
            </a:extLst>
          </p:cNvPr>
          <p:cNvGraphicFramePr>
            <a:graphicFrameLocks noGrp="1"/>
          </p:cNvGraphicFramePr>
          <p:nvPr>
            <p:extLst>
              <p:ext uri="{D42A27DB-BD31-4B8C-83A1-F6EECF244321}">
                <p14:modId xmlns:p14="http://schemas.microsoft.com/office/powerpoint/2010/main" val="3874193537"/>
              </p:ext>
            </p:extLst>
          </p:nvPr>
        </p:nvGraphicFramePr>
        <p:xfrm>
          <a:off x="1752600" y="1485900"/>
          <a:ext cx="8920480" cy="7194023"/>
        </p:xfrm>
        <a:graphic>
          <a:graphicData uri="http://schemas.openxmlformats.org/drawingml/2006/table">
            <a:tbl>
              <a:tblPr firstRow="1" firstCol="1" bandRow="1">
                <a:tableStyleId>{912C8C85-51F0-491E-9774-3900AFEF0FD7}</a:tableStyleId>
              </a:tblPr>
              <a:tblGrid>
                <a:gridCol w="1971450">
                  <a:extLst>
                    <a:ext uri="{9D8B030D-6E8A-4147-A177-3AD203B41FA5}">
                      <a16:colId xmlns:a16="http://schemas.microsoft.com/office/drawing/2014/main" val="3224063063"/>
                    </a:ext>
                  </a:extLst>
                </a:gridCol>
                <a:gridCol w="2985517">
                  <a:extLst>
                    <a:ext uri="{9D8B030D-6E8A-4147-A177-3AD203B41FA5}">
                      <a16:colId xmlns:a16="http://schemas.microsoft.com/office/drawing/2014/main" val="2936578538"/>
                    </a:ext>
                  </a:extLst>
                </a:gridCol>
                <a:gridCol w="1828204">
                  <a:extLst>
                    <a:ext uri="{9D8B030D-6E8A-4147-A177-3AD203B41FA5}">
                      <a16:colId xmlns:a16="http://schemas.microsoft.com/office/drawing/2014/main" val="3623843435"/>
                    </a:ext>
                  </a:extLst>
                </a:gridCol>
                <a:gridCol w="2135309">
                  <a:extLst>
                    <a:ext uri="{9D8B030D-6E8A-4147-A177-3AD203B41FA5}">
                      <a16:colId xmlns:a16="http://schemas.microsoft.com/office/drawing/2014/main" val="3149960793"/>
                    </a:ext>
                  </a:extLst>
                </a:gridCol>
              </a:tblGrid>
              <a:tr h="793665">
                <a:tc>
                  <a:txBody>
                    <a:bodyPr/>
                    <a:lstStyle/>
                    <a:p>
                      <a:pPr>
                        <a:lnSpc>
                          <a:spcPct val="115000"/>
                        </a:lnSpc>
                        <a:spcAft>
                          <a:spcPts val="1000"/>
                        </a:spcAft>
                        <a:buNone/>
                      </a:pPr>
                      <a:r>
                        <a:rPr lang="en-US" sz="1800">
                          <a:effectLst/>
                        </a:rPr>
                        <a:t>Field Name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a:effectLst/>
                        </a:rPr>
                        <a:t>Data Type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a:effectLst/>
                        </a:rPr>
                        <a:t>Key / Constraints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a:effectLst/>
                        </a:rPr>
                        <a:t>Description &amp; Purpose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extLst>
                  <a:ext uri="{0D108BD9-81ED-4DB2-BD59-A6C34878D82A}">
                    <a16:rowId xmlns:a16="http://schemas.microsoft.com/office/drawing/2014/main" val="1434195902"/>
                  </a:ext>
                </a:extLst>
              </a:tr>
              <a:tr h="656927">
                <a:tc>
                  <a:txBody>
                    <a:bodyPr/>
                    <a:lstStyle/>
                    <a:p>
                      <a:pPr>
                        <a:lnSpc>
                          <a:spcPct val="115000"/>
                        </a:lnSpc>
                        <a:spcAft>
                          <a:spcPts val="1000"/>
                        </a:spcAft>
                        <a:buNone/>
                      </a:pPr>
                      <a:r>
                        <a:rPr lang="en-US" sz="1800">
                          <a:effectLst/>
                        </a:rPr>
                        <a:t>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PRIMARY KEY, AUTO_INC</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Unique payment record 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787727454"/>
                  </a:ext>
                </a:extLst>
              </a:tr>
              <a:tr h="656927">
                <a:tc>
                  <a:txBody>
                    <a:bodyPr/>
                    <a:lstStyle/>
                    <a:p>
                      <a:pPr>
                        <a:lnSpc>
                          <a:spcPct val="115000"/>
                        </a:lnSpc>
                        <a:spcAft>
                          <a:spcPts val="1000"/>
                        </a:spcAft>
                        <a:buNone/>
                      </a:pPr>
                      <a:r>
                        <a:rPr lang="en-US" sz="1800">
                          <a:effectLst/>
                        </a:rPr>
                        <a:t>order_id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FOREIGN KEY (orders.id)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Associated order 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4023639304"/>
                  </a:ext>
                </a:extLst>
              </a:tr>
              <a:tr h="1042438">
                <a:tc>
                  <a:txBody>
                    <a:bodyPr/>
                    <a:lstStyle/>
                    <a:p>
                      <a:pPr>
                        <a:lnSpc>
                          <a:spcPct val="115000"/>
                        </a:lnSpc>
                        <a:spcAft>
                          <a:spcPts val="1000"/>
                        </a:spcAft>
                        <a:buNone/>
                      </a:pPr>
                      <a:r>
                        <a:rPr lang="en-US" sz="1800">
                          <a:effectLst/>
                        </a:rPr>
                        <a:t>transaction_id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VARCHAR(255)</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UNIQUE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Gateway payment transaction code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852553013"/>
                  </a:ext>
                </a:extLst>
              </a:tr>
              <a:tr h="1042438">
                <a:tc>
                  <a:txBody>
                    <a:bodyPr/>
                    <a:lstStyle/>
                    <a:p>
                      <a:pPr>
                        <a:lnSpc>
                          <a:spcPct val="115000"/>
                        </a:lnSpc>
                        <a:spcAft>
                          <a:spcPts val="1000"/>
                        </a:spcAft>
                        <a:buNone/>
                      </a:pPr>
                      <a:r>
                        <a:rPr lang="en-US" sz="1800">
                          <a:effectLst/>
                        </a:rPr>
                        <a:t>payment_method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VARCHAR(50)</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Payment channel (COD / UPI / Card)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532769014"/>
                  </a:ext>
                </a:extLst>
              </a:tr>
              <a:tr h="1042438">
                <a:tc>
                  <a:txBody>
                    <a:bodyPr/>
                    <a:lstStyle/>
                    <a:p>
                      <a:pPr>
                        <a:lnSpc>
                          <a:spcPct val="115000"/>
                        </a:lnSpc>
                        <a:spcAft>
                          <a:spcPts val="1000"/>
                        </a:spcAft>
                        <a:buNone/>
                      </a:pPr>
                      <a:r>
                        <a:rPr lang="en-US" sz="1800">
                          <a:effectLst/>
                        </a:rPr>
                        <a:t>amount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DECIMAL(10,2)</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Total monetary amount processed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76075124"/>
                  </a:ext>
                </a:extLst>
              </a:tr>
              <a:tr h="1042438">
                <a:tc>
                  <a:txBody>
                    <a:bodyPr/>
                    <a:lstStyle/>
                    <a:p>
                      <a:pPr>
                        <a:lnSpc>
                          <a:spcPct val="115000"/>
                        </a:lnSpc>
                        <a:spcAft>
                          <a:spcPts val="1000"/>
                        </a:spcAft>
                        <a:buNone/>
                      </a:pPr>
                      <a:r>
                        <a:rPr lang="en-US" sz="1800">
                          <a:effectLst/>
                        </a:rPr>
                        <a:t>status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ENUM('pending','success','failed')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DEFAULT 'pending'</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Final payment gateway verification state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805692298"/>
                  </a:ext>
                </a:extLst>
              </a:tr>
              <a:tr h="656927">
                <a:tc>
                  <a:txBody>
                    <a:bodyPr/>
                    <a:lstStyle/>
                    <a:p>
                      <a:pPr>
                        <a:lnSpc>
                          <a:spcPct val="115000"/>
                        </a:lnSpc>
                        <a:spcAft>
                          <a:spcPts val="1000"/>
                        </a:spcAft>
                        <a:buNone/>
                      </a:pPr>
                      <a:r>
                        <a:rPr lang="en-US" sz="1800">
                          <a:effectLst/>
                        </a:rPr>
                        <a:t>created_at / updated_at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TIMESTAMP</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Audit timestamps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665400687"/>
                  </a:ext>
                </a:extLst>
              </a:tr>
            </a:tbl>
          </a:graphicData>
        </a:graphic>
      </p:graphicFrame>
    </p:spTree>
    <p:extLst>
      <p:ext uri="{BB962C8B-B14F-4D97-AF65-F5344CB8AC3E}">
        <p14:creationId xmlns:p14="http://schemas.microsoft.com/office/powerpoint/2010/main" val="5678805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4990F-AA4F-0978-914F-A2A518E4071A}"/>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90A22B9E-8A15-8DAA-FD3D-666EFDF1920F}"/>
              </a:ext>
            </a:extLst>
          </p:cNvPr>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a:extLst>
              <a:ext uri="{FF2B5EF4-FFF2-40B4-BE49-F238E27FC236}">
                <a16:creationId xmlns:a16="http://schemas.microsoft.com/office/drawing/2014/main" id="{76B053DE-14EA-6374-CE22-3A4292B12D93}"/>
              </a:ext>
            </a:extLst>
          </p:cNvPr>
          <p:cNvGrpSpPr/>
          <p:nvPr/>
        </p:nvGrpSpPr>
        <p:grpSpPr>
          <a:xfrm>
            <a:off x="-720824" y="9258300"/>
            <a:ext cx="19729648" cy="1630997"/>
            <a:chOff x="0" y="0"/>
            <a:chExt cx="5196286" cy="429563"/>
          </a:xfrm>
        </p:grpSpPr>
        <p:sp>
          <p:nvSpPr>
            <p:cNvPr id="4" name="Freeform 4">
              <a:extLst>
                <a:ext uri="{FF2B5EF4-FFF2-40B4-BE49-F238E27FC236}">
                  <a16:creationId xmlns:a16="http://schemas.microsoft.com/office/drawing/2014/main" id="{BB4298DE-1BCE-3885-1198-F7A60B93310F}"/>
                </a:ext>
              </a:extLst>
            </p:cNvPr>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a:extLst>
                <a:ext uri="{FF2B5EF4-FFF2-40B4-BE49-F238E27FC236}">
                  <a16:creationId xmlns:a16="http://schemas.microsoft.com/office/drawing/2014/main" id="{F3376770-B2CA-385C-881F-A49A1F55CA67}"/>
                </a:ext>
              </a:extLst>
            </p:cNvPr>
            <p:cNvSpPr txBox="1"/>
            <p:nvPr/>
          </p:nvSpPr>
          <p:spPr>
            <a:xfrm>
              <a:off x="0" y="-38100"/>
              <a:ext cx="5196286" cy="467663"/>
            </a:xfrm>
            <a:prstGeom prst="rect">
              <a:avLst/>
            </a:prstGeom>
          </p:spPr>
          <p:txBody>
            <a:bodyPr lIns="50800" tIns="50800" rIns="50800" bIns="50800" rtlCol="0" anchor="ctr"/>
            <a:lstStyle/>
            <a:p>
              <a:pPr algn="ctr">
                <a:lnSpc>
                  <a:spcPts val="2659"/>
                </a:lnSpc>
              </a:pPr>
              <a:endParaRPr/>
            </a:p>
          </p:txBody>
        </p:sp>
      </p:grpSp>
      <p:sp>
        <p:nvSpPr>
          <p:cNvPr id="6" name="TextBox 6">
            <a:extLst>
              <a:ext uri="{FF2B5EF4-FFF2-40B4-BE49-F238E27FC236}">
                <a16:creationId xmlns:a16="http://schemas.microsoft.com/office/drawing/2014/main" id="{2FB5C425-2536-0B43-F7A0-3DAFD43F7DDF}"/>
              </a:ext>
            </a:extLst>
          </p:cNvPr>
          <p:cNvSpPr txBox="1"/>
          <p:nvPr/>
        </p:nvSpPr>
        <p:spPr>
          <a:xfrm>
            <a:off x="1600200" y="333400"/>
            <a:ext cx="12268200" cy="861774"/>
          </a:xfrm>
          <a:prstGeom prst="rect">
            <a:avLst/>
          </a:prstGeom>
        </p:spPr>
        <p:txBody>
          <a:bodyPr wrap="square" lIns="0" tIns="0" rIns="0" bIns="0" rtlCol="0" anchor="t">
            <a:spAutoFit/>
          </a:bodyPr>
          <a:lstStyle/>
          <a:p>
            <a:r>
              <a:rPr lang="en-US" sz="2800" dirty="0">
                <a:solidFill>
                  <a:srgbClr val="231816"/>
                </a:solidFill>
                <a:latin typeface="Bugaki"/>
                <a:ea typeface="Bugaki"/>
                <a:cs typeface="Bugaki"/>
                <a:sym typeface="Bugaki"/>
              </a:rPr>
              <a:t>Data Dictionary</a:t>
            </a:r>
          </a:p>
          <a:p>
            <a:pPr marL="457200" indent="-457200">
              <a:buFont typeface="Arial" panose="020B0604020202020204" pitchFamily="34" charset="0"/>
              <a:buChar char="•"/>
            </a:pPr>
            <a:r>
              <a:rPr lang="en-US" sz="2800" b="1" dirty="0"/>
              <a:t>feedback </a:t>
            </a:r>
            <a:endParaRPr lang="en-US" sz="2800" b="1" dirty="0">
              <a:solidFill>
                <a:srgbClr val="231816"/>
              </a:solidFill>
              <a:latin typeface="Bugaki"/>
              <a:ea typeface="Bugaki"/>
              <a:cs typeface="Bugaki"/>
              <a:sym typeface="Bugaki"/>
            </a:endParaRPr>
          </a:p>
        </p:txBody>
      </p:sp>
      <p:graphicFrame>
        <p:nvGraphicFramePr>
          <p:cNvPr id="8" name="Table 7">
            <a:extLst>
              <a:ext uri="{FF2B5EF4-FFF2-40B4-BE49-F238E27FC236}">
                <a16:creationId xmlns:a16="http://schemas.microsoft.com/office/drawing/2014/main" id="{5F9D81DE-1023-9D71-FE02-2B563B907F4A}"/>
              </a:ext>
            </a:extLst>
          </p:cNvPr>
          <p:cNvGraphicFramePr>
            <a:graphicFrameLocks noGrp="1"/>
          </p:cNvGraphicFramePr>
          <p:nvPr>
            <p:extLst>
              <p:ext uri="{D42A27DB-BD31-4B8C-83A1-F6EECF244321}">
                <p14:modId xmlns:p14="http://schemas.microsoft.com/office/powerpoint/2010/main" val="2479562534"/>
              </p:ext>
            </p:extLst>
          </p:nvPr>
        </p:nvGraphicFramePr>
        <p:xfrm>
          <a:off x="1920240" y="1339835"/>
          <a:ext cx="8976359" cy="6165864"/>
        </p:xfrm>
        <a:graphic>
          <a:graphicData uri="http://schemas.openxmlformats.org/drawingml/2006/table">
            <a:tbl>
              <a:tblPr firstRow="1" firstCol="1" bandRow="1">
                <a:tableStyleId>{912C8C85-51F0-491E-9774-3900AFEF0FD7}</a:tableStyleId>
              </a:tblPr>
              <a:tblGrid>
                <a:gridCol w="2166707">
                  <a:extLst>
                    <a:ext uri="{9D8B030D-6E8A-4147-A177-3AD203B41FA5}">
                      <a16:colId xmlns:a16="http://schemas.microsoft.com/office/drawing/2014/main" val="520002346"/>
                    </a:ext>
                  </a:extLst>
                </a:gridCol>
                <a:gridCol w="2011943">
                  <a:extLst>
                    <a:ext uri="{9D8B030D-6E8A-4147-A177-3AD203B41FA5}">
                      <a16:colId xmlns:a16="http://schemas.microsoft.com/office/drawing/2014/main" val="2631966416"/>
                    </a:ext>
                  </a:extLst>
                </a:gridCol>
                <a:gridCol w="2166707">
                  <a:extLst>
                    <a:ext uri="{9D8B030D-6E8A-4147-A177-3AD203B41FA5}">
                      <a16:colId xmlns:a16="http://schemas.microsoft.com/office/drawing/2014/main" val="4143453172"/>
                    </a:ext>
                  </a:extLst>
                </a:gridCol>
                <a:gridCol w="2631002">
                  <a:extLst>
                    <a:ext uri="{9D8B030D-6E8A-4147-A177-3AD203B41FA5}">
                      <a16:colId xmlns:a16="http://schemas.microsoft.com/office/drawing/2014/main" val="1263414855"/>
                    </a:ext>
                  </a:extLst>
                </a:gridCol>
              </a:tblGrid>
              <a:tr h="1033452">
                <a:tc>
                  <a:txBody>
                    <a:bodyPr/>
                    <a:lstStyle/>
                    <a:p>
                      <a:pPr>
                        <a:lnSpc>
                          <a:spcPct val="115000"/>
                        </a:lnSpc>
                        <a:spcAft>
                          <a:spcPts val="1000"/>
                        </a:spcAft>
                        <a:buNone/>
                      </a:pPr>
                      <a:r>
                        <a:rPr lang="en-US" sz="1800">
                          <a:effectLst/>
                        </a:rPr>
                        <a:t>Field Name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a:effectLst/>
                        </a:rPr>
                        <a:t>Data Type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a:effectLst/>
                        </a:rPr>
                        <a:t>Key / Constraints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a:effectLst/>
                        </a:rPr>
                        <a:t>Description &amp; Purpose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extLst>
                  <a:ext uri="{0D108BD9-81ED-4DB2-BD59-A6C34878D82A}">
                    <a16:rowId xmlns:a16="http://schemas.microsoft.com/office/drawing/2014/main" val="660316404"/>
                  </a:ext>
                </a:extLst>
              </a:tr>
              <a:tr h="855402">
                <a:tc>
                  <a:txBody>
                    <a:bodyPr/>
                    <a:lstStyle/>
                    <a:p>
                      <a:pPr>
                        <a:lnSpc>
                          <a:spcPct val="115000"/>
                        </a:lnSpc>
                        <a:spcAft>
                          <a:spcPts val="1000"/>
                        </a:spcAft>
                        <a:buNone/>
                      </a:pPr>
                      <a:r>
                        <a:rPr lang="en-US" sz="1800">
                          <a:effectLst/>
                        </a:rPr>
                        <a:t>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PRIMARY KEY, AUTO_INC</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Unique feedback record 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976216606"/>
                  </a:ext>
                </a:extLst>
              </a:tr>
              <a:tr h="855402">
                <a:tc>
                  <a:txBody>
                    <a:bodyPr/>
                    <a:lstStyle/>
                    <a:p>
                      <a:pPr>
                        <a:lnSpc>
                          <a:spcPct val="115000"/>
                        </a:lnSpc>
                        <a:spcAft>
                          <a:spcPts val="1000"/>
                        </a:spcAft>
                        <a:buNone/>
                      </a:pPr>
                      <a:r>
                        <a:rPr lang="en-US" sz="1800">
                          <a:effectLst/>
                        </a:rPr>
                        <a:t>user_id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FOREIGN KEY (users.id)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Customer submitting review</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950805559"/>
                  </a:ext>
                </a:extLst>
              </a:tr>
              <a:tr h="855402">
                <a:tc>
                  <a:txBody>
                    <a:bodyPr/>
                    <a:lstStyle/>
                    <a:p>
                      <a:pPr>
                        <a:lnSpc>
                          <a:spcPct val="115000"/>
                        </a:lnSpc>
                        <a:spcAft>
                          <a:spcPts val="1000"/>
                        </a:spcAft>
                        <a:buNone/>
                      </a:pPr>
                      <a:r>
                        <a:rPr lang="en-US" sz="1800">
                          <a:effectLst/>
                        </a:rPr>
                        <a:t>order_id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FOREIGN KEY (orders.id)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Associated order 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342367932"/>
                  </a:ext>
                </a:extLst>
              </a:tr>
              <a:tr h="855402">
                <a:tc>
                  <a:txBody>
                    <a:bodyPr/>
                    <a:lstStyle/>
                    <a:p>
                      <a:pPr>
                        <a:lnSpc>
                          <a:spcPct val="115000"/>
                        </a:lnSpc>
                        <a:spcAft>
                          <a:spcPts val="1000"/>
                        </a:spcAft>
                        <a:buNone/>
                      </a:pPr>
                      <a:r>
                        <a:rPr lang="en-US" sz="1800">
                          <a:effectLst/>
                        </a:rPr>
                        <a:t>rating</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INT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Check (1 to 5)</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Star rating given (1 to 5)</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954516694"/>
                  </a:ext>
                </a:extLst>
              </a:tr>
              <a:tr h="855402">
                <a:tc>
                  <a:txBody>
                    <a:bodyPr/>
                    <a:lstStyle/>
                    <a:p>
                      <a:pPr>
                        <a:lnSpc>
                          <a:spcPct val="115000"/>
                        </a:lnSpc>
                        <a:spcAft>
                          <a:spcPts val="1000"/>
                        </a:spcAft>
                        <a:buNone/>
                      </a:pPr>
                      <a:r>
                        <a:rPr lang="en-US" sz="1800">
                          <a:effectLst/>
                        </a:rPr>
                        <a:t>comments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TEXT</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Qualitative review comment text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4176013292"/>
                  </a:ext>
                </a:extLst>
              </a:tr>
              <a:tr h="855402">
                <a:tc>
                  <a:txBody>
                    <a:bodyPr/>
                    <a:lstStyle/>
                    <a:p>
                      <a:pPr>
                        <a:lnSpc>
                          <a:spcPct val="115000"/>
                        </a:lnSpc>
                        <a:spcAft>
                          <a:spcPts val="1000"/>
                        </a:spcAft>
                        <a:buNone/>
                      </a:pPr>
                      <a:r>
                        <a:rPr lang="en-US" sz="1800">
                          <a:effectLst/>
                        </a:rPr>
                        <a:t>created_at / updated_at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TIMESTAMP</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Audit timestamps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801794140"/>
                  </a:ext>
                </a:extLst>
              </a:tr>
            </a:tbl>
          </a:graphicData>
        </a:graphic>
      </p:graphicFrame>
    </p:spTree>
    <p:extLst>
      <p:ext uri="{BB962C8B-B14F-4D97-AF65-F5344CB8AC3E}">
        <p14:creationId xmlns:p14="http://schemas.microsoft.com/office/powerpoint/2010/main" val="11070807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1619686" y="7038243"/>
            <a:ext cx="3985475" cy="2418467"/>
            <a:chOff x="0" y="0"/>
            <a:chExt cx="1339441" cy="812800"/>
          </a:xfrm>
        </p:grpSpPr>
        <p:sp>
          <p:nvSpPr>
            <p:cNvPr id="4" name="Freeform 4"/>
            <p:cNvSpPr/>
            <p:nvPr/>
          </p:nvSpPr>
          <p:spPr>
            <a:xfrm>
              <a:off x="0" y="0"/>
              <a:ext cx="1339441" cy="812800"/>
            </a:xfrm>
            <a:custGeom>
              <a:avLst/>
              <a:gdLst/>
              <a:ahLst/>
              <a:cxnLst/>
              <a:rect l="l" t="t" r="r" b="b"/>
              <a:pathLst>
                <a:path w="1339441" h="812800">
                  <a:moveTo>
                    <a:pt x="0" y="0"/>
                  </a:moveTo>
                  <a:lnTo>
                    <a:pt x="1339441" y="0"/>
                  </a:lnTo>
                  <a:lnTo>
                    <a:pt x="1339441" y="812800"/>
                  </a:lnTo>
                  <a:lnTo>
                    <a:pt x="0" y="812800"/>
                  </a:lnTo>
                  <a:close/>
                </a:path>
              </a:pathLst>
            </a:custGeom>
            <a:blipFill>
              <a:blip r:embed="rId2"/>
              <a:stretch>
                <a:fillRect t="-4896" b="-4896"/>
              </a:stretch>
            </a:blipFill>
          </p:spPr>
        </p:sp>
      </p:grpSp>
      <p:grpSp>
        <p:nvGrpSpPr>
          <p:cNvPr id="5" name="Group 5"/>
          <p:cNvGrpSpPr/>
          <p:nvPr/>
        </p:nvGrpSpPr>
        <p:grpSpPr>
          <a:xfrm>
            <a:off x="6042324" y="7038243"/>
            <a:ext cx="3985475" cy="2418467"/>
            <a:chOff x="0" y="0"/>
            <a:chExt cx="1339441" cy="812800"/>
          </a:xfrm>
        </p:grpSpPr>
        <p:sp>
          <p:nvSpPr>
            <p:cNvPr id="6" name="Freeform 6"/>
            <p:cNvSpPr/>
            <p:nvPr/>
          </p:nvSpPr>
          <p:spPr>
            <a:xfrm>
              <a:off x="0" y="0"/>
              <a:ext cx="1339441" cy="812800"/>
            </a:xfrm>
            <a:custGeom>
              <a:avLst/>
              <a:gdLst/>
              <a:ahLst/>
              <a:cxnLst/>
              <a:rect l="l" t="t" r="r" b="b"/>
              <a:pathLst>
                <a:path w="1339441" h="812800">
                  <a:moveTo>
                    <a:pt x="0" y="0"/>
                  </a:moveTo>
                  <a:lnTo>
                    <a:pt x="1339441" y="0"/>
                  </a:lnTo>
                  <a:lnTo>
                    <a:pt x="1339441" y="812800"/>
                  </a:lnTo>
                  <a:lnTo>
                    <a:pt x="0" y="812800"/>
                  </a:lnTo>
                  <a:close/>
                </a:path>
              </a:pathLst>
            </a:custGeom>
            <a:blipFill>
              <a:blip r:embed="rId3"/>
              <a:stretch>
                <a:fillRect t="-4896" b="-4896"/>
              </a:stretch>
            </a:blipFill>
          </p:spPr>
        </p:sp>
      </p:grpSp>
      <p:grpSp>
        <p:nvGrpSpPr>
          <p:cNvPr id="7" name="Group 7"/>
          <p:cNvGrpSpPr/>
          <p:nvPr/>
        </p:nvGrpSpPr>
        <p:grpSpPr>
          <a:xfrm>
            <a:off x="14350649" y="1366373"/>
            <a:ext cx="3777127" cy="4282232"/>
            <a:chOff x="0" y="0"/>
            <a:chExt cx="812800" cy="921494"/>
          </a:xfrm>
        </p:grpSpPr>
        <p:sp>
          <p:nvSpPr>
            <p:cNvPr id="8" name="Freeform 8"/>
            <p:cNvSpPr/>
            <p:nvPr/>
          </p:nvSpPr>
          <p:spPr>
            <a:xfrm>
              <a:off x="0" y="0"/>
              <a:ext cx="812800" cy="921494"/>
            </a:xfrm>
            <a:custGeom>
              <a:avLst/>
              <a:gdLst/>
              <a:ahLst/>
              <a:cxnLst/>
              <a:rect l="l" t="t" r="r" b="b"/>
              <a:pathLst>
                <a:path w="812800" h="921494">
                  <a:moveTo>
                    <a:pt x="0" y="0"/>
                  </a:moveTo>
                  <a:lnTo>
                    <a:pt x="812800" y="0"/>
                  </a:lnTo>
                  <a:lnTo>
                    <a:pt x="812800" y="921494"/>
                  </a:lnTo>
                  <a:lnTo>
                    <a:pt x="0" y="921494"/>
                  </a:lnTo>
                  <a:close/>
                </a:path>
              </a:pathLst>
            </a:custGeom>
            <a:blipFill>
              <a:blip r:embed="rId4"/>
              <a:stretch>
                <a:fillRect l="-2293" r="-2293"/>
              </a:stretch>
            </a:blipFill>
          </p:spPr>
        </p:sp>
      </p:grpSp>
      <p:grpSp>
        <p:nvGrpSpPr>
          <p:cNvPr id="9" name="Group 9"/>
          <p:cNvGrpSpPr/>
          <p:nvPr/>
        </p:nvGrpSpPr>
        <p:grpSpPr>
          <a:xfrm>
            <a:off x="10464962" y="1366373"/>
            <a:ext cx="3777127" cy="4282232"/>
            <a:chOff x="0" y="0"/>
            <a:chExt cx="812800" cy="921494"/>
          </a:xfrm>
        </p:grpSpPr>
        <p:sp>
          <p:nvSpPr>
            <p:cNvPr id="10" name="Freeform 10"/>
            <p:cNvSpPr/>
            <p:nvPr/>
          </p:nvSpPr>
          <p:spPr>
            <a:xfrm>
              <a:off x="0" y="0"/>
              <a:ext cx="812800" cy="921494"/>
            </a:xfrm>
            <a:custGeom>
              <a:avLst/>
              <a:gdLst/>
              <a:ahLst/>
              <a:cxnLst/>
              <a:rect l="l" t="t" r="r" b="b"/>
              <a:pathLst>
                <a:path w="812800" h="921494">
                  <a:moveTo>
                    <a:pt x="0" y="0"/>
                  </a:moveTo>
                  <a:lnTo>
                    <a:pt x="812800" y="0"/>
                  </a:lnTo>
                  <a:lnTo>
                    <a:pt x="812800" y="921494"/>
                  </a:lnTo>
                  <a:lnTo>
                    <a:pt x="0" y="921494"/>
                  </a:lnTo>
                  <a:close/>
                </a:path>
              </a:pathLst>
            </a:custGeom>
            <a:blipFill>
              <a:blip r:embed="rId5"/>
              <a:stretch>
                <a:fillRect l="-6686" r="-6686"/>
              </a:stretch>
            </a:blipFill>
          </p:spPr>
        </p:sp>
      </p:grpSp>
      <p:grpSp>
        <p:nvGrpSpPr>
          <p:cNvPr id="11" name="Group 11"/>
          <p:cNvGrpSpPr/>
          <p:nvPr/>
        </p:nvGrpSpPr>
        <p:grpSpPr>
          <a:xfrm>
            <a:off x="10464962" y="5801228"/>
            <a:ext cx="7662814" cy="3655483"/>
            <a:chOff x="0" y="0"/>
            <a:chExt cx="1187170" cy="566330"/>
          </a:xfrm>
        </p:grpSpPr>
        <p:sp>
          <p:nvSpPr>
            <p:cNvPr id="12" name="Freeform 12"/>
            <p:cNvSpPr/>
            <p:nvPr/>
          </p:nvSpPr>
          <p:spPr>
            <a:xfrm>
              <a:off x="0" y="0"/>
              <a:ext cx="1187170" cy="566330"/>
            </a:xfrm>
            <a:custGeom>
              <a:avLst/>
              <a:gdLst/>
              <a:ahLst/>
              <a:cxnLst/>
              <a:rect l="l" t="t" r="r" b="b"/>
              <a:pathLst>
                <a:path w="1187170" h="566330">
                  <a:moveTo>
                    <a:pt x="0" y="0"/>
                  </a:moveTo>
                  <a:lnTo>
                    <a:pt x="1187170" y="0"/>
                  </a:lnTo>
                  <a:lnTo>
                    <a:pt x="1187170" y="566330"/>
                  </a:lnTo>
                  <a:lnTo>
                    <a:pt x="0" y="566330"/>
                  </a:lnTo>
                  <a:close/>
                </a:path>
              </a:pathLst>
            </a:custGeom>
            <a:blipFill>
              <a:blip r:embed="rId6"/>
              <a:stretch>
                <a:fillRect t="-19831" b="-19831"/>
              </a:stretch>
            </a:blipFill>
          </p:spPr>
        </p:sp>
      </p:grpSp>
      <p:sp>
        <p:nvSpPr>
          <p:cNvPr id="13" name="TextBox 13"/>
          <p:cNvSpPr txBox="1"/>
          <p:nvPr/>
        </p:nvSpPr>
        <p:spPr>
          <a:xfrm>
            <a:off x="1619686" y="1023473"/>
            <a:ext cx="9105564" cy="1594667"/>
          </a:xfrm>
          <a:prstGeom prst="rect">
            <a:avLst/>
          </a:prstGeom>
        </p:spPr>
        <p:txBody>
          <a:bodyPr lIns="0" tIns="0" rIns="0" bIns="0" rtlCol="0" anchor="t">
            <a:spAutoFit/>
          </a:bodyPr>
          <a:lstStyle/>
          <a:p>
            <a:pPr algn="l">
              <a:lnSpc>
                <a:spcPts val="12880"/>
              </a:lnSpc>
            </a:pPr>
            <a:r>
              <a:rPr lang="en-US" sz="9200" dirty="0">
                <a:solidFill>
                  <a:srgbClr val="231816"/>
                </a:solidFill>
                <a:latin typeface="Bugaki"/>
                <a:ea typeface="Bugaki"/>
                <a:cs typeface="Bugaki"/>
                <a:sym typeface="Bugaki"/>
              </a:rPr>
              <a:t>Limitations</a:t>
            </a:r>
          </a:p>
        </p:txBody>
      </p:sp>
      <p:sp>
        <p:nvSpPr>
          <p:cNvPr id="15" name="TextBox 15"/>
          <p:cNvSpPr txBox="1"/>
          <p:nvPr/>
        </p:nvSpPr>
        <p:spPr>
          <a:xfrm>
            <a:off x="1827904" y="2761534"/>
            <a:ext cx="6173095" cy="2954655"/>
          </a:xfrm>
          <a:prstGeom prst="rect">
            <a:avLst/>
          </a:prstGeom>
        </p:spPr>
        <p:txBody>
          <a:bodyPr wrap="square" lIns="0" tIns="0" rIns="0" bIns="0" rtlCol="0" anchor="t">
            <a:spAutoFit/>
          </a:bodyPr>
          <a:lstStyle/>
          <a:p>
            <a:r>
              <a:rPr lang="en-US" sz="2400" dirty="0"/>
              <a:t>• Internet connectivity is required for most operations.</a:t>
            </a:r>
            <a:br>
              <a:rPr lang="en-US" sz="2400" dirty="0"/>
            </a:br>
            <a:r>
              <a:rPr lang="en-US" sz="2400" dirty="0"/>
              <a:t>• Delivery tracking depends on GPS-enabled devices.</a:t>
            </a:r>
            <a:br>
              <a:rPr lang="en-US" sz="2400" dirty="0"/>
            </a:br>
            <a:r>
              <a:rPr lang="en-US" sz="2400" dirty="0"/>
              <a:t>• Initial server setup, database migration and staff training are required.</a:t>
            </a:r>
            <a:br>
              <a:rPr lang="en-US" sz="2400" dirty="0"/>
            </a:br>
            <a:r>
              <a:rPr lang="en-US" sz="2400" dirty="0"/>
              <a:t>• </a:t>
            </a:r>
            <a:r>
              <a:rPr lang="en-US" sz="2400" dirty="0" err="1"/>
              <a:t>Razorpay</a:t>
            </a:r>
            <a:r>
              <a:rPr lang="en-US" sz="2400" dirty="0"/>
              <a:t> and distance APIs require correct configuration.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txBox="1"/>
          <p:nvPr/>
        </p:nvSpPr>
        <p:spPr>
          <a:xfrm>
            <a:off x="4803052" y="1773109"/>
            <a:ext cx="8681896" cy="3541369"/>
          </a:xfrm>
          <a:prstGeom prst="rect">
            <a:avLst/>
          </a:prstGeom>
        </p:spPr>
        <p:txBody>
          <a:bodyPr lIns="0" tIns="0" rIns="0" bIns="0" rtlCol="0" anchor="t">
            <a:spAutoFit/>
          </a:bodyPr>
          <a:lstStyle/>
          <a:p>
            <a:pPr algn="ctr">
              <a:lnSpc>
                <a:spcPts val="12205"/>
              </a:lnSpc>
            </a:pPr>
            <a:r>
              <a:rPr lang="en-US" sz="14530">
                <a:solidFill>
                  <a:srgbClr val="231816"/>
                </a:solidFill>
                <a:latin typeface="Bugaki"/>
                <a:ea typeface="Bugaki"/>
                <a:cs typeface="Bugaki"/>
                <a:sym typeface="Bugaki"/>
              </a:rPr>
              <a:t>THANK YOU</a:t>
            </a:r>
          </a:p>
        </p:txBody>
      </p:sp>
      <p:sp>
        <p:nvSpPr>
          <p:cNvPr id="7" name="TextBox 7"/>
          <p:cNvSpPr txBox="1"/>
          <p:nvPr/>
        </p:nvSpPr>
        <p:spPr>
          <a:xfrm>
            <a:off x="3073722" y="4934146"/>
            <a:ext cx="12140556" cy="1352109"/>
          </a:xfrm>
          <a:prstGeom prst="rect">
            <a:avLst/>
          </a:prstGeom>
        </p:spPr>
        <p:txBody>
          <a:bodyPr lIns="0" tIns="0" rIns="0" bIns="0" rtlCol="0" anchor="t">
            <a:spAutoFit/>
          </a:bodyPr>
          <a:lstStyle/>
          <a:p>
            <a:pPr algn="ctr">
              <a:lnSpc>
                <a:spcPts val="11047"/>
              </a:lnSpc>
            </a:pPr>
            <a:r>
              <a:rPr lang="en-US" sz="7891">
                <a:solidFill>
                  <a:srgbClr val="C4391D"/>
                </a:solidFill>
                <a:latin typeface="Brittany"/>
                <a:ea typeface="Brittany"/>
                <a:cs typeface="Brittany"/>
                <a:sym typeface="Brittany"/>
              </a:rPr>
              <a:t>for listening to our presentation</a:t>
            </a:r>
          </a:p>
        </p:txBody>
      </p:sp>
      <p:sp>
        <p:nvSpPr>
          <p:cNvPr id="8" name="TextBox 8"/>
          <p:cNvSpPr txBox="1"/>
          <p:nvPr/>
        </p:nvSpPr>
        <p:spPr>
          <a:xfrm>
            <a:off x="2335306" y="7903044"/>
            <a:ext cx="1897738" cy="432811"/>
          </a:xfrm>
          <a:prstGeom prst="rect">
            <a:avLst/>
          </a:prstGeom>
        </p:spPr>
        <p:txBody>
          <a:bodyPr lIns="0" tIns="0" rIns="0" bIns="0" rtlCol="0" anchor="t">
            <a:spAutoFit/>
          </a:bodyPr>
          <a:lstStyle/>
          <a:p>
            <a:pPr algn="l">
              <a:lnSpc>
                <a:spcPts val="3500"/>
              </a:lnSpc>
            </a:pPr>
            <a:endParaRPr lang="en-US" sz="2500" dirty="0">
              <a:solidFill>
                <a:srgbClr val="231816"/>
              </a:solidFill>
              <a:latin typeface="Prachason Neue Condensed Light"/>
              <a:ea typeface="Prachason Neue Condensed Light"/>
              <a:cs typeface="Prachason Neue Condensed Light"/>
              <a:sym typeface="Prachason Neue Condensed Light"/>
            </a:endParaRPr>
          </a:p>
        </p:txBody>
      </p:sp>
      <p:sp>
        <p:nvSpPr>
          <p:cNvPr id="10" name="TextBox 10"/>
          <p:cNvSpPr txBox="1"/>
          <p:nvPr/>
        </p:nvSpPr>
        <p:spPr>
          <a:xfrm>
            <a:off x="5271282" y="7903044"/>
            <a:ext cx="2901290" cy="432811"/>
          </a:xfrm>
          <a:prstGeom prst="rect">
            <a:avLst/>
          </a:prstGeom>
        </p:spPr>
        <p:txBody>
          <a:bodyPr lIns="0" tIns="0" rIns="0" bIns="0" rtlCol="0" anchor="t">
            <a:spAutoFit/>
          </a:bodyPr>
          <a:lstStyle/>
          <a:p>
            <a:pPr algn="l">
              <a:lnSpc>
                <a:spcPts val="3500"/>
              </a:lnSpc>
            </a:pPr>
            <a:endParaRPr lang="en-US" sz="2500" dirty="0">
              <a:solidFill>
                <a:srgbClr val="231816"/>
              </a:solidFill>
              <a:latin typeface="Prachason Neue Condensed Light"/>
              <a:ea typeface="Prachason Neue Condensed Light"/>
              <a:cs typeface="Prachason Neue Condensed Light"/>
              <a:sym typeface="Prachason Neue Condensed Light"/>
            </a:endParaRPr>
          </a:p>
        </p:txBody>
      </p:sp>
      <p:grpSp>
        <p:nvGrpSpPr>
          <p:cNvPr id="12" name="Group 12"/>
          <p:cNvGrpSpPr/>
          <p:nvPr/>
        </p:nvGrpSpPr>
        <p:grpSpPr>
          <a:xfrm>
            <a:off x="14082788" y="2137965"/>
            <a:ext cx="6353024" cy="3176512"/>
            <a:chOff x="0" y="0"/>
            <a:chExt cx="812800" cy="406400"/>
          </a:xfrm>
        </p:grpSpPr>
        <p:sp>
          <p:nvSpPr>
            <p:cNvPr id="13" name="Freeform 13"/>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B84900"/>
            </a:solidFill>
          </p:spPr>
        </p:sp>
        <p:sp>
          <p:nvSpPr>
            <p:cNvPr id="14" name="TextBox 14"/>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2150048" y="2137965"/>
            <a:ext cx="6353024" cy="3176512"/>
            <a:chOff x="0" y="0"/>
            <a:chExt cx="812800" cy="406400"/>
          </a:xfrm>
        </p:grpSpPr>
        <p:sp>
          <p:nvSpPr>
            <p:cNvPr id="16" name="Freeform 16"/>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B84900"/>
            </a:solidFill>
          </p:spPr>
        </p:sp>
        <p:sp>
          <p:nvSpPr>
            <p:cNvPr id="17" name="TextBox 17"/>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4284674" y="2238908"/>
            <a:ext cx="2974626" cy="2974626"/>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a:stretch>
            </a:blipFill>
          </p:spPr>
        </p:sp>
      </p:grpSp>
      <p:grpSp>
        <p:nvGrpSpPr>
          <p:cNvPr id="20" name="Group 20"/>
          <p:cNvGrpSpPr/>
          <p:nvPr/>
        </p:nvGrpSpPr>
        <p:grpSpPr>
          <a:xfrm>
            <a:off x="1026465" y="2238908"/>
            <a:ext cx="2974626" cy="2974626"/>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269</TotalTime>
  <Words>2913</Words>
  <Application>Microsoft Office PowerPoint</Application>
  <PresentationFormat>Custom</PresentationFormat>
  <Paragraphs>597</Paragraphs>
  <Slides>29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Prachason Neue Condensed Light</vt:lpstr>
      <vt:lpstr>Arial</vt:lpstr>
      <vt:lpstr>Brittany</vt:lpstr>
      <vt:lpstr>Calibri</vt:lpstr>
      <vt:lpstr>Bugaki</vt:lpstr>
      <vt:lpstr>Times New Roman MT Ultra-Bold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Brown and Black Modern Food Presentation</dc:title>
  <cp:lastModifiedBy>Yash Patel</cp:lastModifiedBy>
  <cp:revision>25</cp:revision>
  <dcterms:created xsi:type="dcterms:W3CDTF">2006-08-16T00:00:00Z</dcterms:created>
  <dcterms:modified xsi:type="dcterms:W3CDTF">2026-09-04T06:26:17Z</dcterms:modified>
  <dc:identifier>DAHTFirQ3zk</dc:identifier>
</cp:coreProperties>
</file>